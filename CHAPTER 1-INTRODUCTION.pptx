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3" r:id="rId7"/>
    <p:sldId id="265" r:id="rId8"/>
    <p:sldId id="267"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397" autoAdjust="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a:t>
            </a:r>
            <a:endParaRPr lang="en-US" dirty="0"/>
          </a:p>
        </p:txBody>
      </p:sp>
      <p:sp>
        <p:nvSpPr>
          <p:cNvPr id="3" name="Subtitle 2"/>
          <p:cNvSpPr>
            <a:spLocks noGrp="1"/>
          </p:cNvSpPr>
          <p:nvPr>
            <p:ph type="subTitle" idx="1"/>
          </p:nvPr>
        </p:nvSpPr>
        <p:spPr/>
        <p:txBody>
          <a:bodyPr/>
          <a:lstStyle/>
          <a:p>
            <a:r>
              <a:rPr lang="en-US" dirty="0" smtClean="0"/>
              <a:t>CHAPTER 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Intelligence</a:t>
            </a:r>
            <a:endParaRPr lang="en-US" dirty="0"/>
          </a:p>
        </p:txBody>
      </p:sp>
      <p:sp>
        <p:nvSpPr>
          <p:cNvPr id="3" name="Content Placeholder 2"/>
          <p:cNvSpPr>
            <a:spLocks noGrp="1"/>
          </p:cNvSpPr>
          <p:nvPr>
            <p:ph idx="1"/>
          </p:nvPr>
        </p:nvSpPr>
        <p:spPr/>
        <p:txBody>
          <a:bodyPr>
            <a:normAutofit fontScale="92500"/>
          </a:bodyPr>
          <a:lstStyle/>
          <a:p>
            <a:r>
              <a:rPr lang="en-US" b="1" dirty="0" smtClean="0"/>
              <a:t>Intelligence in AI</a:t>
            </a:r>
            <a:r>
              <a:rPr lang="en-US" dirty="0" smtClean="0"/>
              <a:t> refers to the ability of machines (computers or software) to perform tasks that normally require human intelligence. </a:t>
            </a:r>
          </a:p>
          <a:p>
            <a:r>
              <a:rPr lang="en-US" dirty="0" smtClean="0"/>
              <a:t>This includes </a:t>
            </a:r>
          </a:p>
          <a:p>
            <a:pPr lvl="1"/>
            <a:r>
              <a:rPr lang="en-US" dirty="0" smtClean="0"/>
              <a:t>Learning</a:t>
            </a:r>
          </a:p>
          <a:p>
            <a:pPr lvl="1"/>
            <a:r>
              <a:rPr lang="en-US" dirty="0" smtClean="0"/>
              <a:t>understanding language</a:t>
            </a:r>
          </a:p>
          <a:p>
            <a:pPr lvl="1"/>
            <a:r>
              <a:rPr lang="en-US" dirty="0" smtClean="0"/>
              <a:t>reasoning, </a:t>
            </a:r>
          </a:p>
          <a:p>
            <a:pPr lvl="1"/>
            <a:r>
              <a:rPr lang="en-US" dirty="0" smtClean="0"/>
              <a:t>making decisions</a:t>
            </a:r>
          </a:p>
          <a:p>
            <a:pPr lvl="1"/>
            <a:r>
              <a:rPr lang="en-US" dirty="0" smtClean="0"/>
              <a:t>problem-solving</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b="1" dirty="0" smtClean="0"/>
              <a:t>Types of AI Intelligence</a:t>
            </a:r>
          </a:p>
          <a:p>
            <a:r>
              <a:rPr lang="en-US" b="1" dirty="0" smtClean="0"/>
              <a:t>Narrow AI (Weak AI)</a:t>
            </a:r>
            <a:r>
              <a:rPr lang="en-US" dirty="0" smtClean="0"/>
              <a:t> </a:t>
            </a:r>
          </a:p>
          <a:p>
            <a:pPr lvl="1"/>
            <a:r>
              <a:rPr lang="en-US" dirty="0" smtClean="0"/>
              <a:t>Designed for specific tasks. </a:t>
            </a:r>
          </a:p>
          <a:p>
            <a:pPr lvl="1"/>
            <a:r>
              <a:rPr lang="en-US" dirty="0" smtClean="0"/>
              <a:t>Example: Voice assistants, recommendation systems. </a:t>
            </a:r>
          </a:p>
          <a:p>
            <a:r>
              <a:rPr lang="en-US" b="1" dirty="0" smtClean="0"/>
              <a:t>General AI (Strong AI)</a:t>
            </a:r>
            <a:r>
              <a:rPr lang="en-US" dirty="0" smtClean="0"/>
              <a:t> </a:t>
            </a:r>
            <a:r>
              <a:rPr lang="en-US" i="1" dirty="0" smtClean="0"/>
              <a:t>(not fully developed yet)</a:t>
            </a:r>
            <a:r>
              <a:rPr lang="en-US" dirty="0" smtClean="0"/>
              <a:t> </a:t>
            </a:r>
          </a:p>
          <a:p>
            <a:pPr lvl="1"/>
            <a:r>
              <a:rPr lang="en-US" dirty="0" smtClean="0"/>
              <a:t>Can perform any intellectual task like a human. </a:t>
            </a:r>
          </a:p>
          <a:p>
            <a:r>
              <a:rPr lang="en-US" b="1" dirty="0" smtClean="0"/>
              <a:t>Super AI</a:t>
            </a:r>
            <a:r>
              <a:rPr lang="en-US" dirty="0" smtClean="0"/>
              <a:t> </a:t>
            </a:r>
          </a:p>
          <a:p>
            <a:pPr lvl="1"/>
            <a:r>
              <a:rPr lang="en-US" dirty="0" smtClean="0"/>
              <a:t>Hypothetical AI that surpasses human intelligence.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INTELLIGENT BEHAVIOUR</a:t>
            </a:r>
            <a:endParaRPr lang="en-US" dirty="0"/>
          </a:p>
        </p:txBody>
      </p:sp>
      <p:sp>
        <p:nvSpPr>
          <p:cNvPr id="3" name="Content Placeholder 2"/>
          <p:cNvSpPr>
            <a:spLocks noGrp="1"/>
          </p:cNvSpPr>
          <p:nvPr>
            <p:ph idx="1"/>
          </p:nvPr>
        </p:nvSpPr>
        <p:spPr/>
        <p:txBody>
          <a:bodyPr/>
          <a:lstStyle/>
          <a:p>
            <a:r>
              <a:rPr lang="en-US" dirty="0" smtClean="0"/>
              <a:t>Intelligence is the capacity, while intelligent </a:t>
            </a:r>
            <a:r>
              <a:rPr lang="en-US" dirty="0" err="1" smtClean="0"/>
              <a:t>behaviour</a:t>
            </a:r>
            <a:r>
              <a:rPr lang="en-US" dirty="0" smtClean="0"/>
              <a:t> is the expression of that capacity.</a:t>
            </a:r>
          </a:p>
          <a:p>
            <a:r>
              <a:rPr lang="en-US" dirty="0" smtClean="0"/>
              <a:t>To know a if system is intelligent, it is done by observing its intelligent </a:t>
            </a:r>
            <a:r>
              <a:rPr lang="en-US" dirty="0" err="1" smtClean="0"/>
              <a:t>behaviour</a:t>
            </a:r>
            <a:r>
              <a:rPr lang="en-US" dirty="0" smtClean="0"/>
              <a:t>.</a:t>
            </a:r>
          </a:p>
          <a:p>
            <a:r>
              <a:rPr lang="en-US" dirty="0" smtClean="0"/>
              <a:t>Intelligence = ability</a:t>
            </a:r>
          </a:p>
          <a:p>
            <a:r>
              <a:rPr lang="en-US" dirty="0" smtClean="0"/>
              <a:t>Intelligent </a:t>
            </a:r>
            <a:r>
              <a:rPr lang="en-US" dirty="0" err="1" smtClean="0"/>
              <a:t>behaviour</a:t>
            </a:r>
            <a:r>
              <a:rPr lang="en-US" dirty="0" smtClean="0"/>
              <a:t> = result of that 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Artificial Intelligence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Artificial Intelligence (AI)</a:t>
            </a:r>
            <a:r>
              <a:rPr lang="en-US" dirty="0" smtClean="0"/>
              <a:t> refers to the simulation of human intelligence in machines that are programmed to think and learn like humans. </a:t>
            </a:r>
          </a:p>
          <a:p>
            <a:r>
              <a:rPr lang="en-US" dirty="0" smtClean="0"/>
              <a:t>These systems are designed to perform tasks that typically require human intelligence, such as:</a:t>
            </a:r>
          </a:p>
          <a:p>
            <a:pPr lvl="1"/>
            <a:r>
              <a:rPr lang="en-US" dirty="0" smtClean="0"/>
              <a:t>Learning</a:t>
            </a:r>
          </a:p>
          <a:p>
            <a:pPr lvl="1"/>
            <a:r>
              <a:rPr lang="en-US" dirty="0" smtClean="0"/>
              <a:t>understanding language</a:t>
            </a:r>
          </a:p>
          <a:p>
            <a:pPr lvl="1"/>
            <a:r>
              <a:rPr lang="en-US" dirty="0" smtClean="0"/>
              <a:t>reasoning, </a:t>
            </a:r>
          </a:p>
          <a:p>
            <a:pPr lvl="1"/>
            <a:r>
              <a:rPr lang="en-US" dirty="0" smtClean="0"/>
              <a:t>making decisions</a:t>
            </a:r>
          </a:p>
          <a:p>
            <a:pPr lvl="1"/>
            <a:r>
              <a:rPr lang="en-US" dirty="0" smtClean="0"/>
              <a:t>problem-solving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Understanding AI based on thought process and behavior</a:t>
            </a:r>
            <a:endParaRPr lang="en-US" dirty="0"/>
          </a:p>
        </p:txBody>
      </p:sp>
      <p:sp>
        <p:nvSpPr>
          <p:cNvPr id="3" name="Content Placeholder 2"/>
          <p:cNvSpPr>
            <a:spLocks noGrp="1"/>
          </p:cNvSpPr>
          <p:nvPr>
            <p:ph idx="1"/>
          </p:nvPr>
        </p:nvSpPr>
        <p:spPr/>
        <p:txBody>
          <a:bodyPr>
            <a:normAutofit fontScale="92500" lnSpcReduction="10000"/>
          </a:bodyPr>
          <a:lstStyle/>
          <a:p>
            <a:r>
              <a:rPr lang="en-US" b="1" u="sng" dirty="0" smtClean="0"/>
              <a:t>Acting humanly ( Turing test):</a:t>
            </a:r>
          </a:p>
          <a:p>
            <a:r>
              <a:rPr lang="en-US" dirty="0" smtClean="0"/>
              <a:t>The test involves an interrogator who interacts with one human and one machine. </a:t>
            </a:r>
          </a:p>
          <a:p>
            <a:r>
              <a:rPr lang="en-US" dirty="0" smtClean="0"/>
              <a:t>Within a given time the interrogator has to find out which of the two the human is, and which one the machine. </a:t>
            </a:r>
          </a:p>
          <a:p>
            <a:r>
              <a:rPr lang="en-US" dirty="0" smtClean="0"/>
              <a:t>The computer passes the test if a human interrogator after posing some written questions, cannot tell whether the written response come from human or not.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Turing test fig</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571604" y="1928802"/>
            <a:ext cx="5857916" cy="2233617"/>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u="sng" dirty="0" smtClean="0"/>
              <a:t>Thinking Humanly:</a:t>
            </a:r>
          </a:p>
          <a:p>
            <a:r>
              <a:rPr lang="en-US" dirty="0" err="1" smtClean="0"/>
              <a:t>Conginitve</a:t>
            </a:r>
            <a:r>
              <a:rPr lang="en-US" dirty="0" smtClean="0"/>
              <a:t> science: how human thinks at given situations.</a:t>
            </a:r>
          </a:p>
          <a:p>
            <a:r>
              <a:rPr lang="en-US" dirty="0" smtClean="0"/>
              <a:t>Uses </a:t>
            </a:r>
            <a:r>
              <a:rPr lang="en-US" dirty="0" err="1" smtClean="0"/>
              <a:t>congnitive</a:t>
            </a:r>
            <a:r>
              <a:rPr lang="en-US" dirty="0" smtClean="0"/>
              <a:t> </a:t>
            </a:r>
            <a:r>
              <a:rPr lang="en-US" dirty="0"/>
              <a:t>M</a:t>
            </a:r>
            <a:r>
              <a:rPr lang="en-US" dirty="0" smtClean="0"/>
              <a:t>odeling Approach: develop a algorithm which says how human brain thinks and then we can develop a machine as human thinks.</a:t>
            </a:r>
          </a:p>
          <a:p>
            <a:r>
              <a:rPr lang="en-US" dirty="0" smtClean="0"/>
              <a:t>But there is no any algorithm which clearly says how machine thinks.</a:t>
            </a:r>
          </a:p>
          <a:p>
            <a:r>
              <a:rPr lang="en-US" dirty="0" smtClean="0"/>
              <a:t>human mind works in two ways:</a:t>
            </a:r>
          </a:p>
          <a:p>
            <a:pPr lvl="1"/>
            <a:r>
              <a:rPr lang="en-US" dirty="0" smtClean="0"/>
              <a:t>Through </a:t>
            </a:r>
            <a:r>
              <a:rPr lang="en-US" dirty="0" err="1" smtClean="0"/>
              <a:t>interospection</a:t>
            </a:r>
            <a:endParaRPr lang="en-US" dirty="0" smtClean="0"/>
          </a:p>
          <a:p>
            <a:pPr lvl="1"/>
            <a:r>
              <a:rPr lang="en-US" dirty="0" smtClean="0"/>
              <a:t>Psychological experiments</a:t>
            </a:r>
          </a:p>
          <a:p>
            <a:endParaRPr lang="en-US" b="1"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Foundations of AI</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Foundations are the disciplines that contributed ideas, viewpoints and techniques to AI. Some of them are as follows:</a:t>
            </a:r>
          </a:p>
          <a:p>
            <a:r>
              <a:rPr lang="en-US" b="1" u="sng" dirty="0" smtClean="0"/>
              <a:t>Philosophy of AI:</a:t>
            </a:r>
          </a:p>
          <a:p>
            <a:r>
              <a:rPr lang="en-US" dirty="0" smtClean="0"/>
              <a:t> it includes logic, method of  reasoning, mind as a physical system, foundations of learning, language and rationality. </a:t>
            </a:r>
          </a:p>
          <a:p>
            <a:r>
              <a:rPr lang="en-US" dirty="0" smtClean="0"/>
              <a:t>It includes following type of questions:</a:t>
            </a:r>
          </a:p>
          <a:p>
            <a:pPr lvl="1"/>
            <a:r>
              <a:rPr lang="en-US" dirty="0" smtClean="0"/>
              <a:t>What is knowledge and how do we know what we know?</a:t>
            </a:r>
            <a:endParaRPr lang="en-US" dirty="0"/>
          </a:p>
          <a:p>
            <a:pPr lvl="1"/>
            <a:r>
              <a:rPr lang="en-US" dirty="0" smtClean="0"/>
              <a:t>What is right thing to do?</a:t>
            </a:r>
          </a:p>
          <a:p>
            <a:pPr lvl="1"/>
            <a:r>
              <a:rPr lang="en-US" dirty="0" smtClean="0"/>
              <a:t>Can formal rules be used to draw valid conclusions?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err="1" smtClean="0"/>
              <a:t>Eg</a:t>
            </a:r>
            <a:r>
              <a:rPr lang="en-US" dirty="0" smtClean="0"/>
              <a:t>: Rule:</a:t>
            </a:r>
            <a:br>
              <a:rPr lang="en-US" dirty="0" smtClean="0"/>
            </a:br>
            <a:r>
              <a:rPr lang="en-US" dirty="0" smtClean="0"/>
              <a:t>IF a patient has a fever AND a sore throat,</a:t>
            </a:r>
            <a:br>
              <a:rPr lang="en-US" dirty="0" smtClean="0"/>
            </a:br>
            <a:r>
              <a:rPr lang="en-US" dirty="0" smtClean="0"/>
              <a:t>THEN they may have the flu.</a:t>
            </a:r>
          </a:p>
          <a:p>
            <a:r>
              <a:rPr lang="en-US" dirty="0" smtClean="0"/>
              <a:t>Input/Premises:</a:t>
            </a:r>
          </a:p>
          <a:p>
            <a:pPr lvl="1"/>
            <a:r>
              <a:rPr lang="en-US" dirty="0" smtClean="0"/>
              <a:t>The patient has a fever</a:t>
            </a:r>
          </a:p>
          <a:p>
            <a:pPr lvl="1"/>
            <a:r>
              <a:rPr lang="en-US" dirty="0" smtClean="0"/>
              <a:t>The patient has a sore throat</a:t>
            </a:r>
          </a:p>
          <a:p>
            <a:r>
              <a:rPr lang="en-US" dirty="0" smtClean="0"/>
              <a:t>Conclusion:</a:t>
            </a:r>
            <a:br>
              <a:rPr lang="en-US" dirty="0" smtClean="0"/>
            </a:br>
            <a:r>
              <a:rPr lang="en-US" dirty="0" smtClean="0"/>
              <a:t>The patient may have the flu</a:t>
            </a:r>
          </a:p>
          <a:p>
            <a:r>
              <a:rPr lang="en-US" dirty="0" smtClean="0"/>
              <a:t>This is a valid conclusion, drawn using a formal rule</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u="sng" dirty="0" smtClean="0"/>
              <a:t>Mathematics: </a:t>
            </a:r>
          </a:p>
          <a:p>
            <a:pPr lvl="1"/>
            <a:r>
              <a:rPr lang="en-US" dirty="0" smtClean="0"/>
              <a:t>designing algorithms, training models, or making predictions, AI depends heavily on mathematical principles.</a:t>
            </a:r>
          </a:p>
          <a:p>
            <a:pPr lvl="1"/>
            <a:r>
              <a:rPr lang="en-US" dirty="0" smtClean="0"/>
              <a:t>It leads to following type of questions: </a:t>
            </a:r>
          </a:p>
          <a:p>
            <a:pPr lvl="1"/>
            <a:r>
              <a:rPr lang="en-US" dirty="0" smtClean="0"/>
              <a:t>What can be computed? </a:t>
            </a:r>
          </a:p>
          <a:p>
            <a:pPr lvl="1"/>
            <a:r>
              <a:rPr lang="en-US" dirty="0" smtClean="0"/>
              <a:t>How do we reason with uncertain information: which enable AI to model uncertainty, learn from data, and make probabilistic predictions.</a:t>
            </a:r>
          </a:p>
          <a:p>
            <a:pPr lvl="1"/>
            <a:r>
              <a:rPr lang="en-US" dirty="0" smtClean="0"/>
              <a:t>What are the formal rules to draw the valid conclusions? </a:t>
            </a:r>
          </a:p>
          <a:p>
            <a:pPr lvl="1">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u="sng" dirty="0" smtClean="0"/>
              <a:t>Psychology</a:t>
            </a:r>
            <a:r>
              <a:rPr lang="en-US" dirty="0" smtClean="0"/>
              <a:t>: Psychology provides insights into how humans think, learn, perceive, and solve problems—all core inspirations for AI systems.</a:t>
            </a:r>
          </a:p>
          <a:p>
            <a:r>
              <a:rPr lang="en-US" dirty="0" smtClean="0"/>
              <a:t>It leads to following questions:</a:t>
            </a:r>
            <a:endParaRPr lang="en-US" dirty="0"/>
          </a:p>
          <a:p>
            <a:pPr lvl="1"/>
            <a:r>
              <a:rPr lang="en-US" dirty="0" smtClean="0"/>
              <a:t>How humans and animals think and act? </a:t>
            </a:r>
          </a:p>
          <a:p>
            <a:r>
              <a:rPr lang="en-US" b="1" u="sng" dirty="0" smtClean="0"/>
              <a:t>Economics: </a:t>
            </a:r>
          </a:p>
          <a:p>
            <a:r>
              <a:rPr lang="en-US" dirty="0" smtClean="0"/>
              <a:t>Economics provides key theoretical tools and frameworks that help AI systems make decisions, allocate resources, and optimize outcomes—core ideas at the heart of AI.</a:t>
            </a:r>
          </a:p>
          <a:p>
            <a:pPr lvl="1"/>
            <a:r>
              <a:rPr lang="en-US" dirty="0" smtClean="0"/>
              <a:t>How should we make decisions so as to maximize payoff? </a:t>
            </a:r>
          </a:p>
          <a:p>
            <a:pPr lvl="1"/>
            <a:r>
              <a:rPr lang="en-US" dirty="0" smtClean="0"/>
              <a:t>How should we do this when others may not go along?</a:t>
            </a:r>
          </a:p>
          <a:p>
            <a:pPr lvl="1"/>
            <a:r>
              <a:rPr lang="en-US" dirty="0" smtClean="0"/>
              <a:t>How should we do this when the payoff may be far in future?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r>
              <a:rPr lang="en-US" b="1" u="sng" dirty="0" smtClean="0"/>
              <a:t>Linguistics</a:t>
            </a:r>
            <a:r>
              <a:rPr lang="en-US" dirty="0" smtClean="0"/>
              <a:t>: </a:t>
            </a:r>
          </a:p>
          <a:p>
            <a:pPr lvl="1"/>
            <a:r>
              <a:rPr lang="en-US" dirty="0" smtClean="0"/>
              <a:t>provides the theories, models, and tools that allow AI systems to understand and generate human language.</a:t>
            </a:r>
          </a:p>
          <a:p>
            <a:r>
              <a:rPr lang="en-US" dirty="0" smtClean="0"/>
              <a:t>AI uses this in: Parsing (analyzing sentence structure),Grammar checkers , Machine translation</a:t>
            </a:r>
          </a:p>
          <a:p>
            <a:r>
              <a:rPr lang="en-US" dirty="0" smtClean="0"/>
              <a:t>How does language relate to thought? </a:t>
            </a:r>
          </a:p>
          <a:p>
            <a:r>
              <a:rPr lang="en-US" dirty="0" smtClean="0"/>
              <a:t>Example: Understanding that “The cat chased the dog” is different from “The dog chased the cat.”</a:t>
            </a:r>
          </a:p>
          <a:p>
            <a:r>
              <a:rPr lang="en-US" b="1" u="sng" dirty="0" smtClean="0"/>
              <a:t>Neuroscience: </a:t>
            </a:r>
          </a:p>
          <a:p>
            <a:pPr lvl="1"/>
            <a:r>
              <a:rPr lang="en-US" dirty="0" smtClean="0"/>
              <a:t>Neuroscience, the study of the brain and nervous system, plays a foundational role in AI by inspiring how machines learn, process information, and adapt.</a:t>
            </a:r>
          </a:p>
          <a:p>
            <a:pPr lvl="1"/>
            <a:r>
              <a:rPr lang="en-US" dirty="0" smtClean="0"/>
              <a:t>How do brains process 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u="sng" dirty="0" smtClean="0"/>
              <a:t> Control theory: </a:t>
            </a:r>
          </a:p>
          <a:p>
            <a:pPr lvl="1"/>
            <a:r>
              <a:rPr lang="en-US" dirty="0" smtClean="0"/>
              <a:t>Control theory is a branch of engineering and mathematics that deals with the behavior of dynamic systems and how to influence them to reach desired outcomes. </a:t>
            </a:r>
          </a:p>
          <a:p>
            <a:pPr lvl="1"/>
            <a:r>
              <a:rPr lang="en-US" dirty="0" smtClean="0"/>
              <a:t>E:gHow can artifacts operate under their own control?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AI</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AI in health care: health care industries are applying AI to make better and faster diagnosis than humans.AI can help doctors with diagnosis and can inform patients are worsening so that medical help can reach to the patient before hospitalization.</a:t>
            </a:r>
          </a:p>
          <a:p>
            <a:r>
              <a:rPr lang="en-US" dirty="0" smtClean="0"/>
              <a:t>AI in finance:  AI and finance industries are the best matches for each other. The finance industry is implementing automation, </a:t>
            </a:r>
            <a:r>
              <a:rPr lang="en-US" dirty="0" err="1" smtClean="0"/>
              <a:t>chatbot</a:t>
            </a:r>
            <a:r>
              <a:rPr lang="en-US" dirty="0" smtClean="0"/>
              <a:t>, adaptive intelligence, algorithm </a:t>
            </a:r>
            <a:r>
              <a:rPr lang="en-US" dirty="0" err="1" smtClean="0"/>
              <a:t>traning</a:t>
            </a:r>
            <a:r>
              <a:rPr lang="en-US" dirty="0" smtClean="0"/>
              <a:t> and machine learning into financial process.</a:t>
            </a:r>
          </a:p>
          <a:p>
            <a:r>
              <a:rPr lang="en-US" dirty="0" smtClean="0"/>
              <a:t>AI in Gaming: AI can be used for gaming proposes the AI machine can play strategic games like chess, where the machine needs to think of large numbers of possible places.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AI in social medias: Social medias such as face book, twitter and </a:t>
            </a:r>
            <a:r>
              <a:rPr lang="en-US" dirty="0" err="1" smtClean="0"/>
              <a:t>snapchat</a:t>
            </a:r>
            <a:r>
              <a:rPr lang="en-US" dirty="0" smtClean="0"/>
              <a:t> contains billions of user profile which need to be stored and managed in a very efficient way. AI can organize and manage massive amount of data.AI can analyze lots of data to identify the latest trend and requirements of different users.</a:t>
            </a:r>
          </a:p>
          <a:p>
            <a:r>
              <a:rPr lang="en-US" dirty="0" smtClean="0"/>
              <a:t>AI in data security: AI can be used to make data more safe and secure since cyber attacks are rapidly growing in the digital world. </a:t>
            </a:r>
            <a:endParaRPr lang="en-US" dirty="0"/>
          </a:p>
          <a:p>
            <a:r>
              <a:rPr lang="en-US" dirty="0" smtClean="0"/>
              <a:t>AI in education : AI </a:t>
            </a:r>
            <a:r>
              <a:rPr lang="en-US" dirty="0" err="1" smtClean="0"/>
              <a:t>chatbot</a:t>
            </a:r>
            <a:r>
              <a:rPr lang="en-US" dirty="0" smtClean="0"/>
              <a:t> can communicate with students as a teaching assistant. AI in future can work as a personal virtual tutor for students which will be accessible easily at any time and any places.</a:t>
            </a:r>
          </a:p>
          <a:p>
            <a:endParaRPr 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INTILLEGENT AGENT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An Intelligent Agent perceives it environment via sensors and acts rationally upon that environment with its effectors (actuators). </a:t>
            </a:r>
          </a:p>
          <a:p>
            <a:r>
              <a:rPr lang="en-US" dirty="0" smtClean="0"/>
              <a:t>Hence, an agent gets percepts one at a time, and maps this percept sequence to actions. </a:t>
            </a:r>
          </a:p>
          <a:p>
            <a:r>
              <a:rPr lang="en-US" dirty="0" smtClean="0"/>
              <a:t>example:</a:t>
            </a:r>
          </a:p>
          <a:p>
            <a:pPr lvl="1"/>
            <a:r>
              <a:rPr lang="en-US" dirty="0" smtClean="0"/>
              <a:t>Based on t₁: "Stop, red light."</a:t>
            </a:r>
          </a:p>
          <a:p>
            <a:pPr lvl="1"/>
            <a:r>
              <a:rPr lang="en-US" dirty="0" smtClean="0"/>
              <a:t>Based on t₂: "Light turned green, but there’s a car ahead. Wait."</a:t>
            </a:r>
          </a:p>
          <a:p>
            <a:pPr lvl="1"/>
            <a:r>
              <a:rPr lang="en-US" dirty="0" smtClean="0"/>
              <a:t>Based on t₃: "Car ahead is moving, path is clear. Accelerate slowly."</a:t>
            </a:r>
          </a:p>
          <a:p>
            <a:r>
              <a:rPr lang="en-US" b="1" dirty="0" smtClean="0"/>
              <a:t>Updated Percept Sequence =</a:t>
            </a:r>
            <a:r>
              <a:rPr lang="en-US" dirty="0" smtClean="0"/>
              <a:t/>
            </a:r>
            <a:br>
              <a:rPr lang="en-US" dirty="0" smtClean="0"/>
            </a:br>
            <a:r>
              <a:rPr lang="en-US" dirty="0" smtClean="0"/>
              <a:t>t₁ → t₂ → t₃</a:t>
            </a:r>
          </a:p>
          <a:p>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Intelligent Agent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828800" y="2362200"/>
            <a:ext cx="4724400" cy="24384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Eg</a:t>
            </a:r>
            <a:r>
              <a:rPr lang="en-US" dirty="0" smtClean="0"/>
              <a:t> of agent: </a:t>
            </a:r>
          </a:p>
          <a:p>
            <a:pPr lvl="1"/>
            <a:r>
              <a:rPr lang="en-US" dirty="0" smtClean="0"/>
              <a:t>Software agent</a:t>
            </a:r>
          </a:p>
          <a:p>
            <a:pPr lvl="1"/>
            <a:r>
              <a:rPr lang="en-US" dirty="0" smtClean="0"/>
              <a:t>Human agent</a:t>
            </a:r>
          </a:p>
          <a:p>
            <a:pPr lvl="1"/>
            <a:r>
              <a:rPr lang="en-US" dirty="0" smtClean="0"/>
              <a:t>Robotics agent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intelligent agents</a:t>
            </a:r>
            <a:endParaRPr lang="en-US" dirty="0"/>
          </a:p>
        </p:txBody>
      </p:sp>
      <p:sp>
        <p:nvSpPr>
          <p:cNvPr id="3" name="Content Placeholder 2"/>
          <p:cNvSpPr>
            <a:spLocks noGrp="1"/>
          </p:cNvSpPr>
          <p:nvPr>
            <p:ph idx="1"/>
          </p:nvPr>
        </p:nvSpPr>
        <p:spPr/>
        <p:txBody>
          <a:bodyPr/>
          <a:lstStyle/>
          <a:p>
            <a:r>
              <a:rPr lang="en-US" dirty="0" smtClean="0"/>
              <a:t>Internal characteristics </a:t>
            </a:r>
          </a:p>
          <a:p>
            <a:r>
              <a:rPr lang="en-US" dirty="0" smtClean="0"/>
              <a:t>External characteristics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Internal characteristics </a:t>
            </a:r>
            <a:br>
              <a:rPr lang="en-US" dirty="0" smtClean="0"/>
            </a:br>
            <a:r>
              <a:rPr lang="en-US" dirty="0" smtClean="0"/>
              <a:t>(LARG)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Learning: it has the ability to learn from previous experience and successively adopt its behavior to the  environment.</a:t>
            </a:r>
          </a:p>
          <a:p>
            <a:r>
              <a:rPr lang="en-US" dirty="0" smtClean="0"/>
              <a:t>Reactivity: An agent must be capable of reacting appropriately to information from its agent.</a:t>
            </a:r>
          </a:p>
          <a:p>
            <a:r>
              <a:rPr lang="en-US" dirty="0" smtClean="0"/>
              <a:t>Autonomy: an agent must have both control over its actions and internal states.</a:t>
            </a:r>
          </a:p>
          <a:p>
            <a:r>
              <a:rPr lang="en-US" dirty="0" smtClean="0"/>
              <a:t>Goal oriented: an agent has well- defined goals and gradually influence it environment to achieve its goals.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External characteristics</a:t>
            </a:r>
            <a:br>
              <a:rPr lang="en-US" dirty="0" smtClean="0"/>
            </a:br>
            <a:r>
              <a:rPr lang="en-US" dirty="0" smtClean="0"/>
              <a:t>(CCMC)</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Communication: an agent often requires an interaction with its environment to fulfill its tasks, such as human and other agents.</a:t>
            </a:r>
          </a:p>
          <a:p>
            <a:r>
              <a:rPr lang="en-US" dirty="0" smtClean="0"/>
              <a:t>Cooperation: cooperation of several agents provides better and faster solutions for complex task.	</a:t>
            </a:r>
          </a:p>
          <a:p>
            <a:r>
              <a:rPr lang="en-US" dirty="0" smtClean="0"/>
              <a:t>Mobility : An agent must access data and transfer messages from other agents and send code to different devices.</a:t>
            </a:r>
          </a:p>
          <a:p>
            <a:r>
              <a:rPr lang="en-US" dirty="0" smtClean="0"/>
              <a:t>Characters: like human, an agent may demonstrate an external behavior with many human characteristics as possible. </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Configuration of agents</a:t>
            </a:r>
            <a:endParaRPr lang="en-US" dirty="0"/>
          </a:p>
        </p:txBody>
      </p:sp>
      <p:sp>
        <p:nvSpPr>
          <p:cNvPr id="3" name="Content Placeholder 2"/>
          <p:cNvSpPr>
            <a:spLocks noGrp="1"/>
          </p:cNvSpPr>
          <p:nvPr>
            <p:ph idx="1"/>
          </p:nvPr>
        </p:nvSpPr>
        <p:spPr/>
        <p:txBody>
          <a:bodyPr/>
          <a:lstStyle/>
          <a:p>
            <a:r>
              <a:rPr lang="en-US" dirty="0" smtClean="0"/>
              <a:t>To design a rational agent we must specify its task environment. Task environment means: PEAS description of the environment</a:t>
            </a:r>
          </a:p>
          <a:p>
            <a:pPr lvl="1"/>
            <a:r>
              <a:rPr lang="en-US" dirty="0" smtClean="0"/>
              <a:t>P: Performance</a:t>
            </a:r>
          </a:p>
          <a:p>
            <a:pPr lvl="1"/>
            <a:r>
              <a:rPr lang="en-US" dirty="0" smtClean="0"/>
              <a:t>E: Environment</a:t>
            </a:r>
          </a:p>
          <a:p>
            <a:pPr lvl="1"/>
            <a:r>
              <a:rPr lang="en-US" dirty="0" smtClean="0"/>
              <a:t>A: Actuators</a:t>
            </a:r>
          </a:p>
          <a:p>
            <a:pPr lvl="1"/>
            <a:r>
              <a:rPr lang="en-US" dirty="0" smtClean="0"/>
              <a:t>S:  Sensor</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PEAS description of Agents</a:t>
            </a:r>
            <a:endParaRPr lang="en-US" dirty="0"/>
          </a:p>
        </p:txBody>
      </p:sp>
      <p:sp>
        <p:nvSpPr>
          <p:cNvPr id="3" name="Content Placeholder 2"/>
          <p:cNvSpPr>
            <a:spLocks noGrp="1"/>
          </p:cNvSpPr>
          <p:nvPr>
            <p:ph idx="1"/>
          </p:nvPr>
        </p:nvSpPr>
        <p:spPr/>
        <p:txBody>
          <a:bodyPr>
            <a:normAutofit lnSpcReduction="10000"/>
          </a:bodyPr>
          <a:lstStyle/>
          <a:p>
            <a:r>
              <a:rPr lang="en-US" dirty="0" smtClean="0"/>
              <a:t>For PEAS description of agents lets make an example of fully automated taxi. Now the agent type becomes taxi driver and PEAS description of task environment for an automated taxi is :</a:t>
            </a:r>
          </a:p>
          <a:p>
            <a:pPr lvl="1"/>
            <a:r>
              <a:rPr lang="en-US" dirty="0" smtClean="0"/>
              <a:t>Performance: safe, fast, legal</a:t>
            </a:r>
          </a:p>
          <a:p>
            <a:pPr lvl="1"/>
            <a:r>
              <a:rPr lang="en-US" dirty="0" smtClean="0"/>
              <a:t>Environment: roads, traffic , signals</a:t>
            </a:r>
          </a:p>
          <a:p>
            <a:pPr lvl="1"/>
            <a:r>
              <a:rPr lang="en-US" dirty="0" smtClean="0"/>
              <a:t>Actuators: steering, accelerator, </a:t>
            </a:r>
            <a:r>
              <a:rPr lang="en-US" dirty="0" err="1" smtClean="0"/>
              <a:t>brakes,horn</a:t>
            </a:r>
            <a:endParaRPr lang="en-US" dirty="0" smtClean="0"/>
          </a:p>
          <a:p>
            <a:pPr lvl="1"/>
            <a:r>
              <a:rPr lang="en-US" dirty="0" smtClean="0"/>
              <a:t>Sensors: cameras, </a:t>
            </a:r>
            <a:r>
              <a:rPr lang="en-US" dirty="0" err="1" smtClean="0"/>
              <a:t>spedometer</a:t>
            </a:r>
            <a:r>
              <a:rPr lang="en-US" smtClean="0"/>
              <a:t>, GPS.</a:t>
            </a:r>
            <a:endParaRPr 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reflex agent</a:t>
            </a:r>
          </a:p>
        </p:txBody>
      </p:sp>
      <p:sp>
        <p:nvSpPr>
          <p:cNvPr id="3" name="Content Placeholder 2"/>
          <p:cNvSpPr>
            <a:spLocks noGrp="1"/>
          </p:cNvSpPr>
          <p:nvPr>
            <p:ph idx="1"/>
          </p:nvPr>
        </p:nvSpPr>
        <p:spPr/>
        <p:txBody>
          <a:bodyPr>
            <a:normAutofit fontScale="70000" lnSpcReduction="20000"/>
          </a:bodyPr>
          <a:lstStyle/>
          <a:p>
            <a:r>
              <a:rPr lang="en-US" dirty="0" smtClean="0"/>
              <a:t>The simple reflex agent is the simples agent.</a:t>
            </a:r>
          </a:p>
          <a:p>
            <a:r>
              <a:rPr lang="en-US" dirty="0" smtClean="0"/>
              <a:t>These agents take decision on the basis of the current percepts and ignore the rest of the percept history.</a:t>
            </a:r>
          </a:p>
          <a:p>
            <a:r>
              <a:rPr lang="en-US" dirty="0" smtClean="0"/>
              <a:t>These agents only succeed in the fully observable environment means all information about environment must be known.</a:t>
            </a:r>
          </a:p>
          <a:p>
            <a:r>
              <a:rPr lang="en-US" dirty="0" smtClean="0"/>
              <a:t>The simple reflex agent works on condition-action rule, which means to maps the current state to action.</a:t>
            </a:r>
          </a:p>
          <a:p>
            <a:r>
              <a:rPr lang="en-US" dirty="0" err="1" smtClean="0"/>
              <a:t>i.e</a:t>
            </a:r>
            <a:r>
              <a:rPr lang="en-US" dirty="0" smtClean="0"/>
              <a:t> if the condition is true, then action is taken else not.</a:t>
            </a:r>
          </a:p>
          <a:p>
            <a:r>
              <a:rPr lang="en-US" dirty="0" smtClean="0"/>
              <a:t>Such as room cleaner agent, it works only if there is dirt in the room.</a:t>
            </a:r>
          </a:p>
          <a:p>
            <a:r>
              <a:rPr lang="en-US" dirty="0" smtClean="0"/>
              <a:t>The problem with simple reflex agent is that they have very limited intelligence and they are not adaptive to changes in environment.</a:t>
            </a:r>
          </a:p>
        </p:txBody>
      </p:sp>
    </p:spTree>
    <p:extLst>
      <p:ext uri="{BB962C8B-B14F-4D97-AF65-F5344CB8AC3E}">
        <p14:creationId xmlns:p14="http://schemas.microsoft.com/office/powerpoint/2010/main" xmlns="" val="12195820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460465" y="1881051"/>
            <a:ext cx="4065815"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533400" y="4495800"/>
            <a:ext cx="1371600" cy="85344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2429691" y="2939143"/>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783772" y="2004197"/>
            <a:ext cx="96991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sp>
        <p:nvSpPr>
          <p:cNvPr id="9" name="Rounded Rectangle 8"/>
          <p:cNvSpPr/>
          <p:nvPr/>
        </p:nvSpPr>
        <p:spPr>
          <a:xfrm>
            <a:off x="2975066" y="2067199"/>
            <a:ext cx="121593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362200" y="5884817"/>
            <a:ext cx="158278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460024"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flipV="1">
            <a:off x="1905000" y="4927963"/>
            <a:ext cx="524691" cy="25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526280" y="2474459"/>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Tree>
    <p:extLst>
      <p:ext uri="{BB962C8B-B14F-4D97-AF65-F5344CB8AC3E}">
        <p14:creationId xmlns:p14="http://schemas.microsoft.com/office/powerpoint/2010/main" xmlns="" val="1552120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Model-based Agents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model-based agent can work in a partially observable environment, and track the situation. </a:t>
            </a:r>
          </a:p>
          <a:p>
            <a:r>
              <a:rPr lang="en-US" dirty="0" smtClean="0"/>
              <a:t>A model based agent has two important factor:</a:t>
            </a:r>
          </a:p>
          <a:p>
            <a:r>
              <a:rPr lang="en-US" dirty="0" smtClean="0"/>
              <a:t>Model: it is knowledge about “how things happen in the world”, and it is known by previous percepts history ,so it is called a model-based agent.</a:t>
            </a:r>
          </a:p>
          <a:p>
            <a:r>
              <a:rPr lang="en-US" dirty="0" smtClean="0"/>
              <a:t>Internal state: it is representation of the current state based on percept history.</a:t>
            </a:r>
          </a:p>
          <a:p>
            <a:r>
              <a:rPr lang="en-US" dirty="0" smtClean="0"/>
              <a:t>These agents have the model “which is knowledge of the world” and based on the model they perform actions.</a:t>
            </a:r>
          </a:p>
          <a:p>
            <a:r>
              <a:rPr lang="en-US" dirty="0" smtClean="0"/>
              <a:t>Updating the agent state requires information about:</a:t>
            </a:r>
          </a:p>
          <a:p>
            <a:pPr lvl="1"/>
            <a:r>
              <a:rPr lang="en-US" dirty="0" smtClean="0"/>
              <a:t>How the world gradually evolves means history.</a:t>
            </a:r>
          </a:p>
          <a:p>
            <a:pPr lvl="1"/>
            <a:r>
              <a:rPr lang="en-US" dirty="0" smtClean="0"/>
              <a:t>How the agents action affects the world.</a:t>
            </a:r>
          </a:p>
        </p:txBody>
      </p:sp>
    </p:spTree>
    <p:extLst>
      <p:ext uri="{BB962C8B-B14F-4D97-AF65-F5344CB8AC3E}">
        <p14:creationId xmlns:p14="http://schemas.microsoft.com/office/powerpoint/2010/main" xmlns="" val="62537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1" y="1881051"/>
            <a:ext cx="4526280"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457200" y="4800600"/>
            <a:ext cx="1399902"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2429691" y="2939143"/>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609600" y="20574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975066" y="2067199"/>
            <a:ext cx="129213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821576" y="5884817"/>
            <a:ext cx="13694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460024"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228600" y="28194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228600" y="36576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cxnSp>
        <p:nvCxnSpPr>
          <p:cNvPr id="27" name="Straight Arrow Connector 26"/>
          <p:cNvCxnSpPr/>
          <p:nvPr/>
        </p:nvCxnSpPr>
        <p:spPr>
          <a:xfrm>
            <a:off x="1676400" y="2590800"/>
            <a:ext cx="914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8" idx="3"/>
          </p:cNvCxnSpPr>
          <p:nvPr/>
        </p:nvCxnSpPr>
        <p:spPr>
          <a:xfrm rot="10800000">
            <a:off x="1579518" y="2292532"/>
            <a:ext cx="1208313" cy="5810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6" idx="1"/>
          </p:cNvCxnSpPr>
          <p:nvPr/>
        </p:nvCxnSpPr>
        <p:spPr>
          <a:xfrm>
            <a:off x="1905000" y="3276600"/>
            <a:ext cx="524691" cy="2111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1981200" y="3733800"/>
            <a:ext cx="457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0340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Goal-Based Agents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Goal-based agents expand the capabilities of the model-based agent by having the “goal” information.</a:t>
            </a:r>
          </a:p>
          <a:p>
            <a:r>
              <a:rPr lang="en-US" dirty="0" smtClean="0"/>
              <a:t>The knowledge of current state environment is not always sufficient to decide for an agent what to do.</a:t>
            </a:r>
          </a:p>
          <a:p>
            <a:r>
              <a:rPr lang="en-US" dirty="0" smtClean="0"/>
              <a:t>The agent needs to know its goals which describes desirable situations.</a:t>
            </a:r>
          </a:p>
          <a:p>
            <a:r>
              <a:rPr lang="en-US" dirty="0" smtClean="0"/>
              <a:t>They choose an action, so that they can achieve the goal.</a:t>
            </a:r>
          </a:p>
          <a:p>
            <a:r>
              <a:rPr lang="en-US" dirty="0" smtClean="0"/>
              <a:t>These agents may have to consider a long sequence of possible actions before deciding whether the goal is achieved or not.</a:t>
            </a:r>
          </a:p>
          <a:p>
            <a:r>
              <a:rPr lang="en-US" dirty="0" smtClean="0"/>
              <a:t>Such considerations of different scenario are called searching and planning, which makes an agent proactive.</a:t>
            </a:r>
            <a:endParaRPr lang="en-US" dirty="0"/>
          </a:p>
        </p:txBody>
      </p:sp>
    </p:spTree>
    <p:extLst>
      <p:ext uri="{BB962C8B-B14F-4D97-AF65-F5344CB8AC3E}">
        <p14:creationId xmlns:p14="http://schemas.microsoft.com/office/powerpoint/2010/main" xmlns="" val="2619899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0465" y="381000"/>
            <a:ext cx="4065815" cy="63724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734786" y="4718719"/>
            <a:ext cx="1018902"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goals</a:t>
            </a:r>
            <a:endParaRPr lang="en-US" dirty="0"/>
          </a:p>
        </p:txBody>
      </p:sp>
      <p:sp>
        <p:nvSpPr>
          <p:cNvPr id="6" name="Rectangle 5"/>
          <p:cNvSpPr/>
          <p:nvPr/>
        </p:nvSpPr>
        <p:spPr>
          <a:xfrm>
            <a:off x="2667000" y="1524000"/>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685800" y="6858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895600" y="609600"/>
            <a:ext cx="1447800"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821577" y="5884817"/>
            <a:ext cx="1123406"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505200" y="1143000"/>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609600" y="15240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609600" y="25908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sp>
        <p:nvSpPr>
          <p:cNvPr id="22" name="Rectangle 21"/>
          <p:cNvSpPr/>
          <p:nvPr/>
        </p:nvSpPr>
        <p:spPr>
          <a:xfrm>
            <a:off x="2590800" y="2971800"/>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it will be if I will do action A </a:t>
            </a:r>
            <a:endParaRPr lang="en-US" dirty="0"/>
          </a:p>
        </p:txBody>
      </p:sp>
      <p:cxnSp>
        <p:nvCxnSpPr>
          <p:cNvPr id="26" name="Straight Arrow Connector 25"/>
          <p:cNvCxnSpPr/>
          <p:nvPr/>
        </p:nvCxnSpPr>
        <p:spPr>
          <a:xfrm flipH="1">
            <a:off x="3429000" y="2667000"/>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0800000">
            <a:off x="1676400" y="12192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65795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based agent</a:t>
            </a:r>
            <a:endParaRPr lang="en-US" dirty="0"/>
          </a:p>
        </p:txBody>
      </p:sp>
      <p:sp>
        <p:nvSpPr>
          <p:cNvPr id="3" name="Content Placeholder 2"/>
          <p:cNvSpPr>
            <a:spLocks noGrp="1"/>
          </p:cNvSpPr>
          <p:nvPr>
            <p:ph idx="1"/>
          </p:nvPr>
        </p:nvSpPr>
        <p:spPr/>
        <p:txBody>
          <a:bodyPr/>
          <a:lstStyle/>
          <a:p>
            <a:r>
              <a:rPr lang="en-US" dirty="0" smtClean="0"/>
              <a:t>Focus on utility not on goals.</a:t>
            </a:r>
          </a:p>
          <a:p>
            <a:r>
              <a:rPr lang="en-US" dirty="0" smtClean="0"/>
              <a:t>Utility function </a:t>
            </a:r>
          </a:p>
          <a:p>
            <a:r>
              <a:rPr lang="en-US" dirty="0" smtClean="0"/>
              <a:t>Deals with happy and unhappy state.</a:t>
            </a:r>
          </a:p>
          <a:p>
            <a:r>
              <a:rPr lang="en-US" dirty="0" smtClean="0"/>
              <a:t>Target is to achieve goal but it also decides how happy agent will be after reaching that goal.</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0465" y="381000"/>
            <a:ext cx="4065815" cy="63724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734786" y="4718719"/>
            <a:ext cx="1018902"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utility</a:t>
            </a:r>
            <a:endParaRPr lang="en-US" dirty="0"/>
          </a:p>
        </p:txBody>
      </p:sp>
      <p:sp>
        <p:nvSpPr>
          <p:cNvPr id="6" name="Rectangle 5"/>
          <p:cNvSpPr/>
          <p:nvPr/>
        </p:nvSpPr>
        <p:spPr>
          <a:xfrm>
            <a:off x="2667000" y="1524000"/>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2429691" y="4369526"/>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happy I will be in such state</a:t>
            </a:r>
            <a:endParaRPr lang="en-US" dirty="0"/>
          </a:p>
        </p:txBody>
      </p:sp>
      <p:sp>
        <p:nvSpPr>
          <p:cNvPr id="8" name="Rounded Rectangle 7"/>
          <p:cNvSpPr/>
          <p:nvPr/>
        </p:nvSpPr>
        <p:spPr>
          <a:xfrm>
            <a:off x="685800" y="685800"/>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2895600" y="609600"/>
            <a:ext cx="1447800"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2438400" y="5884817"/>
            <a:ext cx="150658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3505200" y="1143000"/>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371850" y="4036424"/>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296738" y="5456533"/>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1724298" y="4927963"/>
            <a:ext cx="7053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4648743" y="2696051"/>
            <a:ext cx="1675312"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526280" y="4630784"/>
            <a:ext cx="2037806"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094515"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111633"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609600" y="15240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609600" y="2590800"/>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sp>
        <p:nvSpPr>
          <p:cNvPr id="22" name="Rectangle 21"/>
          <p:cNvSpPr/>
          <p:nvPr/>
        </p:nvSpPr>
        <p:spPr>
          <a:xfrm>
            <a:off x="2590800" y="2971800"/>
            <a:ext cx="1734095"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it will be if I will do action A </a:t>
            </a:r>
            <a:endParaRPr lang="en-US" dirty="0"/>
          </a:p>
        </p:txBody>
      </p:sp>
      <p:cxnSp>
        <p:nvCxnSpPr>
          <p:cNvPr id="26" name="Straight Arrow Connector 25"/>
          <p:cNvCxnSpPr/>
          <p:nvPr/>
        </p:nvCxnSpPr>
        <p:spPr>
          <a:xfrm flipH="1">
            <a:off x="3429000" y="2667000"/>
            <a:ext cx="1143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0800000">
            <a:off x="1676400" y="1219200"/>
            <a:ext cx="1066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65795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agents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 learning agents in AI is the type of agent which can learn from its past experiences, or it has learning capabilities.</a:t>
            </a:r>
          </a:p>
          <a:p>
            <a:r>
              <a:rPr lang="en-US" dirty="0" smtClean="0"/>
              <a:t>It starts to act with basic knowledge and then able to act and adopt automatically through learning.</a:t>
            </a:r>
          </a:p>
          <a:p>
            <a:r>
              <a:rPr lang="en-US" dirty="0" smtClean="0"/>
              <a:t>Hence, learning agents are able to learn, analyze performance and look for new ways to improve the performance.</a:t>
            </a:r>
          </a:p>
          <a:p>
            <a:r>
              <a:rPr lang="en-US" dirty="0" smtClean="0"/>
              <a:t>A learning agent has mainly four conceptual components, which are:</a:t>
            </a:r>
          </a:p>
          <a:p>
            <a:pPr lvl="1"/>
            <a:r>
              <a:rPr lang="en-US" dirty="0" smtClean="0"/>
              <a:t>Learning element: it is responsible for making improvements by learning from environment.</a:t>
            </a:r>
          </a:p>
          <a:p>
            <a:pPr lvl="1"/>
            <a:r>
              <a:rPr lang="en-US" dirty="0" smtClean="0"/>
              <a:t>Critic: it describes how well that agent is doing with respect to a fixed performance standard.</a:t>
            </a:r>
          </a:p>
          <a:p>
            <a:pPr lvl="1"/>
            <a:r>
              <a:rPr lang="en-US" dirty="0" smtClean="0"/>
              <a:t>Performance element: it is responsible for selecting external actions.</a:t>
            </a:r>
          </a:p>
          <a:p>
            <a:pPr lvl="1"/>
            <a:r>
              <a:rPr lang="en-US" dirty="0" smtClean="0"/>
              <a:t>Problem generator: it is responsible for suggesting actions that will lead to new and informative experiences.</a:t>
            </a:r>
            <a:endParaRPr lang="en-US" dirty="0"/>
          </a:p>
        </p:txBody>
      </p:sp>
    </p:spTree>
    <p:extLst>
      <p:ext uri="{BB962C8B-B14F-4D97-AF65-F5344CB8AC3E}">
        <p14:creationId xmlns:p14="http://schemas.microsoft.com/office/powerpoint/2010/main" xmlns="" val="15445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457200" y="5238207"/>
            <a:ext cx="1250768"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Problem generator</a:t>
            </a:r>
            <a:endParaRPr lang="en-US" dirty="0"/>
          </a:p>
        </p:txBody>
      </p:sp>
      <p:sp>
        <p:nvSpPr>
          <p:cNvPr id="6" name="Rectangle 5"/>
          <p:cNvSpPr/>
          <p:nvPr/>
        </p:nvSpPr>
        <p:spPr>
          <a:xfrm>
            <a:off x="3492682" y="3400494"/>
            <a:ext cx="1734094"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Performance element</a:t>
            </a:r>
            <a:endParaRPr lang="en-US" dirty="0"/>
          </a:p>
        </p:txBody>
      </p:sp>
      <p:sp>
        <p:nvSpPr>
          <p:cNvPr id="8" name="Rounded Rectangle 7"/>
          <p:cNvSpPr/>
          <p:nvPr/>
        </p:nvSpPr>
        <p:spPr>
          <a:xfrm>
            <a:off x="955222" y="1689294"/>
            <a:ext cx="969917"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Critic </a:t>
            </a:r>
            <a:endParaRPr lang="en-US" dirty="0"/>
          </a:p>
        </p:txBody>
      </p:sp>
      <p:sp>
        <p:nvSpPr>
          <p:cNvPr id="9" name="Rounded Rectangle 8"/>
          <p:cNvSpPr/>
          <p:nvPr/>
        </p:nvSpPr>
        <p:spPr>
          <a:xfrm>
            <a:off x="3886200" y="1726520"/>
            <a:ext cx="1317715"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SENSORS</a:t>
            </a:r>
            <a:endParaRPr lang="en-US" dirty="0"/>
          </a:p>
        </p:txBody>
      </p:sp>
      <p:sp>
        <p:nvSpPr>
          <p:cNvPr id="10" name="Rounded Rectangle 9"/>
          <p:cNvSpPr/>
          <p:nvPr/>
        </p:nvSpPr>
        <p:spPr>
          <a:xfrm>
            <a:off x="3200400" y="5863977"/>
            <a:ext cx="151855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flipH="1">
            <a:off x="4519871" y="2196782"/>
            <a:ext cx="16207" cy="1230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015196" y="4476935"/>
            <a:ext cx="29391" cy="1387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5686550" y="2696051"/>
            <a:ext cx="637505"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5545182" y="4630784"/>
            <a:ext cx="1018904"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64086" y="2239328"/>
            <a:ext cx="1567543"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5592483" y="2383124"/>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5661114" y="4323806"/>
            <a:ext cx="766557" cy="369332"/>
          </a:xfrm>
          <a:prstGeom prst="rect">
            <a:avLst/>
          </a:prstGeom>
          <a:noFill/>
        </p:spPr>
        <p:txBody>
          <a:bodyPr wrap="none" rtlCol="0">
            <a:spAutoFit/>
          </a:bodyPr>
          <a:lstStyle/>
          <a:p>
            <a:r>
              <a:rPr lang="en-US" dirty="0" smtClean="0"/>
              <a:t>action</a:t>
            </a:r>
            <a:endParaRPr lang="en-US" dirty="0"/>
          </a:p>
        </p:txBody>
      </p:sp>
      <p:sp>
        <p:nvSpPr>
          <p:cNvPr id="25" name="Rectangle 24"/>
          <p:cNvSpPr/>
          <p:nvPr/>
        </p:nvSpPr>
        <p:spPr>
          <a:xfrm>
            <a:off x="573135" y="3739922"/>
            <a:ext cx="1734094"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Leraning</a:t>
            </a:r>
            <a:r>
              <a:rPr lang="en-US" dirty="0" smtClean="0"/>
              <a:t> Element</a:t>
            </a:r>
            <a:endParaRPr lang="en-US" dirty="0"/>
          </a:p>
        </p:txBody>
      </p:sp>
      <p:cxnSp>
        <p:nvCxnSpPr>
          <p:cNvPr id="26" name="Straight Arrow Connector 25"/>
          <p:cNvCxnSpPr/>
          <p:nvPr/>
        </p:nvCxnSpPr>
        <p:spPr>
          <a:xfrm flipV="1">
            <a:off x="1707969" y="4508473"/>
            <a:ext cx="1833698" cy="1054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177068" y="5043657"/>
            <a:ext cx="1069052" cy="646331"/>
          </a:xfrm>
          <a:prstGeom prst="rect">
            <a:avLst/>
          </a:prstGeom>
          <a:noFill/>
        </p:spPr>
        <p:txBody>
          <a:bodyPr wrap="square" rtlCol="0">
            <a:spAutoFit/>
          </a:bodyPr>
          <a:lstStyle/>
          <a:p>
            <a:r>
              <a:rPr lang="en-US" dirty="0" smtClean="0"/>
              <a:t>experiments</a:t>
            </a:r>
            <a:endParaRPr lang="en-US" dirty="0"/>
          </a:p>
        </p:txBody>
      </p:sp>
      <p:cxnSp>
        <p:nvCxnSpPr>
          <p:cNvPr id="29" name="Straight Arrow Connector 28"/>
          <p:cNvCxnSpPr>
            <a:endCxn id="6" idx="1"/>
          </p:cNvCxnSpPr>
          <p:nvPr/>
        </p:nvCxnSpPr>
        <p:spPr>
          <a:xfrm>
            <a:off x="2307228" y="3931920"/>
            <a:ext cx="1185454" cy="17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2307229" y="4217228"/>
            <a:ext cx="1183006" cy="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286001" y="3549559"/>
            <a:ext cx="1138794" cy="369332"/>
          </a:xfrm>
          <a:prstGeom prst="rect">
            <a:avLst/>
          </a:prstGeom>
          <a:noFill/>
        </p:spPr>
        <p:txBody>
          <a:bodyPr wrap="square" rtlCol="0">
            <a:spAutoFit/>
          </a:bodyPr>
          <a:lstStyle/>
          <a:p>
            <a:r>
              <a:rPr lang="en-US" dirty="0" smtClean="0"/>
              <a:t>changes</a:t>
            </a:r>
            <a:endParaRPr lang="en-US" dirty="0"/>
          </a:p>
        </p:txBody>
      </p:sp>
      <p:cxnSp>
        <p:nvCxnSpPr>
          <p:cNvPr id="38" name="Straight Arrow Connector 37"/>
          <p:cNvCxnSpPr>
            <a:stCxn id="9" idx="1"/>
          </p:cNvCxnSpPr>
          <p:nvPr/>
        </p:nvCxnSpPr>
        <p:spPr>
          <a:xfrm rot="10800000">
            <a:off x="1983578" y="1941929"/>
            <a:ext cx="1902622" cy="19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8" idx="2"/>
            <a:endCxn id="25" idx="0"/>
          </p:cNvCxnSpPr>
          <p:nvPr/>
        </p:nvCxnSpPr>
        <p:spPr>
          <a:xfrm>
            <a:off x="1440181" y="2159556"/>
            <a:ext cx="1" cy="158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52400" y="2743200"/>
            <a:ext cx="1335208" cy="369332"/>
          </a:xfrm>
          <a:prstGeom prst="rect">
            <a:avLst/>
          </a:prstGeom>
          <a:noFill/>
        </p:spPr>
        <p:txBody>
          <a:bodyPr wrap="square" rtlCol="0">
            <a:spAutoFit/>
          </a:bodyPr>
          <a:lstStyle/>
          <a:p>
            <a:r>
              <a:rPr lang="en-US" dirty="0" smtClean="0"/>
              <a:t>feedback</a:t>
            </a:r>
            <a:endParaRPr lang="en-US" dirty="0"/>
          </a:p>
        </p:txBody>
      </p:sp>
      <p:sp>
        <p:nvSpPr>
          <p:cNvPr id="47" name="TextBox 46"/>
          <p:cNvSpPr txBox="1"/>
          <p:nvPr/>
        </p:nvSpPr>
        <p:spPr>
          <a:xfrm>
            <a:off x="689066" y="940526"/>
            <a:ext cx="1858193" cy="646331"/>
          </a:xfrm>
          <a:prstGeom prst="rect">
            <a:avLst/>
          </a:prstGeom>
          <a:noFill/>
        </p:spPr>
        <p:txBody>
          <a:bodyPr wrap="square" rtlCol="0">
            <a:spAutoFit/>
          </a:bodyPr>
          <a:lstStyle/>
          <a:p>
            <a:r>
              <a:rPr lang="en-US" dirty="0" smtClean="0"/>
              <a:t>Performance standard </a:t>
            </a:r>
            <a:endParaRPr lang="en-US" dirty="0"/>
          </a:p>
        </p:txBody>
      </p:sp>
      <p:sp>
        <p:nvSpPr>
          <p:cNvPr id="48" name="Rounded Rectangle 47"/>
          <p:cNvSpPr/>
          <p:nvPr/>
        </p:nvSpPr>
        <p:spPr>
          <a:xfrm>
            <a:off x="955222" y="267950"/>
            <a:ext cx="969917"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cxnSp>
        <p:nvCxnSpPr>
          <p:cNvPr id="50" name="Straight Connector 49"/>
          <p:cNvCxnSpPr/>
          <p:nvPr/>
        </p:nvCxnSpPr>
        <p:spPr>
          <a:xfrm>
            <a:off x="195127" y="156754"/>
            <a:ext cx="10613" cy="6370454"/>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9350" y="117566"/>
            <a:ext cx="5163102" cy="13063"/>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5349241" y="153718"/>
            <a:ext cx="3212" cy="637349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77167" y="6527208"/>
            <a:ext cx="5238203" cy="0"/>
          </a:xfrm>
          <a:prstGeom prst="line">
            <a:avLst/>
          </a:prstGeom>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2057400" y="4267200"/>
            <a:ext cx="1443594" cy="369332"/>
          </a:xfrm>
          <a:prstGeom prst="rect">
            <a:avLst/>
          </a:prstGeom>
          <a:noFill/>
        </p:spPr>
        <p:txBody>
          <a:bodyPr wrap="square" rtlCol="0">
            <a:spAutoFit/>
          </a:bodyPr>
          <a:lstStyle/>
          <a:p>
            <a:r>
              <a:rPr lang="en-US" dirty="0" smtClean="0"/>
              <a:t>knowledge</a:t>
            </a:r>
            <a:endParaRPr lang="en-US" dirty="0"/>
          </a:p>
        </p:txBody>
      </p:sp>
    </p:spTree>
    <p:extLst>
      <p:ext uri="{BB962C8B-B14F-4D97-AF65-F5344CB8AC3E}">
        <p14:creationId xmlns:p14="http://schemas.microsoft.com/office/powerpoint/2010/main" xmlns="" val="12768454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Deterministic vs Stochastic: </a:t>
            </a:r>
          </a:p>
          <a:p>
            <a:r>
              <a:rPr lang="en-US" dirty="0" smtClean="0"/>
              <a:t>When an uniqueness in the agent’s current state completely determines the next state of the agent, the environment is said to be deterministic.</a:t>
            </a:r>
          </a:p>
          <a:p>
            <a:r>
              <a:rPr lang="en-US" dirty="0" smtClean="0"/>
              <a:t>Stochastic environment is random in nature which is not unique and cannot be completely determined by the agent.</a:t>
            </a:r>
          </a:p>
          <a:p>
            <a:r>
              <a:rPr lang="en-US" dirty="0" err="1" smtClean="0"/>
              <a:t>Eg</a:t>
            </a:r>
            <a:r>
              <a:rPr lang="en-US" dirty="0" smtClean="0"/>
              <a:t>:</a:t>
            </a:r>
          </a:p>
          <a:p>
            <a:r>
              <a:rPr lang="en-US" dirty="0" smtClean="0"/>
              <a:t>Chess: there would be only few possible moves for a chess at the current state and these moves can be determined.</a:t>
            </a:r>
          </a:p>
          <a:p>
            <a:r>
              <a:rPr lang="en-US" dirty="0" smtClean="0"/>
              <a:t>Self-driving car: the actions are not unique, it varies time to time.</a:t>
            </a:r>
            <a:endParaRPr lang="en-US" dirty="0"/>
          </a:p>
        </p:txBody>
      </p:sp>
    </p:spTree>
    <p:extLst>
      <p:ext uri="{BB962C8B-B14F-4D97-AF65-F5344CB8AC3E}">
        <p14:creationId xmlns:p14="http://schemas.microsoft.com/office/powerpoint/2010/main" xmlns="" val="18810581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Dynamic vs static: </a:t>
            </a:r>
          </a:p>
          <a:p>
            <a:r>
              <a:rPr lang="en-US" dirty="0" smtClean="0"/>
              <a:t>An environment that keeps constantly changing itself when the agent is up with some action is said to be dynamic.</a:t>
            </a:r>
          </a:p>
          <a:p>
            <a:r>
              <a:rPr lang="en-US" dirty="0" smtClean="0"/>
              <a:t>An idle environment with no change in its state is called a static environment.</a:t>
            </a:r>
          </a:p>
          <a:p>
            <a:r>
              <a:rPr lang="en-US" dirty="0" err="1" smtClean="0"/>
              <a:t>Eg</a:t>
            </a:r>
            <a:r>
              <a:rPr lang="en-US" dirty="0" smtClean="0"/>
              <a:t>: a roller </a:t>
            </a:r>
            <a:r>
              <a:rPr lang="en-US" dirty="0" err="1" smtClean="0"/>
              <a:t>coster</a:t>
            </a:r>
            <a:r>
              <a:rPr lang="en-US" dirty="0" smtClean="0"/>
              <a:t> is dynamic as it is set to motion and the environment keeps changing.</a:t>
            </a:r>
          </a:p>
          <a:p>
            <a:r>
              <a:rPr lang="en-US" dirty="0" smtClean="0"/>
              <a:t>An empty house is static as there is no change in the surroundings when an agent enters.</a:t>
            </a:r>
          </a:p>
          <a:p>
            <a:endParaRPr lang="en-US" dirty="0" smtClean="0"/>
          </a:p>
        </p:txBody>
      </p:sp>
    </p:spTree>
    <p:extLst>
      <p:ext uri="{BB962C8B-B14F-4D97-AF65-F5344CB8AC3E}">
        <p14:creationId xmlns:p14="http://schemas.microsoft.com/office/powerpoint/2010/main" xmlns="" val="1183120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Observable vs semi-observable:</a:t>
            </a:r>
          </a:p>
          <a:p>
            <a:r>
              <a:rPr lang="en-US" dirty="0" smtClean="0"/>
              <a:t>When an agent sensor is capable to sense or access the complete state of an agent at each point of time, it is said to be observable environment else it is semi-observable.</a:t>
            </a:r>
          </a:p>
          <a:p>
            <a:r>
              <a:rPr lang="en-US" dirty="0" err="1" smtClean="0"/>
              <a:t>Eg</a:t>
            </a:r>
            <a:r>
              <a:rPr lang="en-US" dirty="0" smtClean="0"/>
              <a:t>: </a:t>
            </a:r>
          </a:p>
          <a:p>
            <a:r>
              <a:rPr lang="en-US" dirty="0" smtClean="0"/>
              <a:t>Chess: the board is fully observable, so the opponent moves.</a:t>
            </a:r>
          </a:p>
          <a:p>
            <a:r>
              <a:rPr lang="en-US" dirty="0" smtClean="0"/>
              <a:t>Driving: the environment is semi-observable because what’s around the corner is not known.</a:t>
            </a:r>
          </a:p>
          <a:p>
            <a:endParaRPr lang="en-US" dirty="0"/>
          </a:p>
        </p:txBody>
      </p:sp>
    </p:spTree>
    <p:extLst>
      <p:ext uri="{BB962C8B-B14F-4D97-AF65-F5344CB8AC3E}">
        <p14:creationId xmlns:p14="http://schemas.microsoft.com/office/powerpoint/2010/main" xmlns="" val="2408522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Single agent vs multi-agent: </a:t>
            </a:r>
          </a:p>
          <a:p>
            <a:r>
              <a:rPr lang="en-US" dirty="0" smtClean="0"/>
              <a:t>An environment consisting of only one agent is said to be a single agent environment.</a:t>
            </a:r>
          </a:p>
          <a:p>
            <a:r>
              <a:rPr lang="en-US" dirty="0" smtClean="0"/>
              <a:t>An environment involving more then one agent is a multi-agent environment.</a:t>
            </a:r>
          </a:p>
          <a:p>
            <a:r>
              <a:rPr lang="en-US" dirty="0" err="1" smtClean="0"/>
              <a:t>Eg</a:t>
            </a:r>
            <a:r>
              <a:rPr lang="en-US" dirty="0" smtClean="0"/>
              <a:t>:</a:t>
            </a:r>
          </a:p>
          <a:p>
            <a:r>
              <a:rPr lang="en-US" dirty="0" smtClean="0"/>
              <a:t>A person left alone in a maze is an example of single agent system.</a:t>
            </a:r>
          </a:p>
          <a:p>
            <a:r>
              <a:rPr lang="en-US" dirty="0" smtClean="0"/>
              <a:t>The game of football is </a:t>
            </a:r>
            <a:r>
              <a:rPr lang="en-US" dirty="0" err="1" smtClean="0"/>
              <a:t>multiagent</a:t>
            </a:r>
            <a:r>
              <a:rPr lang="en-US" dirty="0" smtClean="0"/>
              <a:t> as it involves 10 players in each team.</a:t>
            </a:r>
          </a:p>
        </p:txBody>
      </p:sp>
    </p:spTree>
    <p:extLst>
      <p:ext uri="{BB962C8B-B14F-4D97-AF65-F5344CB8AC3E}">
        <p14:creationId xmlns:p14="http://schemas.microsoft.com/office/powerpoint/2010/main" xmlns="" val="2188431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smtClean="0"/>
              <a:t>Discrete vs Continuous:</a:t>
            </a:r>
          </a:p>
          <a:p>
            <a:r>
              <a:rPr lang="en-US" sz="2400" dirty="0" smtClean="0"/>
              <a:t>The environment in which the actions performed can be numbered is said to be discrete environment.</a:t>
            </a:r>
          </a:p>
          <a:p>
            <a:r>
              <a:rPr lang="en-US" sz="2400" dirty="0" smtClean="0"/>
              <a:t>The environment in which the actions performed cannot be numbered is said to be continuous environment.</a:t>
            </a:r>
          </a:p>
          <a:p>
            <a:r>
              <a:rPr lang="en-US" sz="2400" dirty="0" err="1" smtClean="0"/>
              <a:t>Eg</a:t>
            </a:r>
            <a:r>
              <a:rPr lang="en-US" sz="2400" dirty="0" smtClean="0"/>
              <a:t>:</a:t>
            </a:r>
          </a:p>
          <a:p>
            <a:r>
              <a:rPr lang="en-US" sz="2400" dirty="0" smtClean="0"/>
              <a:t>The game of chess is discrete as it has only finite number of moves. The number of moves might vary with every game, but still its finite.</a:t>
            </a:r>
          </a:p>
          <a:p>
            <a:r>
              <a:rPr lang="en-US" sz="2400" dirty="0" smtClean="0"/>
              <a:t>Self driving car are continuous as their actions like driving, parking etc cannot be numbered.</a:t>
            </a:r>
          </a:p>
        </p:txBody>
      </p:sp>
    </p:spTree>
    <p:extLst>
      <p:ext uri="{BB962C8B-B14F-4D97-AF65-F5344CB8AC3E}">
        <p14:creationId xmlns:p14="http://schemas.microsoft.com/office/powerpoint/2010/main" xmlns="" val="1166784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2349</Words>
  <Application>Microsoft Office PowerPoint</Application>
  <PresentationFormat>On-screen Show (4:3)</PresentationFormat>
  <Paragraphs>252</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Introduction</vt:lpstr>
      <vt:lpstr>Intelligence</vt:lpstr>
      <vt:lpstr>Slide 3</vt:lpstr>
      <vt:lpstr>INTELLIGENT BEHAVIOUR</vt:lpstr>
      <vt:lpstr>Artificial Intelligence</vt:lpstr>
      <vt:lpstr>Understanding AI based on thought process and behavior</vt:lpstr>
      <vt:lpstr>Turing test fig</vt:lpstr>
      <vt:lpstr>Slide 8</vt:lpstr>
      <vt:lpstr>Foundations of AI</vt:lpstr>
      <vt:lpstr>Slide 10</vt:lpstr>
      <vt:lpstr>Slide 11</vt:lpstr>
      <vt:lpstr>Slide 12</vt:lpstr>
      <vt:lpstr>Slide 13</vt:lpstr>
      <vt:lpstr>Slide 14</vt:lpstr>
      <vt:lpstr>Applications of AI</vt:lpstr>
      <vt:lpstr>Slide 16</vt:lpstr>
      <vt:lpstr>INTILLEGENT AGENT</vt:lpstr>
      <vt:lpstr>Structure of Intelligent Agent</vt:lpstr>
      <vt:lpstr>Slide 19</vt:lpstr>
      <vt:lpstr>Properties of intelligent agents</vt:lpstr>
      <vt:lpstr>Internal characteristics  (LARG)</vt:lpstr>
      <vt:lpstr>External characteristics (CCMC)</vt:lpstr>
      <vt:lpstr>Configuration of agents</vt:lpstr>
      <vt:lpstr>PEAS description of Agents</vt:lpstr>
      <vt:lpstr>Simple reflex agent</vt:lpstr>
      <vt:lpstr>Slide 26</vt:lpstr>
      <vt:lpstr>Model-based Agents</vt:lpstr>
      <vt:lpstr>Slide 28</vt:lpstr>
      <vt:lpstr>Goal-Based Agents</vt:lpstr>
      <vt:lpstr>Slide 30</vt:lpstr>
      <vt:lpstr>Utility based agent</vt:lpstr>
      <vt:lpstr>Slide 32</vt:lpstr>
      <vt:lpstr>Learning agents</vt:lpstr>
      <vt:lpstr>Slide 34</vt:lpstr>
      <vt:lpstr>Environment types</vt:lpstr>
      <vt:lpstr>Slide 36</vt:lpstr>
      <vt:lpstr>Slide 37</vt:lpstr>
      <vt:lpstr>Slide 38</vt:lpstr>
      <vt:lpstr>Slide 39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Acer</dc:creator>
  <cp:lastModifiedBy>Acer</cp:lastModifiedBy>
  <cp:revision>46</cp:revision>
  <dcterms:created xsi:type="dcterms:W3CDTF">2006-08-16T00:00:00Z</dcterms:created>
  <dcterms:modified xsi:type="dcterms:W3CDTF">2026-04-21T14:43:05Z</dcterms:modified>
</cp:coreProperties>
</file>