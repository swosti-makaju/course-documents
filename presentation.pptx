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29"/>
  </p:notesMasterIdLst>
  <p:sldIdLst>
    <p:sldId id="256" r:id="rId3"/>
    <p:sldId id="276" r:id="rId4"/>
    <p:sldId id="257" r:id="rId5"/>
    <p:sldId id="258" r:id="rId6"/>
    <p:sldId id="259" r:id="rId7"/>
    <p:sldId id="260" r:id="rId8"/>
    <p:sldId id="263" r:id="rId9"/>
    <p:sldId id="262" r:id="rId10"/>
    <p:sldId id="268" r:id="rId11"/>
    <p:sldId id="278" r:id="rId12"/>
    <p:sldId id="279" r:id="rId13"/>
    <p:sldId id="280" r:id="rId14"/>
    <p:sldId id="281" r:id="rId15"/>
    <p:sldId id="271" r:id="rId16"/>
    <p:sldId id="289" r:id="rId17"/>
    <p:sldId id="282" r:id="rId18"/>
    <p:sldId id="272" r:id="rId19"/>
    <p:sldId id="288" r:id="rId20"/>
    <p:sldId id="284" r:id="rId21"/>
    <p:sldId id="285" r:id="rId22"/>
    <p:sldId id="286" r:id="rId23"/>
    <p:sldId id="287" r:id="rId24"/>
    <p:sldId id="273" r:id="rId25"/>
    <p:sldId id="274" r:id="rId26"/>
    <p:sldId id="277" r:id="rId27"/>
    <p:sldId id="275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>
        <p:scale>
          <a:sx n="50" d="100"/>
          <a:sy n="50" d="100"/>
        </p:scale>
        <p:origin x="2386" y="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notesMaster" Target="notesMasters/notesMaster1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547813" y="1701800"/>
            <a:ext cx="6908800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  <a:endParaRPr lang="en-US" altLang="zh-CN" noProof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2927350"/>
            <a:ext cx="6913562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  <a:endParaRPr lang="en-US" altLang="zh-CN" noProof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6350" y="0"/>
            <a:ext cx="915035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tags" Target="../tags/tag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hyperlink" Target="http://www.tutorialspoint.com/javascript/index.html" TargetMode="External"/><Relationship Id="rId3" Type="http://schemas.openxmlformats.org/officeDocument/2006/relationships/hyperlink" Target="http://www.w3schools.com/html/" TargetMode="External"/><Relationship Id="rId2" Type="http://schemas.openxmlformats.org/officeDocument/2006/relationships/hyperlink" Target="http://www.researchgate.net/publication/380835687_Online_Vehicle_Rental_Syste" TargetMode="External"/><Relationship Id="rId1" Type="http://schemas.openxmlformats.org/officeDocument/2006/relationships/tags" Target="../tags/tag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2"/>
            </a:gs>
            <a:gs pos="0">
              <a:schemeClr val="accent2">
                <a:lumMod val="25000"/>
                <a:lumOff val="75000"/>
              </a:schemeClr>
            </a:gs>
            <a:gs pos="100000">
              <a:schemeClr val="accent2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286000"/>
            <a:ext cx="640080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Rental System (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Velorent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677535" y="4474845"/>
            <a:ext cx="2730500" cy="11728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By: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Swosti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Makaju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Thomas Bhattarai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27020" y="973455"/>
            <a:ext cx="31832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/>
        </p:nvSpPr>
        <p:spPr>
          <a:xfrm>
            <a:off x="1049655" y="2414905"/>
            <a:ext cx="4548505" cy="27317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buFont typeface="Wingdings" panose="05000000000000000000" charset="0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   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90000"/>
              </a:lnSpc>
              <a:buFont typeface="Wingdings" panose="05000000000000000000" charset="0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                                                 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90000"/>
              </a:lnSpc>
              <a:buFont typeface="Wingdings" panose="05000000000000000000" charset="0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90000"/>
              </a:lnSpc>
              <a:buFont typeface="Wingdings" panose="05000000000000000000" charset="0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 of System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90000"/>
              </a:lnSpc>
              <a:buFont typeface="Wingdings" panose="05000000000000000000" charset="0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90000"/>
              </a:lnSpc>
              <a:buFont typeface="Wingdings" panose="05000000000000000000" charset="0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90000"/>
              </a:lnSpc>
              <a:buFont typeface="Wingdings" panose="05000000000000000000" charset="0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90000"/>
              </a:lnSpc>
              <a:buFont typeface="+mj-lt"/>
              <a:buAutoNum type="arabicPeriod"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5024120" y="2414905"/>
            <a:ext cx="3896995" cy="27317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buFont typeface="Wingdings" panose="05000000000000000000" charset="0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Alogorithm Used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l">
              <a:lnSpc>
                <a:spcPct val="90000"/>
              </a:lnSpc>
              <a:buFont typeface="Wingdings" panose="05000000000000000000" charset="0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Project Timeline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l">
              <a:lnSpc>
                <a:spcPct val="90000"/>
              </a:lnSpc>
              <a:buFont typeface="Wingdings" panose="05000000000000000000" charset="0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Technology Used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l">
              <a:lnSpc>
                <a:spcPct val="90000"/>
              </a:lnSpc>
              <a:buFont typeface="Wingdings" panose="05000000000000000000" charset="0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Cases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90000"/>
              </a:lnSpc>
              <a:buFont typeface="Wingdings" panose="05000000000000000000" charset="0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90000"/>
              </a:lnSpc>
              <a:buFont typeface="Wingdings" panose="05000000000000000000" charset="0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Recommendations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90000"/>
              </a:lnSpc>
              <a:buFont typeface="Wingdings" panose="05000000000000000000" charset="0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90000"/>
              </a:lnSpc>
              <a:buFont typeface="+mj-lt"/>
              <a:buAutoNum type="arabicPeriod"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2"/>
          <p:cNvSpPr txBox="1"/>
          <p:nvPr/>
        </p:nvSpPr>
        <p:spPr>
          <a:xfrm>
            <a:off x="457200" y="1642110"/>
            <a:ext cx="8229600" cy="2922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 vehicle rental system is a digital platform designed to manage vehicle hiring.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  <a:defRPr sz="24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offers flexible and convenient transportation options.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  <a:defRPr sz="24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Velorent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automates booking, availability, and payment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676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rental systems rely on manual processes.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lack real-time vehicle availability.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Admins struggle with efficient record management.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automated system improves accuracy and efficiency.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676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efficient online vehicle rental system.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easy vehicle booking and management.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real-time vehicle availability.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System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979170"/>
            <a:ext cx="8229600" cy="3599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vehicle booking and reservation.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registration, login, and profile management.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listing with price, type, and availability.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management of vehicles, users, and bookings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payment and booking history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  <a:defRPr sz="2400"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569085"/>
            <a:ext cx="7391400" cy="3719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rental market is growing due to demand for flexible, cost-effective transportation driven by urbanization and tourism. [1]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VeloRent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positions itself as a modern, customer-focused platform to remain competitive and enhance user satisfaction.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Peer-to-peer rental platforms are reshaping the industry through community trust and transparent practices. [3]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139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400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and secure login.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 and search available vehicles.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booking with date and duration selection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payment and booking confirmation.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management of vehicles and bookings.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1200"/>
              </a:spcAft>
              <a:defRPr sz="2400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response time.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data storage and encryption.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system reliability and availability.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for future growth.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506855"/>
            <a:ext cx="5915025" cy="2030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 Case Diagram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ER Diagram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DFD(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Database Schema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l="3611" t="801" r="3500"/>
          <a:stretch>
            <a:fillRect/>
          </a:stretch>
        </p:blipFill>
        <p:spPr>
          <a:xfrm>
            <a:off x="1467485" y="1393825"/>
            <a:ext cx="6208395" cy="47694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er"/>
          <p:cNvPicPr>
            <a:picLocks noChangeAspect="1"/>
          </p:cNvPicPr>
          <p:nvPr/>
        </p:nvPicPr>
        <p:blipFill>
          <a:blip r:embed="rId1"/>
          <a:srcRect l="-166" t="-1410" r="-1808" b="14148"/>
          <a:stretch>
            <a:fillRect/>
          </a:stretch>
        </p:blipFill>
        <p:spPr>
          <a:xfrm>
            <a:off x="457200" y="1207135"/>
            <a:ext cx="8070850" cy="460375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57200" y="457200"/>
            <a:ext cx="8229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DFD (Data Flow Diagram)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415415" y="2308860"/>
            <a:ext cx="670941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46225" indent="0" algn="l" defTabSz="266700">
              <a:spcBef>
                <a:spcPct val="0"/>
              </a:spcBef>
              <a:spcAft>
                <a:spcPct val="0"/>
              </a:spcAft>
            </a:pPr>
            <a:r>
              <a:rPr sz="1400" i="1">
                <a:latin typeface="Times New Roman" panose="02020603050405020304"/>
                <a:ea typeface="等线"/>
              </a:rPr>
              <a:t>Figure : Level 0 DFDof Vehicle Rental System</a:t>
            </a:r>
            <a:endParaRPr sz="1400" i="1">
              <a:latin typeface="Times New Roman" panose="02020603050405020304"/>
              <a:ea typeface="等线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415415" y="6390005"/>
            <a:ext cx="670941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46225" indent="0" algn="l" defTabSz="266700">
              <a:spcBef>
                <a:spcPct val="0"/>
              </a:spcBef>
              <a:spcAft>
                <a:spcPct val="0"/>
              </a:spcAft>
            </a:pPr>
            <a:r>
              <a:rPr sz="1400" i="1" dirty="0">
                <a:latin typeface="Times New Roman" panose="02020603050405020304"/>
                <a:ea typeface="等线"/>
              </a:rPr>
              <a:t>Figure : Level </a:t>
            </a:r>
            <a:r>
              <a:rPr lang="en-US" sz="1400" i="1" dirty="0">
                <a:latin typeface="Times New Roman" panose="02020603050405020304"/>
                <a:ea typeface="等线"/>
              </a:rPr>
              <a:t>1</a:t>
            </a:r>
            <a:r>
              <a:rPr sz="1400" i="1" dirty="0">
                <a:latin typeface="Times New Roman" panose="02020603050405020304"/>
                <a:ea typeface="等线"/>
              </a:rPr>
              <a:t> DFD</a:t>
            </a:r>
            <a:r>
              <a:rPr lang="en-US" sz="1400" i="1" dirty="0">
                <a:latin typeface="Times New Roman" panose="02020603050405020304"/>
                <a:ea typeface="等线"/>
              </a:rPr>
              <a:t> </a:t>
            </a:r>
            <a:r>
              <a:rPr sz="1400" i="1" dirty="0">
                <a:latin typeface="Times New Roman" panose="02020603050405020304"/>
                <a:ea typeface="等线"/>
              </a:rPr>
              <a:t>of Vehicle Rental System</a:t>
            </a:r>
            <a:endParaRPr sz="1400" i="1" dirty="0">
              <a:latin typeface="Times New Roman" panose="02020603050405020304"/>
              <a:ea typeface="等线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6" name="Picture 5" descr="Gemini_Generated_Image_smrmwtsmrmwtsmr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7155" y="1084580"/>
            <a:ext cx="4265295" cy="1224280"/>
          </a:xfrm>
          <a:prstGeom prst="rect">
            <a:avLst/>
          </a:prstGeom>
        </p:spPr>
      </p:pic>
      <p:pic>
        <p:nvPicPr>
          <p:cNvPr id="8" name="Picture 7" descr="Gemini_Generated_Image_9d8gby9d8gby9d8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765" y="2615565"/>
            <a:ext cx="5172075" cy="38379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1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65987" y="1454404"/>
            <a:ext cx="6812026" cy="5257292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824990"/>
            <a:ext cx="8229600" cy="276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Algorithm: Suggests vehicles based on other user past booking, ratings, reviews, and popularity.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Algorithm: Helps search the vehicles.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 Algoriothm: Sorts vehicle according to price.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algorithms improve usability and help users make better decisions quickly.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457200" y="457200"/>
            <a:ext cx="8229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Gantt Chart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/>
          <p:nvPr>
            <p:custDataLst>
              <p:tags r:id="rId1"/>
            </p:custDataLst>
          </p:nvPr>
        </p:nvGraphicFramePr>
        <p:xfrm>
          <a:off x="872490" y="4722495"/>
          <a:ext cx="7399020" cy="1414780"/>
        </p:xfrm>
        <a:graphic>
          <a:graphicData uri="http://schemas.openxmlformats.org/drawingml/2006/table">
            <a:tbl>
              <a:tblPr/>
              <a:tblGrid>
                <a:gridCol w="929005"/>
                <a:gridCol w="1297940"/>
                <a:gridCol w="714375"/>
                <a:gridCol w="1327785"/>
                <a:gridCol w="1013460"/>
                <a:gridCol w="975995"/>
                <a:gridCol w="1140460"/>
              </a:tblGrid>
              <a:tr h="791845"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7945" indent="0">
                        <a:lnSpc>
                          <a:spcPts val="134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Documentation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9215" indent="0">
                        <a:lnSpc>
                          <a:spcPts val="134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Testing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7945" indent="0">
                        <a:lnSpc>
                          <a:spcPts val="134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Implementation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794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Develop the UI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System Design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794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Gather requirement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marL="67310" indent="0">
                        <a:lnSpc>
                          <a:spcPts val="134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Start Date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7945" indent="0">
                        <a:lnSpc>
                          <a:spcPts val="134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20 Aug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9215" indent="0">
                        <a:lnSpc>
                          <a:spcPts val="134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16 Oct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7945" indent="0">
                        <a:lnSpc>
                          <a:spcPts val="134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25 Sep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7945" indent="0">
                        <a:lnSpc>
                          <a:spcPts val="134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12 Sep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ts val="134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1 Sep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7945" indent="0">
                        <a:lnSpc>
                          <a:spcPts val="134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20 Aug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marL="67310" indent="0">
                        <a:lnSpc>
                          <a:spcPts val="134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Duration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  <a:p>
                      <a:pPr marL="67310" indent="0">
                        <a:lnSpc>
                          <a:spcPts val="132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(In days)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7945" indent="0">
                        <a:lnSpc>
                          <a:spcPts val="134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/>
                          <a:ea typeface="Times New Roman" panose="02020603050405020304"/>
                        </a:rPr>
                        <a:t>181</a:t>
                      </a:r>
                      <a:endParaRPr lang="en-US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9215" indent="0">
                        <a:lnSpc>
                          <a:spcPts val="134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/>
                          <a:ea typeface="Times New Roman" panose="02020603050405020304"/>
                        </a:rPr>
                        <a:t>155</a:t>
                      </a:r>
                      <a:endParaRPr lang="en-US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7945" indent="0">
                        <a:lnSpc>
                          <a:spcPts val="134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/>
                          <a:ea typeface="Times New Roman" panose="02020603050405020304"/>
                        </a:rPr>
                        <a:t>176</a:t>
                      </a:r>
                      <a:endParaRPr lang="en-US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7945" indent="0">
                        <a:lnSpc>
                          <a:spcPts val="134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23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ts val="134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24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7945" indent="0">
                        <a:lnSpc>
                          <a:spcPts val="134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12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36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10" y="1811655"/>
            <a:ext cx="7765415" cy="247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57200" y="1278890"/>
            <a:ext cx="7906385" cy="2861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JavaScript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PHP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MySQL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Server: XAMPP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Tools: Figma, Draw.io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457200" y="457200"/>
            <a:ext cx="8229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Cases (Unit Testing)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34035" y="1550035"/>
          <a:ext cx="8128635" cy="47250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545"/>
                <a:gridCol w="2709545"/>
                <a:gridCol w="2709545"/>
              </a:tblGrid>
              <a:tr h="410845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Tests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  <a:tr h="1012825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Registration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 validation, email &amp; password rules, duplicates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Passed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  <a:tr h="87122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Login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Empty fields, invalid &amp; valid login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Passed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  <a:tr h="70993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Password Reset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Email verification &amp; reset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Passed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  <a:tr h="101219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Admin Login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Credential validation &amp; access control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Passed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  <a:tr h="708025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Logout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destroy &amp; redirect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Passed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9400" y="1066800"/>
          <a:ext cx="8398510" cy="56280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735"/>
                <a:gridCol w="4361815"/>
                <a:gridCol w="1457960"/>
              </a:tblGrid>
              <a:tr h="36576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Tests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Authentication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User/Admin login &amp; logout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Passed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Management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registration, profile update, view user details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Passed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  <a:tr h="480695">
                <a:tc>
                  <a:txBody>
                    <a:bodyPr/>
                    <a:lstStyle/>
                    <a:p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Vehicle Management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Add, update, view, delete vehicle details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Passed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Vehicle Search &amp; Filter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Search vehicle, filter by type and availability</a:t>
                      </a:r>
                      <a:endParaRPr lang="en-US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Passed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Booking Management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 booking, view booking history, cancel booking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Passed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 System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Booking validation, eSewa payment success/failure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Passed</a:t>
                      </a:r>
                      <a:endParaRPr lang="en-US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Admin Panel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Manage users, vehicles, bookings, payments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Passed</a:t>
                      </a:r>
                      <a:endParaRPr lang="en-US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Reports &amp; Records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View booking records and transaction history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Passed</a:t>
                      </a:r>
                      <a:endParaRPr lang="en-US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  <a:tr h="478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</a:t>
                      </a:r>
                      <a:endParaRPr lang="en-US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validation, access control</a:t>
                      </a:r>
                      <a:endParaRPr lang="en-US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Passed</a:t>
                      </a:r>
                      <a:endParaRPr lang="en-US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457200" y="457200"/>
            <a:ext cx="8229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Cases (System Testing)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055" y="1664970"/>
            <a:ext cx="7428865" cy="375983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457200" y="871855"/>
            <a:ext cx="8229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871855"/>
            <a:ext cx="8229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Login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695" y="1844675"/>
            <a:ext cx="7218045" cy="366458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871855"/>
            <a:ext cx="8229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Dashboard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2544921" y="1540511"/>
            <a:ext cx="4054157" cy="2019617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2544921" y="3984308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 algn="just" defTabSz="266700">
              <a:spcBef>
                <a:spcPts val="100"/>
              </a:spcBef>
              <a:spcAft>
                <a:spcPct val="0"/>
              </a:spcAft>
            </a:pPr>
            <a:r>
              <a:rPr sz="1600">
                <a:latin typeface="Times New Roman" panose="02020603050405020304"/>
                <a:ea typeface="等线"/>
              </a:rPr>
              <a:t>      </a:t>
            </a:r>
            <a:endParaRPr sz="1600">
              <a:latin typeface="Times New Roman" panose="02020603050405020304"/>
              <a:ea typeface="等线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2544921" y="3560762"/>
            <a:ext cx="3955097" cy="571817"/>
          </a:xfrm>
          <a:prstGeom prst="rect">
            <a:avLst/>
          </a:prstGeom>
        </p:spPr>
      </p:pic>
      <p:pic>
        <p:nvPicPr>
          <p:cNvPr id="25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9040" y="4132580"/>
            <a:ext cx="4387215" cy="183261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871855"/>
            <a:ext cx="8229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Details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005" y="1719580"/>
            <a:ext cx="7237730" cy="358330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723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Vehicle Rental System successfully automates rental operations. 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efficiency, accuracy, and customer satisfaction. The system reduces manual work and ensures secure data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handling.</a:t>
            </a:r>
            <a:endParaRPr lang="en-US" altLang="en-US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objectives were achieved successfully.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Future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AI-based recommendations</a:t>
            </a:r>
          </a:p>
          <a:p>
            <a:pPr>
              <a:spcAft>
                <a:spcPts val="1200"/>
              </a:spcAft>
              <a:defRPr sz="2400"/>
            </a:pPr>
            <a:r>
              <a:t>• Chatbot support</a:t>
            </a:r>
          </a:p>
          <a:p>
            <a:pPr>
              <a:spcAft>
                <a:spcPts val="1200"/>
              </a:spcAft>
              <a:defRPr sz="2400"/>
            </a:pPr>
            <a:r>
              <a:t>• Advanced analytics</a:t>
            </a:r>
          </a:p>
          <a:p>
            <a:pPr>
              <a:spcAft>
                <a:spcPts val="1200"/>
              </a:spcAft>
              <a:defRPr sz="2400"/>
            </a:pPr>
            <a:r>
              <a:t>• Scalable server deployment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/>
          <p:nvPr/>
        </p:nvSpPr>
        <p:spPr>
          <a:xfrm>
            <a:off x="457200" y="698500"/>
            <a:ext cx="8229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/>
          <p:nvPr>
            <p:custDataLst>
              <p:tags r:id="rId1"/>
            </p:custDataLst>
          </p:nvPr>
        </p:nvGraphicFramePr>
        <p:xfrm>
          <a:off x="457200" y="1562100"/>
          <a:ext cx="8069580" cy="4445000"/>
        </p:xfrm>
        <a:graphic>
          <a:graphicData uri="http://schemas.openxmlformats.org/drawingml/2006/table">
            <a:tbl>
              <a:tblPr/>
              <a:tblGrid>
                <a:gridCol w="343535"/>
                <a:gridCol w="7726045"/>
              </a:tblGrid>
              <a:tr h="824865">
                <a:tc>
                  <a:txBody>
                    <a:bodyPr/>
                    <a:lstStyle/>
                    <a:p>
                      <a:pPr marL="6858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[1]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K.Acharya,"Research	Gate,"	[Online].	Available: https:/</a:t>
                      </a: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  <a:hlinkClick r:id="rId2"/>
                        </a:rPr>
                        <a:t>/www.researchgate.net/publication/380835687_Online_Vehicle_Rental_Syste</a:t>
                      </a: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 m_Project_Report.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24865">
                <a:tc>
                  <a:txBody>
                    <a:bodyPr/>
                    <a:lstStyle/>
                    <a:p>
                      <a:pPr marL="6858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[2]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"Types of Feasibility Study in software project deavelopmeint," GeeksforGeeks, [Online]. Available: https://en.wikipedia.org/wiki/MySQL. [Accessed 05 September 2024].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0230">
                <a:tc>
                  <a:txBody>
                    <a:bodyPr/>
                    <a:lstStyle/>
                    <a:p>
                      <a:pPr marL="6858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[3]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W3Schools, "W3Schools," [Online]. Available: https://</a:t>
                      </a: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  <a:hlinkClick r:id="rId3"/>
                        </a:rPr>
                        <a:t>www.w3schools.com/html/.</a:t>
                      </a: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 [Accessed 20 August 2024].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9595">
                <a:tc>
                  <a:txBody>
                    <a:bodyPr/>
                    <a:lstStyle/>
                    <a:p>
                      <a:pPr marL="6858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[4]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dirty="0">
                          <a:latin typeface="Times New Roman" panose="02020603050405020304"/>
                          <a:ea typeface="Times New Roman" panose="02020603050405020304"/>
                        </a:rPr>
                        <a:t>"Tutorials	Point,"	[Online].	Available: </a:t>
                      </a:r>
                      <a:r>
                        <a:rPr sz="1200" dirty="0">
                          <a:latin typeface="Times New Roman" panose="02020603050405020304"/>
                          <a:ea typeface="Times New Roman" panose="02020603050405020304"/>
                          <a:hlinkClick r:id="rId4"/>
                        </a:rPr>
                        <a:t>www.tutorialspoint.com/javascript/index.html.</a:t>
                      </a:r>
                      <a:r>
                        <a:rPr sz="1200" dirty="0">
                          <a:latin typeface="Times New Roman" panose="02020603050405020304"/>
                          <a:ea typeface="Times New Roman" panose="02020603050405020304"/>
                        </a:rPr>
                        <a:t> [Accessed 28 08 2024].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9910">
                <a:tc>
                  <a:txBody>
                    <a:bodyPr/>
                    <a:lstStyle/>
                    <a:p>
                      <a:pPr marL="6858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[5]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R. E. Shamkanth, in Fundamental Of Database System, Pearson.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6858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[6]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A. Forbes, "The Joy of PHP Programming," Plum Island.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marL="6858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[7]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dirty="0">
                          <a:latin typeface="Times New Roman" panose="02020603050405020304"/>
                          <a:ea typeface="Times New Roman" panose="02020603050405020304"/>
                        </a:rPr>
                        <a:t>"Wikipedia," Wikipedia, [Online]. Available: https://en.wikipedia.org/wiki/MySQL. [Accessed 30 August 2024].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813685"/>
            <a:ext cx="6400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82*111"/>
  <p:tag name="TABLE_ENDDRAG_RECT" val="77*371*582*111"/>
</p:tagLst>
</file>

<file path=ppt/tags/tag2.xml><?xml version="1.0" encoding="utf-8"?>
<p:tagLst xmlns:p="http://schemas.openxmlformats.org/presentationml/2006/main">
  <p:tag name="TABLE_ENDDRAG_ORIGIN_RECT" val="639*372"/>
  <p:tag name="TABLE_ENDDRAG_RECT" val="42*122*640*372"/>
</p:tagLst>
</file>

<file path=ppt/tags/tag3.xml><?xml version="1.0" encoding="utf-8"?>
<p:tagLst xmlns:p="http://schemas.openxmlformats.org/presentationml/2006/main">
  <p:tag name="TABLE_ENDDRAG_ORIGIN_RECT" val="661*413"/>
  <p:tag name="TABLE_ENDDRAG_RECT" val="22*84*661*413"/>
</p:tagLst>
</file>

<file path=ppt/tags/tag4.xml><?xml version="1.0" encoding="utf-8"?>
<p:tagLst xmlns:p="http://schemas.openxmlformats.org/presentationml/2006/main">
  <p:tag name="TABLE_ENDDRAG_ORIGIN_RECT" val="635*350"/>
  <p:tag name="TABLE_ENDDRAG_RECT" val="36*123*635*350"/>
</p:tagLst>
</file>

<file path=ppt/theme/theme1.xml><?xml version="1.0" encoding="utf-8"?>
<a:theme xmlns:a="http://schemas.openxmlformats.org/drawingml/2006/main" name="1_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4912</Words>
  <Application>WPS Presentation</Application>
  <PresentationFormat>On-screen Show (4:3)</PresentationFormat>
  <Paragraphs>365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8" baseType="lpstr">
      <vt:lpstr>Arial</vt:lpstr>
      <vt:lpstr>SimSun</vt:lpstr>
      <vt:lpstr>Wingdings</vt:lpstr>
      <vt:lpstr>Times New Roman</vt:lpstr>
      <vt:lpstr>Wingdings 3</vt:lpstr>
      <vt:lpstr>Wingdings</vt:lpstr>
      <vt:lpstr>Microsoft YaHei</vt:lpstr>
      <vt:lpstr>Arial Unicode MS</vt:lpstr>
      <vt:lpstr>Calibri</vt:lpstr>
      <vt:lpstr>Times New Roman</vt:lpstr>
      <vt:lpstr>等线</vt:lpstr>
      <vt:lpstr>1_Gear Drives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Bhattarai</dc:creator>
  <dc:description>generated using python-pptx</dc:description>
  <cp:lastModifiedBy>Swosti Makaju</cp:lastModifiedBy>
  <cp:revision>87</cp:revision>
  <dcterms:created xsi:type="dcterms:W3CDTF">2013-01-27T09:14:00Z</dcterms:created>
  <dcterms:modified xsi:type="dcterms:W3CDTF">2026-04-03T01:57:41Z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2E3B4A083CC14DE4B646AB51CEF168D9_12</vt:lpwstr>
  </property>
  <property fmtid="{D5CDD505-2E9C-101B-9397-08002B2CF9AE}" pid="3" name="KSOProductBuildVer">
    <vt:lpwstr>1033-12.2.0.23196</vt:lpwstr>
  </property>
</Properties>
</file>