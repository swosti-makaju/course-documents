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71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2.png"/><Relationship Id="rId5" Type="http://schemas.openxmlformats.org/officeDocument/2006/relationships/tags" Target="../tags/tag3.xml"/><Relationship Id="rId4" Type="http://schemas.openxmlformats.org/officeDocument/2006/relationships/image" Target="../media/image1.png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image" Target="../media/image4.png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image" Target="../media/image3.png"/><Relationship Id="rId2" Type="http://schemas.openxmlformats.org/officeDocument/2006/relationships/tags" Target="../tags/tag15.xml"/><Relationship Id="rId13" Type="http://schemas.openxmlformats.org/officeDocument/2006/relationships/tags" Target="../tags/tag23.xml"/><Relationship Id="rId12" Type="http://schemas.openxmlformats.org/officeDocument/2006/relationships/tags" Target="../tags/tag22.xml"/><Relationship Id="rId11" Type="http://schemas.openxmlformats.org/officeDocument/2006/relationships/tags" Target="../tags/tag21.xml"/><Relationship Id="rId10" Type="http://schemas.openxmlformats.org/officeDocument/2006/relationships/tags" Target="../tags/tag20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27.xml"/><Relationship Id="rId7" Type="http://schemas.openxmlformats.org/officeDocument/2006/relationships/image" Target="../media/image8.png"/><Relationship Id="rId6" Type="http://schemas.openxmlformats.org/officeDocument/2006/relationships/tags" Target="../tags/tag26.xml"/><Relationship Id="rId5" Type="http://schemas.microsoft.com/office/2007/relationships/hdphoto" Target="../media/image7.wdp"/><Relationship Id="rId4" Type="http://schemas.openxmlformats.org/officeDocument/2006/relationships/image" Target="../media/image6.png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3" Type="http://schemas.openxmlformats.org/officeDocument/2006/relationships/tags" Target="../tags/tag31.xml"/><Relationship Id="rId12" Type="http://schemas.openxmlformats.org/officeDocument/2006/relationships/tags" Target="../tags/tag30.xml"/><Relationship Id="rId11" Type="http://schemas.openxmlformats.org/officeDocument/2006/relationships/tags" Target="../tags/tag29.xml"/><Relationship Id="rId10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image" Target="../media/image2.png"/><Relationship Id="rId5" Type="http://schemas.openxmlformats.org/officeDocument/2006/relationships/tags" Target="../tags/tag64.xml"/><Relationship Id="rId4" Type="http://schemas.openxmlformats.org/officeDocument/2006/relationships/image" Target="../media/image1.png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1" Type="http://schemas.openxmlformats.org/officeDocument/2006/relationships/tags" Target="../tags/tag69.xml"/><Relationship Id="rId10" Type="http://schemas.openxmlformats.org/officeDocument/2006/relationships/tags" Target="../tags/tag68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图片 2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bg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3" y="0"/>
            <a:ext cx="12169827" cy="6858000"/>
          </a:xfrm>
          <a:prstGeom prst="rect">
            <a:avLst/>
          </a:prstGeom>
        </p:spPr>
      </p:pic>
      <p:pic>
        <p:nvPicPr>
          <p:cNvPr id="10" name="图片 9" descr="5858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9965055" y="606425"/>
            <a:ext cx="1087755" cy="656590"/>
          </a:xfrm>
          <a:prstGeom prst="rect">
            <a:avLst/>
          </a:prstGeom>
        </p:spPr>
      </p:pic>
      <p:sp>
        <p:nvSpPr>
          <p:cNvPr id="9" name="署名"/>
          <p:cNvSpPr>
            <a:spLocks noGrp="1"/>
          </p:cNvSpPr>
          <p:nvPr>
            <p:ph type="body" idx="3" hasCustomPrompt="1"/>
            <p:custDataLst>
              <p:tags r:id="rId7"/>
            </p:custDataLst>
          </p:nvPr>
        </p:nvSpPr>
        <p:spPr>
          <a:xfrm>
            <a:off x="8994711" y="4309110"/>
            <a:ext cx="2158430" cy="511706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2">
                  <a:alpha val="5000"/>
                </a:schemeClr>
              </a:gs>
              <a:gs pos="100000">
                <a:schemeClr val="accent2">
                  <a:alpha val="15000"/>
                </a:scheme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 dirty="0">
                <a:solidFill>
                  <a:schemeClr val="accent1">
                    <a:lumMod val="75000"/>
                  </a:schemeClr>
                </a:solidFill>
                <a:latin typeface="+mn-lt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8" name="副标题"/>
          <p:cNvSpPr txBox="1">
            <a:spLocks noGrp="1"/>
          </p:cNvSpPr>
          <p:nvPr>
            <p:ph type="body" idx="2" hasCustomPrompt="1"/>
            <p:custDataLst>
              <p:tags r:id="rId8"/>
            </p:custDataLst>
          </p:nvPr>
        </p:nvSpPr>
        <p:spPr>
          <a:xfrm>
            <a:off x="5984875" y="3815715"/>
            <a:ext cx="5229860" cy="429260"/>
          </a:xfrm>
          <a:prstGeom prst="rect">
            <a:avLst/>
          </a:prstGeom>
          <a:noFill/>
        </p:spPr>
        <p:txBody>
          <a:bodyPr wrap="square" lIns="0" tIns="0" rIns="71755" bIns="0" rtlCol="0" anchor="t" anchorCtr="0">
            <a:normAutofit/>
          </a:bodyPr>
          <a:lstStyle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sz="1400" b="0" i="0" u="none" strike="noStrike" kern="1200" cap="none" spc="0" normalizeH="0" baseline="0" noProof="1" dirty="0" err="1">
                <a:solidFill>
                  <a:schemeClr val="accent1">
                    <a:lumMod val="75000"/>
                  </a:schemeClr>
                </a:solidFill>
                <a:latin typeface="+mj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 descr="7b0a20202020227461726765744d6f64756c65223a202270726f636573734f6e6c696e65466f6e7473220a7d0a"/>
          <p:cNvSpPr txBox="1">
            <a:spLocks noGrp="1"/>
          </p:cNvSpPr>
          <p:nvPr>
            <p:ph type="title" idx="1" hasCustomPrompt="1"/>
            <p:custDataLst>
              <p:tags r:id="rId9"/>
            </p:custDataLst>
          </p:nvPr>
        </p:nvSpPr>
        <p:spPr>
          <a:xfrm>
            <a:off x="4284980" y="984885"/>
            <a:ext cx="6929755" cy="2830830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0" u="none" strike="noStrike" kern="1200" cap="none" spc="0" normalizeH="0" baseline="0" noProof="1" dirty="0">
                <a:solidFill>
                  <a:schemeClr val="dk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253A3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duotone>
              <a:prstClr val="black"/>
              <a:schemeClr val="bg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5"/>
          <a:stretch>
            <a:fillRect/>
          </a:stretch>
        </p:blipFill>
        <p:spPr>
          <a:xfrm>
            <a:off x="1" y="0"/>
            <a:ext cx="12191999" cy="6858000"/>
          </a:xfrm>
          <a:custGeom>
            <a:avLst/>
            <a:gdLst>
              <a:gd name="connsiteX0" fmla="*/ 0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0 w 1219199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1999" h="6858000"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4" name="矩形 13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图片 35" descr="363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876915" y="1054100"/>
            <a:ext cx="642620" cy="335915"/>
          </a:xfrm>
          <a:prstGeom prst="rect">
            <a:avLst/>
          </a:prstGeom>
        </p:spPr>
      </p:pic>
      <p:pic>
        <p:nvPicPr>
          <p:cNvPr id="37" name="图片 36" descr="363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8190230" y="3277235"/>
            <a:ext cx="448945" cy="234950"/>
          </a:xfrm>
          <a:prstGeom prst="rect">
            <a:avLst/>
          </a:prstGeom>
        </p:spPr>
      </p:pic>
      <p:pic>
        <p:nvPicPr>
          <p:cNvPr id="9" name="图片 8" descr="gg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0624185" y="4663440"/>
            <a:ext cx="819150" cy="1224915"/>
          </a:xfrm>
          <a:prstGeom prst="rect">
            <a:avLst/>
          </a:prstGeom>
        </p:spPr>
      </p:pic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10"/>
            </p:custDataLst>
          </p:nvPr>
        </p:nvSpPr>
        <p:spPr>
          <a:xfrm>
            <a:off x="788669" y="835660"/>
            <a:ext cx="7602039" cy="1198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600" b="0" i="0" u="none" strike="noStrike" kern="1200" cap="none" spc="0" normalizeH="0" baseline="0" noProof="1" dirty="0">
                <a:solidFill>
                  <a:schemeClr val="dk1">
                    <a:lumMod val="100000"/>
                  </a:schemeClr>
                </a:solidFill>
                <a:effectLst/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图片 2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alphaModFix amt="75000"/>
            <a:duotone>
              <a:prstClr val="black"/>
              <a:schemeClr val="bg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7000"/>
                    </a14:imgEffect>
                    <a14:imgEffect>
                      <a14:saturation sat="16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4" y="0"/>
            <a:ext cx="12182475" cy="6858000"/>
          </a:xfrm>
          <a:prstGeom prst="rect">
            <a:avLst/>
          </a:prstGeom>
        </p:spPr>
      </p:pic>
      <p:pic>
        <p:nvPicPr>
          <p:cNvPr id="9" name="图片 8" descr="矢量智能对象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309485" y="2189480"/>
            <a:ext cx="780415" cy="897255"/>
          </a:xfrm>
          <a:prstGeom prst="rect">
            <a:avLst/>
          </a:prstGeom>
        </p:spPr>
      </p:pic>
      <p:pic>
        <p:nvPicPr>
          <p:cNvPr id="10" name="图片 9" descr="363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9164320" y="1170305"/>
            <a:ext cx="642620" cy="335915"/>
          </a:xfrm>
          <a:prstGeom prst="rect">
            <a:avLst/>
          </a:prstGeom>
        </p:spPr>
      </p:pic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0"/>
            </p:custDataLst>
          </p:nvPr>
        </p:nvSpPr>
        <p:spPr>
          <a:xfrm>
            <a:off x="702309" y="2189480"/>
            <a:ext cx="6804480" cy="1948815"/>
          </a:xfrm>
          <a:prstGeom prst="rect">
            <a:avLst/>
          </a:prstGeom>
          <a:noFill/>
        </p:spPr>
        <p:txBody>
          <a:bodyPr wrap="square" lIns="91440" tIns="0" rIns="91440" bIns="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0" u="none" strike="noStrike" kern="1200" cap="none" spc="0" normalizeH="0" baseline="0" noProof="1" dirty="0">
                <a:solidFill>
                  <a:schemeClr val="dk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en-US" baseline="0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 baseline="0">
                <a:solidFill>
                  <a:srgbClr val="253A3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 baseline="0">
                <a:solidFill>
                  <a:srgbClr val="253A3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95642" y="360000"/>
            <a:ext cx="10800397" cy="864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253A3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253A3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8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253A3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9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253A3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5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253A3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95642" y="360000"/>
            <a:ext cx="10799087" cy="864000"/>
          </a:xfrm>
        </p:spPr>
        <p:txBody>
          <a:bodyPr wrap="square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 u="none" strike="noStrike" kern="1200" cap="none" spc="0" normalizeH="0">
                <a:solidFill>
                  <a:srgbClr val="253A3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图片 10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bg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5124" cy="6858000"/>
          </a:xfrm>
          <a:prstGeom prst="rect">
            <a:avLst/>
          </a:prstGeom>
        </p:spPr>
      </p:pic>
      <p:pic>
        <p:nvPicPr>
          <p:cNvPr id="9" name="图片 8" descr="5858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9965055" y="606425"/>
            <a:ext cx="1087755" cy="656590"/>
          </a:xfrm>
          <a:prstGeom prst="rect">
            <a:avLst/>
          </a:prstGeom>
        </p:spPr>
      </p:pic>
      <p:sp>
        <p:nvSpPr>
          <p:cNvPr id="8" name="署名"/>
          <p:cNvSpPr>
            <a:spLocks noGrp="1"/>
          </p:cNvSpPr>
          <p:nvPr>
            <p:ph type="body" idx="2" hasCustomPrompt="1"/>
            <p:custDataLst>
              <p:tags r:id="rId7"/>
            </p:custDataLst>
          </p:nvPr>
        </p:nvSpPr>
        <p:spPr>
          <a:xfrm>
            <a:off x="8976049" y="4321810"/>
            <a:ext cx="2177091" cy="486566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2">
                  <a:alpha val="5000"/>
                </a:schemeClr>
              </a:gs>
              <a:gs pos="100000">
                <a:schemeClr val="accent2">
                  <a:alpha val="15000"/>
                </a:scheme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>
                <a:solidFill>
                  <a:schemeClr val="accent1">
                    <a:lumMod val="75000"/>
                  </a:schemeClr>
                </a:solidFill>
                <a:latin typeface="+mn-lt"/>
                <a:sym typeface="+mn-ea"/>
              </a:defRPr>
            </a:lvl1pPr>
          </a:lstStyle>
          <a:p>
            <a:pPr lvl="0" algn="ctr">
              <a:buClrTx/>
              <a:buSzTx/>
              <a:buFontTx/>
            </a:pPr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8"/>
            </p:custDataLst>
          </p:nvPr>
        </p:nvSpPr>
        <p:spPr>
          <a:xfrm>
            <a:off x="5059680" y="2042795"/>
            <a:ext cx="6155055" cy="209359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0" u="none" strike="noStrike" kern="1200" cap="none" spc="0" normalizeH="0" baseline="0" noProof="1" dirty="0">
                <a:solidFill>
                  <a:schemeClr val="dk1">
                    <a:lumMod val="100000"/>
                  </a:schemeClr>
                </a:solidFill>
                <a:latin typeface="+mj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tags" Target="../tags/tag78.xml"/><Relationship Id="rId20" Type="http://schemas.openxmlformats.org/officeDocument/2006/relationships/tags" Target="../tags/tag77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76.xml"/><Relationship Id="rId18" Type="http://schemas.openxmlformats.org/officeDocument/2006/relationships/tags" Target="../tags/tag75.xml"/><Relationship Id="rId17" Type="http://schemas.openxmlformats.org/officeDocument/2006/relationships/tags" Target="../tags/tag74.xml"/><Relationship Id="rId16" Type="http://schemas.openxmlformats.org/officeDocument/2006/relationships/tags" Target="../tags/tag73.xml"/><Relationship Id="rId15" Type="http://schemas.openxmlformats.org/officeDocument/2006/relationships/tags" Target="../tags/tag72.xml"/><Relationship Id="rId14" Type="http://schemas.openxmlformats.org/officeDocument/2006/relationships/image" Target="../media/image9.png"/><Relationship Id="rId13" Type="http://schemas.openxmlformats.org/officeDocument/2006/relationships/tags" Target="../tags/tag71.xml"/><Relationship Id="rId12" Type="http://schemas.openxmlformats.org/officeDocument/2006/relationships/tags" Target="../tags/tag7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>
            <p:custDataLst>
              <p:tags r:id="rId1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 userDrawn="1">
            <p:custDataLst>
              <p:tags r:id="rId13"/>
            </p:custDataLst>
          </p:nvPr>
        </p:nvPicPr>
        <p:blipFill>
          <a:blip r:embed="rId14">
            <a:alphaModFix amt="47000"/>
            <a:duotone>
              <a:prstClr val="black"/>
              <a:schemeClr val="bg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72950" cy="6858000"/>
          </a:xfrm>
          <a:prstGeom prst="rect">
            <a:avLst/>
          </a:prstGeom>
        </p:spPr>
      </p:pic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5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1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17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7" name="标题占位符 1"/>
          <p:cNvSpPr>
            <a:spLocks noGrp="1"/>
          </p:cNvSpPr>
          <p:nvPr>
            <p:ph type="title"/>
            <p:custDataLst>
              <p:tags r:id="rId18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"/>
            <p:custDataLst>
              <p:tags r:id="rId19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1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kumimoji="0" lang="en-US" sz="3200" b="0" i="0" u="none" strike="noStrike" kern="1200" cap="none" spc="0" normalizeH="0" baseline="0" dirty="0" smtClean="0">
          <a:solidFill>
            <a:srgbClr val="253A3F"/>
          </a:solidFill>
          <a:uFillTx/>
          <a:latin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0" normalizeH="0" baseline="0">
          <a:solidFill>
            <a:srgbClr val="253A3F"/>
          </a:solidFill>
          <a:uFillTx/>
          <a:latin typeface="Arial" panose="020B0604020202020204" pitchFamily="34" charset="0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rgbClr val="253A3F"/>
          </a:solidFill>
          <a:uFillTx/>
          <a:latin typeface="+mn-lt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rgbClr val="253A3F"/>
          </a:solidFill>
          <a:uFillTx/>
          <a:latin typeface="+mn-lt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rgbClr val="253A3F"/>
          </a:solidFill>
          <a:uFillTx/>
          <a:latin typeface="+mn-lt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rgbClr val="253A3F"/>
          </a:solidFill>
          <a:uFillTx/>
          <a:latin typeface="+mn-lt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81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" Type="http://schemas.openxmlformats.org/officeDocument/2006/relationships/image" Target="../media/image10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3.xml"/><Relationship Id="rId20" Type="http://schemas.openxmlformats.org/officeDocument/2006/relationships/tags" Target="../tags/tag101.xml"/><Relationship Id="rId2" Type="http://schemas.openxmlformats.org/officeDocument/2006/relationships/tags" Target="../tags/tag83.xml"/><Relationship Id="rId19" Type="http://schemas.openxmlformats.org/officeDocument/2006/relationships/tags" Target="../tags/tag100.xml"/><Relationship Id="rId18" Type="http://schemas.openxmlformats.org/officeDocument/2006/relationships/tags" Target="../tags/tag99.xml"/><Relationship Id="rId17" Type="http://schemas.openxmlformats.org/officeDocument/2006/relationships/tags" Target="../tags/tag98.xml"/><Relationship Id="rId16" Type="http://schemas.openxmlformats.org/officeDocument/2006/relationships/tags" Target="../tags/tag97.xml"/><Relationship Id="rId15" Type="http://schemas.openxmlformats.org/officeDocument/2006/relationships/tags" Target="../tags/tag96.xml"/><Relationship Id="rId14" Type="http://schemas.openxmlformats.org/officeDocument/2006/relationships/tags" Target="../tags/tag95.xml"/><Relationship Id="rId13" Type="http://schemas.openxmlformats.org/officeDocument/2006/relationships/tags" Target="../tags/tag94.xml"/><Relationship Id="rId12" Type="http://schemas.openxmlformats.org/officeDocument/2006/relationships/tags" Target="../tags/tag93.xml"/><Relationship Id="rId11" Type="http://schemas.openxmlformats.org/officeDocument/2006/relationships/tags" Target="../tags/tag92.xml"/><Relationship Id="rId10" Type="http://schemas.openxmlformats.org/officeDocument/2006/relationships/tags" Target="../tags/tag91.xml"/><Relationship Id="rId1" Type="http://schemas.openxmlformats.org/officeDocument/2006/relationships/tags" Target="../tags/tag8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tags" Target="../tags/tag103.xml"/><Relationship Id="rId2" Type="http://schemas.openxmlformats.org/officeDocument/2006/relationships/image" Target="../media/image10.jpeg"/><Relationship Id="rId1" Type="http://schemas.openxmlformats.org/officeDocument/2006/relationships/tags" Target="../tags/tag102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9.xml"/><Relationship Id="rId3" Type="http://schemas.openxmlformats.org/officeDocument/2006/relationships/tags" Target="../tags/tag105.xml"/><Relationship Id="rId2" Type="http://schemas.openxmlformats.org/officeDocument/2006/relationships/image" Target="../media/image11.png"/><Relationship Id="rId1" Type="http://schemas.openxmlformats.org/officeDocument/2006/relationships/tags" Target="../tags/tag10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tags" Target="../tags/tag107.xml"/><Relationship Id="rId1" Type="http://schemas.openxmlformats.org/officeDocument/2006/relationships/tags" Target="../tags/tag10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11.xml"/><Relationship Id="rId1" Type="http://schemas.openxmlformats.org/officeDocument/2006/relationships/tags" Target="../tags/tag110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113.xml"/><Relationship Id="rId2" Type="http://schemas.openxmlformats.org/officeDocument/2006/relationships/image" Target="../media/image12.png"/><Relationship Id="rId1" Type="http://schemas.openxmlformats.org/officeDocument/2006/relationships/tags" Target="../tags/tag1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17.xml"/><Relationship Id="rId1" Type="http://schemas.openxmlformats.org/officeDocument/2006/relationships/tags" Target="../tags/tag1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19.xml"/><Relationship Id="rId1" Type="http://schemas.openxmlformats.org/officeDocument/2006/relationships/tags" Target="../tags/tag1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21.xml"/><Relationship Id="rId1" Type="http://schemas.openxmlformats.org/officeDocument/2006/relationships/tags" Target="../tags/tag1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123.xml"/><Relationship Id="rId1" Type="http://schemas.openxmlformats.org/officeDocument/2006/relationships/tags" Target="../tags/tag1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ternlogo"/>
          <p:cNvPicPr>
            <a:picLocks noChangeAspect="1"/>
          </p:cNvPicPr>
          <p:nvPr/>
        </p:nvPicPr>
        <p:blipFill>
          <a:blip r:embed="rId1"/>
          <a:srcRect l="12157" t="28429" r="11594" b="29809"/>
          <a:stretch>
            <a:fillRect/>
          </a:stretch>
        </p:blipFill>
        <p:spPr>
          <a:xfrm>
            <a:off x="4212590" y="802640"/>
            <a:ext cx="4151630" cy="1240155"/>
          </a:xfrm>
          <a:prstGeom prst="rect">
            <a:avLst/>
          </a:prstGeom>
        </p:spPr>
      </p:pic>
      <p:sp>
        <p:nvSpPr>
          <p:cNvPr id="6" name="文本占位符 5"/>
          <p:cNvSpPr>
            <a:spLocks noGrp="1"/>
          </p:cNvSpPr>
          <p:nvPr>
            <p:ph type="body" idx="3"/>
            <p:custDataLst>
              <p:tags r:id="rId2"/>
            </p:custDataLst>
          </p:nvPr>
        </p:nvSpPr>
        <p:spPr>
          <a:xfrm>
            <a:off x="6896100" y="4692650"/>
            <a:ext cx="4489450" cy="1460500"/>
          </a:xfrm>
        </p:spPr>
        <p:txBody>
          <a:bodyPr>
            <a:normAutofit lnSpcReduction="10000"/>
          </a:bodyPr>
          <a:lstStyle/>
          <a:p>
            <a:r>
              <a:rPr lang="en-US" sz="1800">
                <a:latin typeface="Times New Roman" panose="02020603050405020304" charset="0"/>
                <a:cs typeface="Times New Roman" panose="02020603050405020304" charset="0"/>
              </a:rPr>
              <a:t>Presented By: Swosti Makju</a:t>
            </a:r>
            <a:endParaRPr 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sz="1800">
                <a:latin typeface="Times New Roman" panose="02020603050405020304" charset="0"/>
                <a:cs typeface="Times New Roman" panose="02020603050405020304" charset="0"/>
              </a:rPr>
              <a:t>TU Registration No: </a:t>
            </a:r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6-2-1131-55-2022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1800">
                <a:latin typeface="Times New Roman" panose="02020603050405020304" charset="0"/>
                <a:cs typeface="Times New Roman" panose="02020603050405020304" charset="0"/>
              </a:rPr>
              <a:t>Supervisor: Mr. Prajwal Bista</a:t>
            </a:r>
            <a:endParaRPr lang="en-US" altLang="en-US" sz="1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 idx="1"/>
            <p:custDataLst>
              <p:tags r:id="rId3"/>
            </p:custDataLst>
          </p:nvPr>
        </p:nvSpPr>
        <p:spPr>
          <a:xfrm>
            <a:off x="542925" y="2548890"/>
            <a:ext cx="11318875" cy="1477010"/>
          </a:xfrm>
        </p:spPr>
        <p:txBody>
          <a:bodyPr>
            <a:noAutofit/>
          </a:bodyPr>
          <a:lstStyle/>
          <a:p>
            <a:pPr algn="ctr"/>
            <a:r>
              <a:rPr lang="en-US" altLang="en-US" sz="3200" dirty="0">
                <a:latin typeface="Times New Roman" panose="02020603050405020304" charset="0"/>
                <a:cs typeface="Times New Roman" panose="02020603050405020304" charset="0"/>
              </a:rPr>
              <a:t>Mobile Based App Development(Flutter) Internship</a:t>
            </a:r>
            <a:br>
              <a:rPr lang="en-US" altLang="en-US" sz="3200" dirty="0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altLang="en-US" sz="3200" dirty="0">
                <a:latin typeface="Times New Roman" panose="02020603050405020304" charset="0"/>
                <a:cs typeface="Times New Roman" panose="02020603050405020304" charset="0"/>
              </a:rPr>
              <a:t>at</a:t>
            </a:r>
            <a:br>
              <a:rPr lang="en-US" altLang="en-US" sz="3200" dirty="0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altLang="en-US" sz="3200" dirty="0">
                <a:latin typeface="Times New Roman" panose="02020603050405020304" charset="0"/>
                <a:cs typeface="Times New Roman" panose="02020603050405020304" charset="0"/>
              </a:rPr>
              <a:t>Aeditech Software Company</a:t>
            </a:r>
            <a:endParaRPr lang="en-US" altLang="en-US" sz="3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>
          <a:xfrm>
            <a:off x="2294889" y="472440"/>
            <a:ext cx="7602039" cy="1198880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Contents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序号"/>
          <p:cNvSpPr txBox="1"/>
          <p:nvPr>
            <p:custDataLst>
              <p:tags r:id="rId2"/>
            </p:custDataLst>
          </p:nvPr>
        </p:nvSpPr>
        <p:spPr>
          <a:xfrm>
            <a:off x="6257608" y="2468439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06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6" name="标题"/>
          <p:cNvSpPr txBox="1"/>
          <p:nvPr>
            <p:custDataLst>
              <p:tags r:id="rId3"/>
            </p:custDataLst>
          </p:nvPr>
        </p:nvSpPr>
        <p:spPr>
          <a:xfrm>
            <a:off x="6932930" y="2325370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Technology Stack &amp; Architecture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7" name="序号"/>
          <p:cNvSpPr txBox="1"/>
          <p:nvPr>
            <p:custDataLst>
              <p:tags r:id="rId4"/>
            </p:custDataLst>
          </p:nvPr>
        </p:nvSpPr>
        <p:spPr>
          <a:xfrm>
            <a:off x="6257608" y="307359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07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9" name="标题"/>
          <p:cNvSpPr txBox="1"/>
          <p:nvPr>
            <p:custDataLst>
              <p:tags r:id="rId5"/>
            </p:custDataLst>
          </p:nvPr>
        </p:nvSpPr>
        <p:spPr>
          <a:xfrm>
            <a:off x="6932930" y="3030855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My Roles &amp; Contributions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1963420" y="3689033"/>
            <a:ext cx="5080000" cy="553085"/>
          </a:xfrm>
          <a:prstGeom prst="rect">
            <a:avLst/>
          </a:prstGeom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Problem Statement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序号"/>
          <p:cNvSpPr txBox="1"/>
          <p:nvPr>
            <p:custDataLst>
              <p:tags r:id="rId6"/>
            </p:custDataLst>
          </p:nvPr>
        </p:nvSpPr>
        <p:spPr>
          <a:xfrm>
            <a:off x="6257608" y="375939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08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15" name="序号"/>
          <p:cNvSpPr txBox="1"/>
          <p:nvPr>
            <p:custDataLst>
              <p:tags r:id="rId7"/>
            </p:custDataLst>
          </p:nvPr>
        </p:nvSpPr>
        <p:spPr>
          <a:xfrm>
            <a:off x="6257608" y="432327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09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16" name="标题"/>
          <p:cNvSpPr txBox="1"/>
          <p:nvPr>
            <p:custDataLst>
              <p:tags r:id="rId8"/>
            </p:custDataLst>
          </p:nvPr>
        </p:nvSpPr>
        <p:spPr>
          <a:xfrm>
            <a:off x="6932930" y="4228465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Current Status &amp; Remaining Work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0" name="序号"/>
          <p:cNvSpPr txBox="1"/>
          <p:nvPr>
            <p:custDataLst>
              <p:tags r:id="rId9"/>
            </p:custDataLst>
          </p:nvPr>
        </p:nvSpPr>
        <p:spPr>
          <a:xfrm>
            <a:off x="6257608" y="4957639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10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21" name="标题"/>
          <p:cNvSpPr txBox="1"/>
          <p:nvPr>
            <p:custDataLst>
              <p:tags r:id="rId10"/>
            </p:custDataLst>
          </p:nvPr>
        </p:nvSpPr>
        <p:spPr>
          <a:xfrm>
            <a:off x="6932930" y="4862830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Learning Outcomes &amp; Conclusion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2" name="序号"/>
          <p:cNvSpPr txBox="1"/>
          <p:nvPr>
            <p:custDataLst>
              <p:tags r:id="rId11"/>
            </p:custDataLst>
          </p:nvPr>
        </p:nvSpPr>
        <p:spPr>
          <a:xfrm>
            <a:off x="1389063" y="245764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01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33" name="标题"/>
          <p:cNvSpPr txBox="1"/>
          <p:nvPr>
            <p:custDataLst>
              <p:tags r:id="rId12"/>
            </p:custDataLst>
          </p:nvPr>
        </p:nvSpPr>
        <p:spPr>
          <a:xfrm>
            <a:off x="2064385" y="2314575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Organization Introduction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4" name="序号"/>
          <p:cNvSpPr txBox="1"/>
          <p:nvPr>
            <p:custDataLst>
              <p:tags r:id="rId13"/>
            </p:custDataLst>
          </p:nvPr>
        </p:nvSpPr>
        <p:spPr>
          <a:xfrm>
            <a:off x="1389063" y="307359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02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35" name="标题"/>
          <p:cNvSpPr txBox="1"/>
          <p:nvPr>
            <p:custDataLst>
              <p:tags r:id="rId14"/>
            </p:custDataLst>
          </p:nvPr>
        </p:nvSpPr>
        <p:spPr>
          <a:xfrm>
            <a:off x="2064385" y="2948940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Project Introduction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6" name="序号"/>
          <p:cNvSpPr txBox="1"/>
          <p:nvPr>
            <p:custDataLst>
              <p:tags r:id="rId15"/>
            </p:custDataLst>
          </p:nvPr>
        </p:nvSpPr>
        <p:spPr>
          <a:xfrm>
            <a:off x="1389063" y="368954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03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37" name="序号"/>
          <p:cNvSpPr txBox="1"/>
          <p:nvPr>
            <p:custDataLst>
              <p:tags r:id="rId16"/>
            </p:custDataLst>
          </p:nvPr>
        </p:nvSpPr>
        <p:spPr>
          <a:xfrm>
            <a:off x="1389063" y="4312479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04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38" name="标题"/>
          <p:cNvSpPr txBox="1"/>
          <p:nvPr>
            <p:custDataLst>
              <p:tags r:id="rId17"/>
            </p:custDataLst>
          </p:nvPr>
        </p:nvSpPr>
        <p:spPr>
          <a:xfrm>
            <a:off x="2064385" y="4217670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Objectives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9" name="序号"/>
          <p:cNvSpPr txBox="1"/>
          <p:nvPr>
            <p:custDataLst>
              <p:tags r:id="rId18"/>
            </p:custDataLst>
          </p:nvPr>
        </p:nvSpPr>
        <p:spPr>
          <a:xfrm>
            <a:off x="1389063" y="4946844"/>
            <a:ext cx="675303" cy="46934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noAutofit/>
          </a:bodyPr>
          <a:lstStyle/>
          <a:p>
            <a:pPr lvl="0" algn="l">
              <a:lnSpc>
                <a:spcPct val="150000"/>
              </a:lnSpc>
              <a:buClrTx/>
              <a:buSzTx/>
              <a:buFontTx/>
            </a:pPr>
            <a:r>
              <a:rPr 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lt"/>
              </a:rPr>
              <a:t>05</a:t>
            </a:r>
            <a:endParaRPr 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lt"/>
            </a:endParaRPr>
          </a:p>
        </p:txBody>
      </p:sp>
      <p:sp>
        <p:nvSpPr>
          <p:cNvPr id="40" name="标题"/>
          <p:cNvSpPr txBox="1"/>
          <p:nvPr>
            <p:custDataLst>
              <p:tags r:id="rId19"/>
            </p:custDataLst>
          </p:nvPr>
        </p:nvSpPr>
        <p:spPr>
          <a:xfrm>
            <a:off x="2064385" y="4852035"/>
            <a:ext cx="3845560" cy="6343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2000" dirty="0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Proposed Solution / Key Features</a:t>
            </a:r>
            <a:endParaRPr lang="en-US" altLang="en-US" sz="2000" dirty="0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1" name="Text Box 40"/>
          <p:cNvSpPr txBox="1"/>
          <p:nvPr/>
        </p:nvSpPr>
        <p:spPr>
          <a:xfrm>
            <a:off x="6828790" y="3734118"/>
            <a:ext cx="5080000" cy="553085"/>
          </a:xfrm>
          <a:prstGeom prst="rect">
            <a:avLst/>
          </a:prstGeom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Work/Development Progress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>
          <a:xfrm>
            <a:off x="702310" y="371475"/>
            <a:ext cx="6804660" cy="918845"/>
          </a:xfrm>
        </p:spPr>
        <p:txBody>
          <a:bodyPr/>
          <a:lstStyle/>
          <a:p>
            <a:r>
              <a:rPr lang="en-US" altLang="en-US" sz="3600" b="1" u="sng" dirty="0">
                <a:latin typeface="Times New Roman" panose="02020603050405020304" charset="0"/>
                <a:cs typeface="Times New Roman" panose="02020603050405020304" charset="0"/>
              </a:rPr>
              <a:t>Organization Introduction</a:t>
            </a:r>
            <a:endParaRPr lang="en-US" altLang="en-US" sz="3600" b="1" u="sng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02310" y="1510030"/>
            <a:ext cx="5080000" cy="4092575"/>
          </a:xfrm>
          <a:prstGeom prst="rect">
            <a:avLst/>
          </a:prstGeom>
        </p:spPr>
        <p:txBody>
          <a:bodyPr>
            <a:spAutoFit/>
          </a:bodyPr>
          <a:p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About the Organization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Nepal-based software development startup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Develops customized web and mobile applications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Provides software solutions for businesses and organizations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Major working domains: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Mobile App Development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Web Development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Backend Development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QA &amp; Testing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Software Maintenance &amp; Technical Support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6525260" y="3048953"/>
            <a:ext cx="5080000" cy="2553335"/>
          </a:xfrm>
          <a:prstGeom prst="rect">
            <a:avLst/>
          </a:prstGeom>
        </p:spPr>
        <p:txBody>
          <a:bodyPr>
            <a:spAutoFit/>
          </a:bodyPr>
          <a:p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Internship Details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Position: Mobile App Developer (Flutter Intern)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Department: Mobile Development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Duration: 15 June 2026 – 16 September 2026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Working Hours: 11:00 AM – 6:00 PM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Working Days: 6 days/week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Location: Kathmandu, Nepal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Picture 7" descr="internlogo"/>
          <p:cNvPicPr>
            <a:picLocks noChangeAspect="1"/>
          </p:cNvPicPr>
          <p:nvPr/>
        </p:nvPicPr>
        <p:blipFill>
          <a:blip r:embed="rId2"/>
          <a:srcRect l="12157" t="28429" r="11594" b="29809"/>
          <a:stretch>
            <a:fillRect/>
          </a:stretch>
        </p:blipFill>
        <p:spPr>
          <a:xfrm>
            <a:off x="6989445" y="802640"/>
            <a:ext cx="4151630" cy="124015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Content Placeholder 6" descr="ChatGPT Image Aug 13, 2026, 06_10_56 PM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275715" y="215265"/>
            <a:ext cx="9641205" cy="642810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960" y="360045"/>
            <a:ext cx="4822825" cy="839470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sz="3200" b="1" u="sng">
                <a:latin typeface="Times New Roman" panose="02020603050405020304" charset="0"/>
                <a:cs typeface="Times New Roman" panose="02020603050405020304" charset="0"/>
                <a:sym typeface="+mn-ea"/>
              </a:rPr>
              <a:t>Problem Statement</a:t>
            </a:r>
            <a:endParaRPr sz="3200" b="1" u="sng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indent="0">
              <a:buNone/>
            </a:pPr>
            <a:endParaRPr sz="3200" b="1" u="sng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883275" y="1798320"/>
            <a:ext cx="5994400" cy="3220085"/>
          </a:xfrm>
          <a:prstGeom prst="rect">
            <a:avLst/>
          </a:prstGeom>
        </p:spPr>
        <p:txBody>
          <a:bodyPr>
            <a:noAutofit/>
          </a:bodyPr>
          <a:p>
            <a:r>
              <a:rPr sz="3200">
                <a:latin typeface="Times New Roman" panose="02020603050405020304" charset="0"/>
                <a:cs typeface="Times New Roman" panose="02020603050405020304" charset="0"/>
              </a:rPr>
              <a:t>CONSULTANCY PROBLEMS 🏢</a:t>
            </a:r>
            <a:endParaRPr sz="3200">
              <a:latin typeface="Times New Roman" panose="02020603050405020304" charset="0"/>
              <a:cs typeface="Times New Roman" panose="02020603050405020304" charset="0"/>
            </a:endParaRPr>
          </a:p>
          <a:p>
            <a:endParaRPr sz="32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Manual record keeping 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Document management 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Application tracking 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Communication difficulties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95325" y="1798320"/>
            <a:ext cx="4951730" cy="2978150"/>
          </a:xfrm>
          <a:prstGeom prst="rect">
            <a:avLst/>
          </a:prstGeom>
        </p:spPr>
        <p:txBody>
          <a:bodyPr>
            <a:noAutofit/>
          </a:bodyPr>
          <a:p>
            <a:r>
              <a:rPr sz="3200">
                <a:latin typeface="Times New Roman" panose="02020603050405020304" charset="0"/>
                <a:cs typeface="Times New Roman" panose="02020603050405020304" charset="0"/>
              </a:rPr>
              <a:t>STUDENT PROBLEMS🎓</a:t>
            </a:r>
            <a:endParaRPr sz="3200">
              <a:latin typeface="Times New Roman" panose="02020603050405020304" charset="0"/>
              <a:cs typeface="Times New Roman" panose="02020603050405020304" charset="0"/>
            </a:endParaRPr>
          </a:p>
          <a:p>
            <a:endParaRPr sz="32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Multiple office visits 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Paperwork 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Difficult status tracking 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Delayed communication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03275" y="5308600"/>
            <a:ext cx="10836275" cy="1276985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sz="2800" b="1">
                <a:latin typeface="Times New Roman" panose="02020603050405020304" charset="0"/>
                <a:cs typeface="Times New Roman" panose="02020603050405020304" charset="0"/>
              </a:rPr>
              <a:t>Need:</a:t>
            </a:r>
            <a:r>
              <a:rPr sz="2800">
                <a:latin typeface="Times New Roman" panose="02020603050405020304" charset="0"/>
                <a:cs typeface="Times New Roman" panose="02020603050405020304" charset="0"/>
              </a:rPr>
              <a:t> A centralized platform to simplify and digitalize the consultancy process.</a:t>
            </a:r>
            <a:endParaRPr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altLang="en-US" b="1" u="sng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Objectives</a:t>
            </a:r>
            <a:endParaRPr lang="en-US" altLang="en-US" b="1" u="sng">
              <a:solidFill>
                <a:schemeClr val="dk1">
                  <a:lumMod val="10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95960" y="1459865"/>
            <a:ext cx="9944735" cy="4602480"/>
          </a:xfrm>
          <a:prstGeom prst="rect">
            <a:avLst/>
          </a:prstGeom>
        </p:spPr>
        <p:txBody>
          <a:bodyPr wrap="square">
            <a:spAutoFit/>
          </a:bodyPr>
          <a:p>
            <a:pPr algn="just">
              <a:spcAft>
                <a:spcPct val="60000"/>
              </a:spcAft>
            </a:pPr>
            <a:r>
              <a:rPr sz="2800" b="1">
                <a:latin typeface="Times New Roman" panose="02020603050405020304" charset="0"/>
                <a:cs typeface="Times New Roman" panose="02020603050405020304" charset="0"/>
              </a:rPr>
              <a:t>General Objective</a:t>
            </a:r>
            <a:endParaRPr sz="2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To develop a secure, efficient, and user-friendly mobile consultancy application using Flutter and Django.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spcAft>
                <a:spcPct val="60000"/>
              </a:spcAft>
            </a:pPr>
            <a:r>
              <a:rPr sz="2800" b="1">
                <a:latin typeface="Times New Roman" panose="02020603050405020304" charset="0"/>
                <a:cs typeface="Times New Roman" panose="02020603050405020304" charset="0"/>
              </a:rPr>
              <a:t>Specific Objectives</a:t>
            </a:r>
            <a:endParaRPr sz="2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Develop a responsive mobile application using Flutter and Dart.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Integrate the Flutter frontend with Django REST APIs.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Implement secure authentication and authorization.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Enable student registration, application submission, document upload, and profile management.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Develop admin features for managing students, applications, notifications, books, and MCQs.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Implement image and PDF document upload functionality.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altLang="en-US" b="1" u="sng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Proposed Solution / Key Features</a:t>
            </a:r>
            <a:endParaRPr lang="en-US" b="1" u="sng"/>
          </a:p>
        </p:txBody>
      </p:sp>
      <p:sp>
        <p:nvSpPr>
          <p:cNvPr id="3" name="Text Box 2"/>
          <p:cNvSpPr txBox="1"/>
          <p:nvPr/>
        </p:nvSpPr>
        <p:spPr>
          <a:xfrm>
            <a:off x="695960" y="1513205"/>
            <a:ext cx="5080000" cy="4603115"/>
          </a:xfrm>
          <a:prstGeom prst="rect">
            <a:avLst/>
          </a:prstGeom>
        </p:spPr>
        <p:txBody>
          <a:bodyPr>
            <a:spAutoFit/>
          </a:bodyPr>
          <a:p>
            <a:pPr>
              <a:spcAft>
                <a:spcPct val="60000"/>
              </a:spcAft>
            </a:pPr>
            <a:r>
              <a:rPr sz="3200" b="1">
                <a:latin typeface="Times New Roman" panose="02020603050405020304" charset="0"/>
                <a:cs typeface="Times New Roman" panose="02020603050405020304" charset="0"/>
              </a:rPr>
              <a:t>Student Module</a:t>
            </a:r>
            <a:endParaRPr sz="32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User Registration &amp; Login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Student Profile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Application Form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Document Upload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Countries &amp; Universities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Application Process Tracking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Books / Study Materials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MCQ Practice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Notifications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FAQ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050915" y="1513205"/>
            <a:ext cx="5080000" cy="3864610"/>
          </a:xfrm>
          <a:prstGeom prst="rect">
            <a:avLst/>
          </a:prstGeom>
        </p:spPr>
        <p:txBody>
          <a:bodyPr>
            <a:spAutoFit/>
          </a:bodyPr>
          <a:p>
            <a:pPr>
              <a:spcAft>
                <a:spcPct val="60000"/>
              </a:spcAft>
            </a:pPr>
            <a:r>
              <a:rPr sz="3200" b="1">
                <a:latin typeface="Times New Roman" panose="02020603050405020304" charset="0"/>
                <a:cs typeface="Times New Roman" panose="02020603050405020304" charset="0"/>
              </a:rPr>
              <a:t>Admin Module</a:t>
            </a:r>
            <a:endParaRPr sz="32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Admin Dashboard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Student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Application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Document &amp; Process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Notifications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Books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MCQ Management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Settings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95960" y="178390"/>
            <a:ext cx="10800000" cy="720000"/>
          </a:xfrm>
        </p:spPr>
        <p:txBody>
          <a:bodyPr/>
          <a:p>
            <a:r>
              <a:rPr altLang="en-US" b="1" u="sng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Technology Stack &amp; Architecture</a:t>
            </a:r>
            <a:endParaRPr lang="en-US" b="1" u="sng"/>
          </a:p>
        </p:txBody>
      </p:sp>
      <p:sp>
        <p:nvSpPr>
          <p:cNvPr id="3" name="Text Box 2"/>
          <p:cNvSpPr txBox="1"/>
          <p:nvPr/>
        </p:nvSpPr>
        <p:spPr>
          <a:xfrm>
            <a:off x="695960" y="1198880"/>
            <a:ext cx="3645535" cy="2980690"/>
          </a:xfrm>
          <a:prstGeom prst="rect">
            <a:avLst/>
          </a:prstGeom>
        </p:spPr>
        <p:txBody>
          <a:bodyPr>
            <a:noAutofit/>
          </a:bodyPr>
          <a:p>
            <a:pPr>
              <a:spcAft>
                <a:spcPct val="60000"/>
              </a:spcAft>
            </a:pPr>
            <a:r>
              <a:rPr sz="2000" b="1">
                <a:latin typeface="Times New Roman" panose="02020603050405020304" charset="0"/>
                <a:cs typeface="Times New Roman" panose="02020603050405020304" charset="0"/>
              </a:rPr>
              <a:t>Frontend</a:t>
            </a:r>
            <a:endParaRPr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</a:rPr>
              <a:t>Flutter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</a:rPr>
              <a:t>Dart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spcAft>
                <a:spcPct val="60000"/>
              </a:spcAft>
            </a:pPr>
            <a:r>
              <a:rPr sz="2000" b="1">
                <a:latin typeface="Times New Roman" panose="02020603050405020304" charset="0"/>
                <a:cs typeface="Times New Roman" panose="02020603050405020304" charset="0"/>
              </a:rPr>
              <a:t>Backend</a:t>
            </a:r>
            <a:endParaRPr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</a:rPr>
              <a:t>Django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</a:rPr>
              <a:t>Django REST Framework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spcAft>
                <a:spcPct val="60000"/>
              </a:spcAft>
            </a:pPr>
            <a:r>
              <a:rPr sz="2000" b="1">
                <a:latin typeface="Times New Roman" panose="02020603050405020304" charset="0"/>
                <a:cs typeface="Times New Roman" panose="02020603050405020304" charset="0"/>
              </a:rPr>
              <a:t>Database</a:t>
            </a:r>
            <a:endParaRPr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</a:rPr>
              <a:t>PostgreSQL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Picture 5" descr="ChatGPT Image Aug 13, 2026, 06_30_34 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105" y="1856105"/>
            <a:ext cx="7308215" cy="3654425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3201035" y="3249930"/>
            <a:ext cx="2894965" cy="27095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Aft>
                <a:spcPct val="60000"/>
              </a:spcAft>
            </a:pPr>
            <a:r>
              <a:rPr sz="20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API &amp; Data</a:t>
            </a:r>
            <a:endParaRPr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REST API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  <a:sym typeface="+mn-ea"/>
              </a:rPr>
              <a:t>JSON</a:t>
            </a:r>
            <a:endParaRPr sz="16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buFont typeface="Arial" panose="020B0604020202020204"/>
              <a:buChar char="•"/>
            </a:pP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spcAft>
                <a:spcPct val="60000"/>
              </a:spcAft>
            </a:pPr>
            <a:r>
              <a:rPr sz="20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Development Tools</a:t>
            </a:r>
            <a:endParaRPr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  <a:sym typeface="+mn-ea"/>
              </a:rPr>
              <a:t>Git</a:t>
            </a: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Android Studio / IDE</a:t>
            </a:r>
            <a:endParaRPr sz="16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buFont typeface="Arial" panose="020B0604020202020204"/>
              <a:buChar char="•"/>
            </a:pPr>
            <a:endParaRPr sz="16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spcAft>
                <a:spcPct val="60000"/>
              </a:spcAft>
            </a:pPr>
            <a:r>
              <a:rPr sz="20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Platform</a:t>
            </a:r>
            <a:endParaRPr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16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Android</a:t>
            </a:r>
            <a:endParaRPr lang="en-US" sz="16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altLang="en-US" b="1" u="sng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My Roles &amp; Contributions</a:t>
            </a:r>
            <a:endParaRPr lang="en-US" b="1" u="sng"/>
          </a:p>
        </p:txBody>
      </p:sp>
      <p:sp>
        <p:nvSpPr>
          <p:cNvPr id="3" name="Text Box 2"/>
          <p:cNvSpPr txBox="1"/>
          <p:nvPr/>
        </p:nvSpPr>
        <p:spPr>
          <a:xfrm>
            <a:off x="695960" y="1667510"/>
            <a:ext cx="10190480" cy="4154170"/>
          </a:xfrm>
          <a:prstGeom prst="rect">
            <a:avLst/>
          </a:prstGeom>
        </p:spPr>
        <p:txBody>
          <a:bodyPr wrap="square">
            <a:spAutoFit/>
          </a:bodyPr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Requirement analysis and project understanding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Designed and developed Flutter UI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Created reusable Flutter widgets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Developed Student and Admin modules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Implemented Login, Signup, Profile, Dashboard, Documents, Books, MCQ, </a:t>
            </a: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  </a:t>
            </a: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Notifications, etc.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Integrated Django REST APIs for authentication and data retrieval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Implemented image/PDF document selection and camera functionality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Performed application testing and debugging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Collaborated with backend developers 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2400">
                <a:latin typeface="Times New Roman" panose="02020603050405020304" charset="0"/>
                <a:cs typeface="Times New Roman" panose="02020603050405020304" charset="0"/>
              </a:rPr>
              <a:t> Used Git for version control</a:t>
            </a:r>
            <a:endParaRPr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b="1" u="sng">
                <a:latin typeface="Times New Roman" panose="02020603050405020304" charset="0"/>
                <a:cs typeface="Times New Roman" panose="02020603050405020304" charset="0"/>
                <a:sym typeface="+mn-ea"/>
              </a:rPr>
              <a:t>Work/Development Progress</a:t>
            </a:r>
            <a:endParaRPr lang="en-US" b="1" u="sng"/>
          </a:p>
        </p:txBody>
      </p:sp>
      <p:sp>
        <p:nvSpPr>
          <p:cNvPr id="3" name="Text Box 2"/>
          <p:cNvSpPr txBox="1"/>
          <p:nvPr/>
        </p:nvSpPr>
        <p:spPr>
          <a:xfrm>
            <a:off x="6020435" y="1680845"/>
            <a:ext cx="5110480" cy="450151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60000"/>
              </a:spcAft>
            </a:pPr>
            <a:r>
              <a:rPr sz="2800" b="1">
                <a:latin typeface="Times New Roman" panose="02020603050405020304" charset="0"/>
                <a:cs typeface="Times New Roman" panose="02020603050405020304" charset="0"/>
              </a:rPr>
              <a:t>Completed</a:t>
            </a:r>
            <a:endParaRPr sz="28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UI design and implementation using Flutter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Student authentication screens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Student dashboard and profile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Countries and Universities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Document upload with image/PDF support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Notifications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Books / Study Materials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MCQ module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FAQ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Admin dashboard and management screens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Login &amp; Signup API integration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Authentication flow testing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95960" y="1680845"/>
            <a:ext cx="4636770" cy="3032760"/>
          </a:xfrm>
          <a:prstGeom prst="rect">
            <a:avLst/>
          </a:prstGeom>
        </p:spPr>
        <p:txBody>
          <a:bodyPr>
            <a:noAutofit/>
          </a:bodyPr>
          <a:p>
            <a:pPr>
              <a:spcAft>
                <a:spcPct val="60000"/>
              </a:spcAft>
            </a:pPr>
            <a:r>
              <a:rPr sz="2800" b="1">
                <a:latin typeface="Times New Roman" panose="02020603050405020304" charset="0"/>
                <a:cs typeface="Times New Roman" panose="02020603050405020304" charset="0"/>
              </a:rPr>
              <a:t>In Progress</a:t>
            </a:r>
            <a:endParaRPr sz="28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Integration of remaining modules with Django REST APIs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Application process integration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Further testing and debugging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sz="2000">
                <a:latin typeface="Times New Roman" panose="02020603050405020304" charset="0"/>
                <a:cs typeface="Times New Roman" panose="02020603050405020304" charset="0"/>
              </a:rPr>
              <a:t> Final application refinement </a:t>
            </a:r>
            <a:endParaRPr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en-US" b="1" u="sng"/>
              <a:t>Current Status &amp; Remaining Work</a:t>
            </a:r>
            <a:endParaRPr lang="en-US" altLang="en-US" b="1" u="sng"/>
          </a:p>
        </p:txBody>
      </p:sp>
      <p:sp>
        <p:nvSpPr>
          <p:cNvPr id="3" name="Text Box 2"/>
          <p:cNvSpPr txBox="1"/>
          <p:nvPr/>
        </p:nvSpPr>
        <p:spPr>
          <a:xfrm>
            <a:off x="695960" y="1276985"/>
            <a:ext cx="9654540" cy="2922270"/>
          </a:xfrm>
          <a:prstGeom prst="rect">
            <a:avLst/>
          </a:prstGeom>
        </p:spPr>
        <p:txBody>
          <a:bodyPr wrap="square">
            <a:spAutoFit/>
          </a:bodyPr>
          <a:p>
            <a:pPr algn="just">
              <a:spcAft>
                <a:spcPct val="60000"/>
              </a:spcAft>
            </a:pPr>
            <a:r>
              <a:rPr sz="2400" b="1">
                <a:latin typeface="Times New Roman" panose="02020603050405020304" charset="0"/>
                <a:cs typeface="Times New Roman" panose="02020603050405020304" charset="0"/>
              </a:rPr>
              <a:t>Technical Skills</a:t>
            </a:r>
            <a:endParaRPr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Improved Flutter &amp; Dart development skills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Learned responsive UI design and Flutter widgets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Gained experience with REST API integration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Learned JSON data handling and API communication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Implemented authentication interfaces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Learned image/PDF file handling and camera integration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Improved debugging and application testing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Gained practical experience with Git &amp; version control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95960" y="4310380"/>
            <a:ext cx="10897235" cy="2091055"/>
          </a:xfrm>
          <a:prstGeom prst="rect">
            <a:avLst/>
          </a:prstGeom>
        </p:spPr>
        <p:txBody>
          <a:bodyPr wrap="square">
            <a:spAutoFit/>
          </a:bodyPr>
          <a:p>
            <a:pPr algn="just">
              <a:spcAft>
                <a:spcPct val="60000"/>
              </a:spcAft>
            </a:pPr>
            <a:r>
              <a:rPr sz="2400" b="1">
                <a:latin typeface="Times New Roman" panose="02020603050405020304" charset="0"/>
                <a:cs typeface="Times New Roman" panose="02020603050405020304" charset="0"/>
              </a:rPr>
              <a:t>Professional Skills</a:t>
            </a:r>
            <a:endParaRPr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Improved communication and teamwork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Developed problem-solving skills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Improved time management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Learned to work in a professional development environment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Gained experience understanding requirements and converting them into features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altLang="en-US" b="1" u="sng">
                <a:solidFill>
                  <a:schemeClr val="dk1">
                    <a:lumMod val="10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Learning Outcomes &amp; Conclusion</a:t>
            </a:r>
            <a:endParaRPr lang="en-US" b="1" u="sng"/>
          </a:p>
        </p:txBody>
      </p:sp>
      <p:sp>
        <p:nvSpPr>
          <p:cNvPr id="3" name="Text Box 2"/>
          <p:cNvSpPr txBox="1"/>
          <p:nvPr/>
        </p:nvSpPr>
        <p:spPr>
          <a:xfrm>
            <a:off x="695960" y="1515110"/>
            <a:ext cx="10800080" cy="4921885"/>
          </a:xfrm>
          <a:prstGeom prst="rect">
            <a:avLst/>
          </a:prstGeom>
        </p:spPr>
        <p:txBody>
          <a:bodyPr wrap="square">
            <a:spAutoFit/>
          </a:bodyPr>
          <a:p>
            <a:pPr algn="just">
              <a:spcAft>
                <a:spcPct val="60000"/>
              </a:spcAft>
            </a:pPr>
            <a:r>
              <a:rPr sz="2400" b="1">
                <a:latin typeface="Times New Roman" panose="02020603050405020304" charset="0"/>
                <a:cs typeface="Times New Roman" panose="02020603050405020304" charset="0"/>
              </a:rPr>
              <a:t>Current Status</a:t>
            </a:r>
            <a:endParaRPr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Flutter frontend development completed for major modules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Student and Admin interfaces implemented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Login &amp; Signup successfully connected with Django backend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Document upload functionality implemented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Application is currently under development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Remaining backend integrations are in progress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spcAft>
                <a:spcPct val="60000"/>
              </a:spcAft>
            </a:pPr>
            <a:r>
              <a:rPr sz="2400" b="1"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sz="24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Complete remaining API integrations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Complete application process workflow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Perform full system testing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Improve application performance and usability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Implement advanced notifications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buFont typeface="Arial" panose="020B0604020202020204"/>
              <a:buChar char="•"/>
            </a:pPr>
            <a:r>
              <a:rPr>
                <a:latin typeface="Times New Roman" panose="02020603050405020304" charset="0"/>
                <a:cs typeface="Times New Roman" panose="02020603050405020304" charset="0"/>
              </a:rPr>
              <a:t> Consider live chat, payment gateway, offline synchronization, and multilingual support in future versions </a:t>
            </a:r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>
          <a:xfrm>
            <a:off x="5059680" y="2042795"/>
            <a:ext cx="6155055" cy="2093595"/>
          </a:xfrm>
        </p:spPr>
        <p:txBody>
          <a:bodyPr/>
          <a:lstStyle/>
          <a:p>
            <a:r>
              <a:rPr lang="en-US" sz="6600">
                <a:latin typeface="Times New Roman" panose="02020603050405020304" charset="0"/>
                <a:cs typeface="Times New Roman" panose="02020603050405020304" charset="0"/>
              </a:rPr>
              <a:t>THANK YOU!</a:t>
            </a:r>
            <a:endParaRPr lang="en-US" sz="6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UNIT_SUBTYPE" val="b"/>
  <p:tag name="KSO_WM_UNIT_PRESET_TEXT" val="汇报人：稻壳儿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UNIT_ISCONTENTSTITLE" val="0"/>
  <p:tag name="KSO_WM_UNIT_ISNUMDGMTITLE" val="0"/>
  <p:tag name="KSO_WM_UNIT_PRESET_TEXT" val="单击此处添加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3*i*5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299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299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UNIT_SUBTYPE" val="b"/>
  <p:tag name="KSO_WM_UNIT_PRESET_TEXT" val="汇报人：稻壳儿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ISCONTENTSTITLE" val="0"/>
  <p:tag name="KSO_WM_UNIT_ISNUMDGMTITLE" val="0"/>
  <p:tag name="KSO_WM_UNIT_PRESET_TEXT" val="感谢您的观看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7979"/>
</p:tagLst>
</file>

<file path=ppt/tags/tag76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7979"/>
</p:tagLst>
</file>

<file path=ppt/tags/tag77.xml><?xml version="1.0" encoding="utf-8"?>
<p:tagLst xmlns:p="http://schemas.openxmlformats.org/presentationml/2006/main">
  <p:tag name="KSO_WM_SPECIAL_SOURCE" val="bdnull"/>
  <p:tag name="KSO_WM_TEMPLATE_THUMBS_INDEX" val="1、11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7979"/>
</p:tagLst>
</file>

<file path=ppt/tags/tag78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79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UNIT_SUBTYPE" val="b"/>
  <p:tag name="KSO_WM_UNIT_PRESET_TEXT" val="Name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custom20237979_1*f*1"/>
  <p:tag name="KSO_WM_TEMPLATE_CATEGORY" val="custom"/>
  <p:tag name="KSO_WM_TEMPLATE_INDEX" val="20237979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VALUE" val="3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7979_1*a*1"/>
  <p:tag name="KSO_WM_TEMPLATE_CATEGORY" val="custom"/>
  <p:tag name="KSO_WM_TEMPLATE_INDEX" val="20237979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SPECIAL_SOURCE" val="bdnull"/>
  <p:tag name="KSO_WM_TEMPLATE_THUMBS_INDEX" val="1、11"/>
  <p:tag name="KSO_WM_SLIDE_CONTENT_AREA" val="{&quot;left&quot;:&quot;462.85&quot;,&quot;top&quot;:&quot;118.75&quot;,&quot;width&quot;:&quot;459.25&quot;,&quot;height&quot;:&quot;265.1&quot;}"/>
  <p:tag name="KSO_WM_SLIDE_ID" val="custom20237979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7979"/>
  <p:tag name="KSO_WM_SLIDE_LAYOUT" val="a_b_f"/>
  <p:tag name="KSO_WM_SLIDE_LAYOUT_CNT" val="1_1_1"/>
</p:tagLst>
</file>

<file path=ppt/tags/tag82.xml><?xml version="1.0" encoding="utf-8"?>
<p:tagLst xmlns:p="http://schemas.openxmlformats.org/presentationml/2006/main">
  <p:tag name="KSO_WM_UNIT_ISCONTENTSTITLE" val="1"/>
  <p:tag name="KSO_WM_UNIT_ISNUMDGMTITLE" val="0"/>
  <p:tag name="KSO_WM_UNIT_PRESET_TEXT" val="Contents 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custom20237979_4*a*1"/>
  <p:tag name="KSO_WM_TEMPLATE_CATEGORY" val="custom"/>
  <p:tag name="KSO_WM_TEMPLATE_INDEX" val="20237979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49.624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49.624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86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87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88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89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90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91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92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93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94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95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96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97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98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99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0263_4*l_h_i*1_1_1"/>
  <p:tag name="KSO_WM_TEMPLATE_CATEGORY" val="custom"/>
  <p:tag name="KSO_WM_TEMPLATE_INDEX" val="20230263"/>
  <p:tag name="KSO_WM_UNIT_LAYERLEVEL" val="1_1_1"/>
  <p:tag name="KSO_WM_TAG_VERSION" val="3.0"/>
</p:tagLst>
</file>

<file path=ppt/tags/tag100.xml><?xml version="1.0" encoding="utf-8"?>
<p:tagLst xmlns:p="http://schemas.openxmlformats.org/presentationml/2006/main">
  <p:tag name="KSO_WM_UNIT_TEXT_FILL_FORE_SCHEMECOLOR_INDEX_BRIGHTNESS" val="-0.25"/>
  <p:tag name="KSO_WM_UNIT_TEXT_FILL_FORE_SCHEMECOLOR_INDEX" val="14"/>
  <p:tag name="KSO_WM_UNIT_TEXT_FILL_TYPE" val="1"/>
  <p:tag name="KSO_WM_DIAGRAM_MAX_ITEMCNT" val="8"/>
  <p:tag name="KSO_WM_DIAGRAM_MIN_ITEMCNT" val="2"/>
  <p:tag name="KSO_WM_DIAGRAM_VIRTUALLY_FRAME" val="{&quot;height&quot;:346.00001220703126,&quot;left&quot;:109.37501220703125,&quot;top&quot;:115.02499389648438,&quot;width&quot;:735.3499755859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SCONTENTSTITLE" val="0"/>
  <p:tag name="KSO_WM_UNIT_ISNUMDGMTITLE" val="0"/>
  <p:tag name="KSO_WM_DIAGRAM_VERSION" val="3"/>
  <p:tag name="KSO_WM_DIAGRAM_COLOR_TRICK" val="1"/>
  <p:tag name="KSO_WM_DIAGRAM_COLOR_TEXT_CAN_REMOVE" val="n"/>
  <p:tag name="KSO_WM_UNIT_SUBTYPE" val="a"/>
  <p:tag name="KSO_WM_UNIT_PRESET_TEXT" val="Your title here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0263_4*l_h_f*1_1_1"/>
  <p:tag name="KSO_WM_TEMPLATE_CATEGORY" val="custom"/>
  <p:tag name="KSO_WM_TEMPLATE_INDEX" val="20230263"/>
  <p:tag name="KSO_WM_UNIT_LAYERLEVEL" val="1_1_1"/>
  <p:tag name="KSO_WM_TAG_VERSION" val="3.0"/>
</p:tagLst>
</file>

<file path=ppt/tags/tag101.xml><?xml version="1.0" encoding="utf-8"?>
<p:tagLst xmlns:p="http://schemas.openxmlformats.org/presentationml/2006/main">
  <p:tag name="KSO_WM_SPECIAL_SOURCE" val="bdnull"/>
  <p:tag name="KSO_WM_SLIDE_ID" val="custom20237979_4"/>
  <p:tag name="KSO_WM_TEMPLATE_SUBCATEGORY" val="29"/>
  <p:tag name="KSO_WM_TEMPLATE_MASTER_TYPE" val="0"/>
  <p:tag name="KSO_WM_TEMPLATE_COLOR_TYPE" val="0"/>
  <p:tag name="KSO_WM_SLIDE_TYPE" val="contents"/>
  <p:tag name="KSO_WM_SLIDE_SUBTYPE" val="diag"/>
  <p:tag name="KSO_WM_SLIDE_ITEM_CNT" val="4"/>
  <p:tag name="KSO_WM_SLIDE_INDEX" val="4"/>
  <p:tag name="KSO_WM_DIAGRAM_GROUP_CODE" val="l1-1"/>
  <p:tag name="KSO_WM_SLIDE_DIAGTYPE" val="l"/>
  <p:tag name="KSO_WM_TAG_VERSION" val="3.0"/>
  <p:tag name="KSO_WM_BEAUTIFY_FLAG" val="#wm#"/>
  <p:tag name="KSO_WM_TEMPLATE_CATEGORY" val="custom"/>
  <p:tag name="KSO_WM_TEMPLATE_INDEX" val="20237979"/>
  <p:tag name="KSO_WM_SLIDE_LAYOUT" val="a_l"/>
  <p:tag name="KSO_WM_SLIDE_LAYOUT_CNT" val="1_1"/>
</p:tagLst>
</file>

<file path=ppt/tags/tag102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7979_9*a*1"/>
  <p:tag name="KSO_WM_TEMPLATE_CATEGORY" val="custom"/>
  <p:tag name="KSO_WM_TEMPLATE_INDEX" val="20237979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SPECIAL_SOURCE" val="bdnull"/>
  <p:tag name="KSO_WM_SLIDE_CONTENT_AREA" val="{&quot;left&quot;:&quot;43&quot;,&quot;top&quot;:&quot;156.65&quot;,&quot;width&quot;:&quot;459.25&quot;,&quot;height&quot;:&quot;180.85&quot;}"/>
  <p:tag name="KSO_WM_SLIDE_ID" val="custom20237979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7979"/>
  <p:tag name="KSO_WM_SLIDE_LAYOUT" val="a"/>
  <p:tag name="KSO_WM_SLIDE_LAYOUT_CNT" val="1"/>
</p:tagLst>
</file>

<file path=ppt/tags/tag10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0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0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1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1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13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1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15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1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17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1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19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2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21.xml><?xml version="1.0" encoding="utf-8"?>
<p:tagLst xmlns:p="http://schemas.openxmlformats.org/presentationml/2006/main">
  <p:tag name="KSO_WM_BEAUTIFY_FLAG" val="#wm#"/>
  <p:tag name="KSO_WM_TEMPLATE_CATEGORY" val="custom"/>
  <p:tag name="KSO_WM_TEMPLATE_INDEX" val="20237979"/>
</p:tagLst>
</file>

<file path=ppt/tags/tag1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7979_11*a*1"/>
  <p:tag name="KSO_WM_TEMPLATE_CATEGORY" val="custom"/>
  <p:tag name="KSO_WM_TEMPLATE_INDEX" val="20237979"/>
  <p:tag name="KSO_WM_UNIT_LAYERLEVEL" val="1"/>
  <p:tag name="KSO_WM_TAG_VERSION" val="3.0"/>
  <p:tag name="KSO_WM_BEAUTIFY_FLAG" val="#wm#"/>
  <p:tag name="KSO_WM_UNIT_PRESET_TEXT" val="THANK YOU"/>
</p:tagLst>
</file>

<file path=ppt/tags/tag123.xml><?xml version="1.0" encoding="utf-8"?>
<p:tagLst xmlns:p="http://schemas.openxmlformats.org/presentationml/2006/main">
  <p:tag name="KSO_WM_SPECIAL_SOURCE" val="bdnull"/>
  <p:tag name="KSO_WM_SLIDE_CONTENT_AREA" val="{&quot;left&quot;:&quot;462.85&quot;,&quot;top&quot;:&quot;118.75&quot;,&quot;width&quot;:&quot;459.25&quot;,&quot;height&quot;:&quot;265.1&quot;}"/>
  <p:tag name="KSO_WM_SLIDE_ID" val="custom20237979_11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11"/>
  <p:tag name="KSO_WM_TAG_VERSION" val="3.0"/>
  <p:tag name="KSO_WM_BEAUTIFY_FLAG" val="#wm#"/>
  <p:tag name="KSO_WM_TEMPLATE_CATEGORY" val="custom"/>
  <p:tag name="KSO_WM_TEMPLATE_INDEX" val="20237979"/>
  <p:tag name="KSO_WM_SLIDE_LAYOUT" val="a_f"/>
  <p:tag name="KSO_WM_SLIDE_LAYOUT_CNT" val="1_1"/>
</p:tagLst>
</file>

<file path=ppt/theme/theme1.xml><?xml version="1.0" encoding="utf-8"?>
<a:theme xmlns:a="http://schemas.openxmlformats.org/drawingml/2006/main" name="Office Theme">
  <a:themeElements>
    <a:clrScheme name="自定义 69">
      <a:dk1>
        <a:srgbClr val="000000"/>
      </a:dk1>
      <a:lt1>
        <a:srgbClr val="FFFFFF"/>
      </a:lt1>
      <a:dk2>
        <a:srgbClr val="253A3F"/>
      </a:dk2>
      <a:lt2>
        <a:srgbClr val="ADC8CE"/>
      </a:lt2>
      <a:accent1>
        <a:srgbClr val="578591"/>
      </a:accent1>
      <a:accent2>
        <a:srgbClr val="77A3AE"/>
      </a:accent2>
      <a:accent3>
        <a:srgbClr val="D36250"/>
      </a:accent3>
      <a:accent4>
        <a:srgbClr val="EC9B86"/>
      </a:accent4>
      <a:accent5>
        <a:srgbClr val="A0B9C6"/>
      </a:accent5>
      <a:accent6>
        <a:srgbClr val="B1B3D3"/>
      </a:accent6>
      <a:hlink>
        <a:srgbClr val="EC5F74"/>
      </a:hlink>
      <a:folHlink>
        <a:srgbClr val="6096E6"/>
      </a:folHlink>
    </a:clrScheme>
    <a:fontScheme name="字体-传统">
      <a:majorFont>
        <a:latin typeface="Crimson Text SemiBold"/>
        <a:ea typeface="Crimson Text SemiBold"/>
        <a:cs typeface=""/>
      </a:majorFont>
      <a:minorFont>
        <a:latin typeface="Charis SIL"/>
        <a:ea typeface="Charis SI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4873</Words>
  <Application>WPS Presentation</Application>
  <PresentationFormat>Widescreen</PresentationFormat>
  <Paragraphs>224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Wingdings</vt:lpstr>
      <vt:lpstr>Microsoft YaHei</vt:lpstr>
      <vt:lpstr>Arial Unicode MS</vt:lpstr>
      <vt:lpstr>Calibri</vt:lpstr>
      <vt:lpstr>Charis SIL</vt:lpstr>
      <vt:lpstr>Segoe Print</vt:lpstr>
      <vt:lpstr>Crimson Text SemiBold</vt:lpstr>
      <vt:lpstr>Times New Roman</vt:lpstr>
      <vt:lpstr>Calibri</vt:lpstr>
      <vt:lpstr>Calibri</vt:lpstr>
      <vt:lpstr>Arial</vt:lpstr>
      <vt:lpstr>Office Theme</vt:lpstr>
      <vt:lpstr>Click to add title</vt:lpstr>
      <vt:lpstr>Contents </vt:lpstr>
      <vt:lpstr>Your title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Based App Development(Flutter) Internship at Aeditech Software Company</dc:title>
  <dc:creator>swosti</dc:creator>
  <cp:lastModifiedBy>Swosti Makaju</cp:lastModifiedBy>
  <cp:revision>37</cp:revision>
  <dcterms:created xsi:type="dcterms:W3CDTF">2026-08-13T10:56:04Z</dcterms:created>
  <dcterms:modified xsi:type="dcterms:W3CDTF">2026-08-13T13:00:49Z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C6B7785161E64B05B116BE5BF63C62AC_13</vt:lpwstr>
  </property>
</Properties>
</file>