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Lora" panose="020B0604020202020204" charset="0"/>
      <p:regular r:id="rId22"/>
    </p:embeddedFont>
    <p:embeddedFont>
      <p:font typeface="Source Sans 3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5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786" y="932036"/>
            <a:ext cx="3279428" cy="32794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149222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Ethical Issues in Big Data Collection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577" y="2596604"/>
            <a:ext cx="4667845" cy="1054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3200"/>
              </a:spcAft>
              <a:buNone/>
            </a:pP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3200"/>
              </a:spcAft>
              <a:buNone/>
            </a:pP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By: Swosti Makaju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" y="112142"/>
            <a:ext cx="3279428" cy="4919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1320775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Big Data Paradox: Innovation vs. Individual Rights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52577" y="2865165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Big data fuels powerful innovation — personalized services, public‑health insights, and predictive systems. Yet the same scale and velocity of data collection can erode individual autonomy, amplify harms, and shift power toward organizations that control information.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51929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Sources of Big Data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91158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 diving into ethical issues, it's important to understand where data comes from: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698799"/>
            <a:ext cx="374005" cy="3740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4585" y="169879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Social media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84585" y="2008510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Posts, likes, shares, and engagement patterns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5464" y="1698799"/>
            <a:ext cx="374005" cy="3740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6472" y="169879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Mobile apps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226472" y="2008510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Location, usage behavior, and device sensors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547119"/>
            <a:ext cx="374005" cy="3740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4585" y="254711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IoT devices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84585" y="2856830"/>
            <a:ext cx="339387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home systems, wearables, and connected infrastructure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5464" y="2547119"/>
            <a:ext cx="374005" cy="3740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26472" y="2547119"/>
            <a:ext cx="189361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E-commerce platforms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226472" y="2856830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 history, browsing, and payment data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634829"/>
            <a:ext cx="374005" cy="3740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84585" y="363482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Healthcare records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084585" y="3944541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Medical histories, prescriptions, and biometric data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5464" y="3634829"/>
            <a:ext cx="374005" cy="37400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26472" y="3634829"/>
            <a:ext cx="187932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Government databases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5226472" y="3944541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Tax records, licenses, and public registries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523577" y="435218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diverse sources combine to create the massive datasets that power modern analytics and AI systems.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43372"/>
            <a:ext cx="4028256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Surveillance Apparatus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794644"/>
            <a:ext cx="746522" cy="4613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7102" y="1794644"/>
            <a:ext cx="164075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Ubiquitous collection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57102" y="2324323"/>
            <a:ext cx="1640756" cy="1675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Companies gather clickstreams, location pings, sensor logs, and social signals at massive scale — often continuously and invisibly.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860" y="1794644"/>
            <a:ext cx="746522" cy="4613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18384" y="1794644"/>
            <a:ext cx="164075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price of free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18384" y="2104355"/>
            <a:ext cx="1640756" cy="1675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“Free” services frequently convert personal behaviors into monetizable profiles — privacy becomes the currency of digital markets.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143" y="1794644"/>
            <a:ext cx="746522" cy="4613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1794644"/>
            <a:ext cx="164075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State-level capabilities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324323"/>
            <a:ext cx="1640756" cy="1675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Private firms now operate infrastructure and analytic capabilities comparable to intelligence agencies — raising oversight and accountability questions.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60946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Examples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27" y="1312218"/>
            <a:ext cx="2618259" cy="252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350" y="1480840"/>
            <a:ext cx="2204814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Facebook and the Cambridge Analytica scandal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49350" y="2230487"/>
            <a:ext cx="2204814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Political consulting firm harvested personal data from millions of Facebook users without consent, using psychological profiles to target political messaging during elections.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3308" y="1312218"/>
            <a:ext cx="2618259" cy="2523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8131" y="1480840"/>
            <a:ext cx="220481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Netflix re-identification case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8131" y="2010519"/>
            <a:ext cx="2204814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Netflix released an "anonymized" dataset for a competition. Researchers matched records to IMDb reviews, exposing user identities and revealing sensitive viewing preferences.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2089" y="1312218"/>
            <a:ext cx="2618333" cy="25232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6912" y="148084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AOL search data leak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6912" y="1790551"/>
            <a:ext cx="2204889" cy="1675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AOL released search logs from 650,000 users, intended to be anonymous. Journalists quickly identified individuals by their search queries, exposing private health concerns, financial struggles, and personal secrets.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523577" y="4003700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examples demonstrate how data breaches, misuse, and inadequate anonymization can harm individuals and erode public trust.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05433"/>
            <a:ext cx="3492996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Illusion of Consent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350094"/>
            <a:ext cx="3019723" cy="30197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2989" y="1835125"/>
            <a:ext cx="516932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consent often fails: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912989" y="2209130"/>
            <a:ext cx="4712122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Lengthy, jargon-filled agreements obscure implications of data use.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Defaults and pre-checked boxes shift the burden to users.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Consent for one purpose becomes a license for secondary uses.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912989" y="3166542"/>
            <a:ext cx="471212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Regulatory efforts like GDPR enforce transparency and purpose-limitation, but practical gaps remain between legal formality and genuine informed choice.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289" y="106933"/>
            <a:ext cx="3286423" cy="49296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9095" y="535037"/>
            <a:ext cx="4716810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Algorithms Reflect Our Worst Impulses</a:t>
            </a:r>
            <a:endParaRPr lang="en-US" sz="2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095" y="1409774"/>
            <a:ext cx="356443" cy="3564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5426" y="1409774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Bias by design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025426" y="1700882"/>
            <a:ext cx="4190479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Historical data encodes social inequalities. Without correction, models replicate and amplify discrimination in hiring, lending, and policing.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095" y="2418085"/>
            <a:ext cx="356443" cy="3564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5426" y="2418085"/>
            <a:ext cx="1694259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Predicting the private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025426" y="2709193"/>
            <a:ext cx="4190479" cy="6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 shows models can infer sensitive traits (e.g., health, sexuality) from images or behavior — often without consent or explanation.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095" y="3649117"/>
            <a:ext cx="356443" cy="3564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5426" y="3649117"/>
            <a:ext cx="182009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Correlation ≠ causation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1025426" y="3940225"/>
            <a:ext cx="4190479" cy="6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decisions based purely on correlation risk incorrect or harmful inferences — human judgment and causal scrutiny are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16918"/>
            <a:ext cx="573717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Case Study: The "Big Brother" University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561579"/>
            <a:ext cx="2596679" cy="2596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9945" y="2063279"/>
            <a:ext cx="513516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Georgia State University used predictive analytics to identify at-risk students and intervene. Outcome: reported 37% increase in minority graduation rates.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89945" y="2676674"/>
            <a:ext cx="5135166" cy="10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Benefit: measurable improvement in retention and outcomes.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Ethical tension: constant tracking of attendance, LMS activity, and behaviors.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Question: Do positive outcomes justify pervasive surveillance without robust consent, oversight, and recourse?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786" y="112142"/>
            <a:ext cx="3279428" cy="4919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1105421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Privacy Mirage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23577" y="1681832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“Anonymization” is often fragile. High‑profile reidentification cases (AOL, Netflix) show how auxiliary data can reconstruct identities. Data persists — reused for new purposes long after collection — undermining the promise of permanent privacy safeguards.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23577" y="2807643"/>
            <a:ext cx="4667845" cy="1062112"/>
          </a:xfrm>
          <a:prstGeom prst="roundRect">
            <a:avLst>
              <a:gd name="adj" fmla="val 2113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50" y="3025601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9724" y="2979613"/>
            <a:ext cx="403212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Right to be forgotten exists in law but is technically and procedurally difficult to guarantee across data brokers and backups.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786" y="112142"/>
            <a:ext cx="3279428" cy="4919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762000"/>
            <a:ext cx="4800898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Hidden Costs of Data Misuse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23577" y="1338411"/>
            <a:ext cx="2259137" cy="1805806"/>
          </a:xfrm>
          <a:prstGeom prst="roundRect">
            <a:avLst>
              <a:gd name="adj" fmla="val 1243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673150" y="148798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Lives at risk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3150" y="1797695"/>
            <a:ext cx="1959992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Breaches expose sensitive details that can endanger individuals — from identity theft to physical safety concerns.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32286" y="1338411"/>
            <a:ext cx="2259137" cy="1805806"/>
          </a:xfrm>
          <a:prstGeom prst="roundRect">
            <a:avLst>
              <a:gd name="adj" fmla="val 1243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3081858" y="148798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Ethics beyond law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81858" y="1797695"/>
            <a:ext cx="195999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Legal permissibility doesn't equal moral acceptability: firms may do what they can, not what they should.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577" y="3293790"/>
            <a:ext cx="4667845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673150" y="344336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Trust erosion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3150" y="3753073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Repeated misuse reduces public trust, degrading the social license that enables beneficial data-driven services.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55" y="344165"/>
            <a:ext cx="3698379" cy="2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Building an Ethical Framework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24855" y="2119982"/>
            <a:ext cx="4256112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pillars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4855" y="2385120"/>
            <a:ext cx="3798912" cy="112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Transparency</a:t>
            </a: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clear, accessible disclosures of collection, purpose, and retention.</a:t>
            </a:r>
            <a:endParaRPr lang="en-US" sz="95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Proactive governance</a:t>
            </a: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audits, lineage tracking, and enforceable policies.</a:t>
            </a:r>
            <a:endParaRPr lang="en-US" sz="95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Fairness by design</a:t>
            </a: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bias testing, representative data, and equitable objectives.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995" y="889322"/>
            <a:ext cx="3798912" cy="3798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E7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786" y="112142"/>
            <a:ext cx="3279428" cy="4919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610642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First, Do No Harm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1205731"/>
            <a:ext cx="149572" cy="1495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23577" y="1422276"/>
            <a:ext cx="2259137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7" name="Text 3"/>
          <p:cNvSpPr/>
          <p:nvPr/>
        </p:nvSpPr>
        <p:spPr>
          <a:xfrm>
            <a:off x="523577" y="1535162"/>
            <a:ext cx="2259137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Adopt research-grade ethics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3577" y="2064841"/>
            <a:ext cx="225913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Apply consent principles, independent review, and harm‑impact assessments to commercial projects.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2286" y="1205731"/>
            <a:ext cx="149572" cy="14957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932286" y="1422276"/>
            <a:ext cx="2259137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1" name="Text 6"/>
          <p:cNvSpPr/>
          <p:nvPr/>
        </p:nvSpPr>
        <p:spPr>
          <a:xfrm>
            <a:off x="2932286" y="153516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Human oversight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2932286" y="1844873"/>
            <a:ext cx="225913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experts in the loop to interpret model outputs and intervene where harm is possible.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302794"/>
            <a:ext cx="149572" cy="14957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23577" y="3519339"/>
            <a:ext cx="4667845" cy="19050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5" name="Text 9"/>
          <p:cNvSpPr/>
          <p:nvPr/>
        </p:nvSpPr>
        <p:spPr>
          <a:xfrm>
            <a:off x="523577" y="363222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Ethical gatekeeping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23577" y="3941936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Shift decisions from “Can we?” to “Should we?” with governance gates before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22201"/>
            <a:ext cx="613030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Call to Action: The Responsible Data Future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473473"/>
            <a:ext cx="566291" cy="7078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6871" y="1473473"/>
            <a:ext cx="1820987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Demand accountability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76871" y="2003152"/>
            <a:ext cx="182098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Organizations should exceed mere compliance — publish audits, impact assessments, and remediation plans.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860" y="1473473"/>
            <a:ext cx="566291" cy="7078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38154" y="1473473"/>
            <a:ext cx="1820987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Champion user autonomy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38154" y="2003152"/>
            <a:ext cx="182098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Give people real, usable controls: granular consent, data portability, and easy deletion.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143" y="1473473"/>
            <a:ext cx="566291" cy="7078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9436" y="1473473"/>
            <a:ext cx="1820987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Make ethics a competitive advantage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9436" y="2223120"/>
            <a:ext cx="1820987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Embed ethical practices in product roadmaps and celebrate responsible innovation as a market differentiator.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23577" y="3625676"/>
            <a:ext cx="8096845" cy="11162"/>
          </a:xfrm>
          <a:prstGeom prst="rect">
            <a:avLst/>
          </a:prstGeom>
          <a:solidFill>
            <a:srgbClr val="3A3630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523577" y="3842445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Together, these steps create a path where data powers progress without sacrificing human dignity. The choice is collective — and urgent.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24" y="520824"/>
            <a:ext cx="229202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endParaRPr lang="en-US" sz="1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973" y="549473"/>
            <a:ext cx="3685431" cy="40445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35899" y="520824"/>
            <a:ext cx="229202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974652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583210" y="2363614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2583210" y="2863453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921</Words>
  <Application>Microsoft Office PowerPoint</Application>
  <PresentationFormat>On-screen Show (16:9)</PresentationFormat>
  <Paragraphs>100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Lora</vt:lpstr>
      <vt:lpstr>Calibri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Swosti Makaju</cp:lastModifiedBy>
  <cp:revision>1</cp:revision>
  <dcterms:created xsi:type="dcterms:W3CDTF">2026-06-07T09:42:10Z</dcterms:created>
  <dcterms:modified xsi:type="dcterms:W3CDTF">2026-06-09T06:24:23Z</dcterms:modified>
</cp:coreProperties>
</file>