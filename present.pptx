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9"/>
  </p:notesMasterIdLst>
  <p:sldIdLst>
    <p:sldId id="256" r:id="rId3"/>
    <p:sldId id="276" r:id="rId4"/>
    <p:sldId id="257" r:id="rId5"/>
    <p:sldId id="258" r:id="rId6"/>
    <p:sldId id="259" r:id="rId7"/>
    <p:sldId id="260" r:id="rId8"/>
    <p:sldId id="263" r:id="rId9"/>
    <p:sldId id="262" r:id="rId10"/>
    <p:sldId id="268" r:id="rId11"/>
    <p:sldId id="278" r:id="rId12"/>
    <p:sldId id="279" r:id="rId13"/>
    <p:sldId id="280" r:id="rId14"/>
    <p:sldId id="281" r:id="rId15"/>
    <p:sldId id="271" r:id="rId16"/>
    <p:sldId id="289" r:id="rId17"/>
    <p:sldId id="282" r:id="rId18"/>
    <p:sldId id="272" r:id="rId19"/>
    <p:sldId id="288" r:id="rId20"/>
    <p:sldId id="284" r:id="rId21"/>
    <p:sldId id="285" r:id="rId22"/>
    <p:sldId id="286" r:id="rId23"/>
    <p:sldId id="287" r:id="rId24"/>
    <p:sldId id="273" r:id="rId25"/>
    <p:sldId id="274" r:id="rId26"/>
    <p:sldId id="277" r:id="rId27"/>
    <p:sldId id="27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50" d="100"/>
          <a:sy n="50" d="100"/>
        </p:scale>
        <p:origin x="2386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://www.tutorialspoint.com/javascript/index.html" TargetMode="External"/><Relationship Id="rId3" Type="http://schemas.openxmlformats.org/officeDocument/2006/relationships/hyperlink" Target="http://www.w3schools.com/html/" TargetMode="External"/><Relationship Id="rId2" Type="http://schemas.openxmlformats.org/officeDocument/2006/relationships/hyperlink" Target="http://www.researchgate.net/publication/380835687_Online_Vehicle_Rental_Syste" TargetMode="External"/><Relationship Id="rId1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64008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System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77535" y="4474845"/>
            <a:ext cx="2730500" cy="1172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Swosti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Makaju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Bhattarai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27020" y="973455"/>
            <a:ext cx="3183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049655" y="2414905"/>
            <a:ext cx="4548505" cy="273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                                               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024120" y="2414905"/>
            <a:ext cx="3896995" cy="2731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Alogorithm Used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Timeline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Used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457200" y="1642110"/>
            <a:ext cx="8229600" cy="292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vehicle rental system is a digital platform designed to manage vehicle hiring.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flexible and convenient transportation options.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booking, availability, and payment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rental systems rely on manual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lack real-time vehicle availability.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struggle with efficient record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improves accuracy and efficiency.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efficient online vehicle rental system.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easy vehicle booking and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vehicle availability.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79170"/>
            <a:ext cx="8229600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vehicle booking and reservation.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login, and profile management.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listing with price, type, and availability.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of vehicles, users, and bookings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and booking history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69085"/>
            <a:ext cx="7391400" cy="3719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market is growing due to demand for flexible, cost-effective transportation driven by urbanization and tourism. [1]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VeloRent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positions itself as a modern, customer-focused platform to remain competitive and enhance user satisfaction.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rental platforms are reshaping the industry through community trust and transparent practices. [3]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39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available vehicles.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booking with date and duration selection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and booking confirmation.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of vehicles and bookings.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defRPr sz="2400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 and encryption.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system reliability and availability.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future growth.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06855"/>
            <a:ext cx="5915025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Case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ER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DFD(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2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979170"/>
            <a:ext cx="600075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018" y="1938529"/>
            <a:ext cx="8645963" cy="47640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(Data Flow Diagram)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90775" y="1380490"/>
            <a:ext cx="4700270" cy="773430"/>
          </a:xfrm>
          <a:prstGeom prst="rect">
            <a:avLst/>
          </a:prstGeom>
        </p:spPr>
      </p:pic>
      <p:pic>
        <p:nvPicPr>
          <p:cNvPr id="12" name="Image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8615" y="2770505"/>
            <a:ext cx="3541395" cy="35915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15415" y="2308860"/>
            <a:ext cx="67094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6225" indent="0" algn="l" defTabSz="266700">
              <a:spcBef>
                <a:spcPct val="0"/>
              </a:spcBef>
              <a:spcAft>
                <a:spcPct val="0"/>
              </a:spcAft>
            </a:pPr>
            <a:r>
              <a:rPr sz="1400" i="1">
                <a:latin typeface="Times New Roman" panose="02020603050405020304"/>
                <a:ea typeface="等线"/>
              </a:rPr>
              <a:t>Figure : Level 0 DFDof Vehicle Rental System</a:t>
            </a:r>
            <a:endParaRPr sz="1400" i="1">
              <a:latin typeface="Times New Roman" panose="02020603050405020304"/>
              <a:ea typeface="等线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06245" y="6390005"/>
            <a:ext cx="67094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6225" indent="0" algn="l" defTabSz="266700">
              <a:spcBef>
                <a:spcPct val="0"/>
              </a:spcBef>
              <a:spcAft>
                <a:spcPct val="0"/>
              </a:spcAft>
            </a:pPr>
            <a:r>
              <a:rPr sz="1400" i="1" dirty="0">
                <a:latin typeface="Times New Roman" panose="02020603050405020304"/>
                <a:ea typeface="等线"/>
              </a:rPr>
              <a:t>Figure : Level </a:t>
            </a:r>
            <a:r>
              <a:rPr lang="en-US" sz="1400" i="1" dirty="0">
                <a:latin typeface="Times New Roman" panose="02020603050405020304"/>
                <a:ea typeface="等线"/>
              </a:rPr>
              <a:t>1</a:t>
            </a:r>
            <a:r>
              <a:rPr sz="1400" i="1" dirty="0">
                <a:latin typeface="Times New Roman" panose="02020603050405020304"/>
                <a:ea typeface="等线"/>
              </a:rPr>
              <a:t> DFD</a:t>
            </a:r>
            <a:r>
              <a:rPr lang="en-US" sz="1400" i="1" dirty="0">
                <a:latin typeface="Times New Roman" panose="02020603050405020304"/>
                <a:ea typeface="等线"/>
              </a:rPr>
              <a:t> </a:t>
            </a:r>
            <a:r>
              <a:rPr sz="1400" i="1" dirty="0">
                <a:latin typeface="Times New Roman" panose="02020603050405020304"/>
                <a:ea typeface="等线"/>
              </a:rPr>
              <a:t>of Vehicle Rental System</a:t>
            </a:r>
            <a:endParaRPr sz="1400" i="1" dirty="0">
              <a:latin typeface="Times New Roman" panose="02020603050405020304"/>
              <a:ea typeface="等线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65987" y="1454404"/>
            <a:ext cx="6812026" cy="52572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4990"/>
            <a:ext cx="8229600" cy="17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Algorithm: Suggests vehicles based on other user past booking, ratings, reviews, and popularity.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improve usability and help users make better decisions quickly.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465580"/>
            <a:ext cx="7429500" cy="29800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983615" y="4722495"/>
          <a:ext cx="7399020" cy="1414780"/>
        </p:xfrm>
        <a:graphic>
          <a:graphicData uri="http://schemas.openxmlformats.org/drawingml/2006/table">
            <a:tbl>
              <a:tblPr/>
              <a:tblGrid>
                <a:gridCol w="929005"/>
                <a:gridCol w="1297940"/>
                <a:gridCol w="714375"/>
                <a:gridCol w="1327785"/>
                <a:gridCol w="1013460"/>
                <a:gridCol w="975995"/>
                <a:gridCol w="1140460"/>
              </a:tblGrid>
              <a:tr h="79184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Documentation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Testing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Implementation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Develop the UI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System Design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Gather requirement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6731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Start Date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20 Aug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16 Oct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25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12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 Sep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20 Aug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6731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Duration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7310" indent="0">
                        <a:lnSpc>
                          <a:spcPts val="132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(In days)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154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921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90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23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24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945" indent="0">
                        <a:lnSpc>
                          <a:spcPts val="13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12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57200" y="1278890"/>
            <a:ext cx="790638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XAMPP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Tools: Figma, Draw.io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(Unit Testing)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4035" y="1550035"/>
          <a:ext cx="8128635" cy="4725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545"/>
                <a:gridCol w="2709545"/>
                <a:gridCol w="2709545"/>
              </a:tblGrid>
              <a:tr h="4108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Tests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101282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validation, email &amp; password rules, duplicates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87122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Login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fields, invalid &amp; valid login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Reset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verification &amp; reset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101219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Login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 validation &amp; access control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Logout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destroy &amp; redirect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9400" y="1066800"/>
          <a:ext cx="8398510" cy="562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735"/>
                <a:gridCol w="4361815"/>
                <a:gridCol w="145796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Tests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User/Admin login &amp; logout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registration, profile update, view user details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Add, update, view, delete vehicle details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Search &amp; Filter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vehicle, filter by type and availability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Management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booking, view booking history, cancel booking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System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validation, eSewa payment success/failure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Panel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 users, vehicles, bookings, payments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&amp; Records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booking records and transaction history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US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validation, access control</a:t>
                      </a:r>
                      <a:endParaRPr lang="en-US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4572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(System Testing)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055" y="1664970"/>
            <a:ext cx="7428865" cy="37598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844675"/>
            <a:ext cx="7218045" cy="36645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544921" y="1540511"/>
            <a:ext cx="4054157" cy="2019617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544921" y="39843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Bef>
                <a:spcPts val="100"/>
              </a:spcBef>
              <a:spcAft>
                <a:spcPct val="0"/>
              </a:spcAft>
            </a:pPr>
            <a:r>
              <a:rPr sz="1600">
                <a:latin typeface="Times New Roman" panose="02020603050405020304"/>
                <a:ea typeface="等线"/>
              </a:rPr>
              <a:t>      </a:t>
            </a:r>
            <a:endParaRPr sz="1600">
              <a:latin typeface="Times New Roman" panose="02020603050405020304"/>
              <a:ea typeface="等线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4921" y="3560762"/>
            <a:ext cx="3955097" cy="571817"/>
          </a:xfrm>
          <a:prstGeom prst="rect">
            <a:avLst/>
          </a:prstGeom>
        </p:spPr>
      </p:pic>
      <p:pic>
        <p:nvPicPr>
          <p:cNvPr id="2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040" y="4132580"/>
            <a:ext cx="4387215" cy="18326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7185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719580"/>
            <a:ext cx="7237730" cy="35833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72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Vehicle Rental System successfully automates rental operations.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efficiency, accuracy, and customer satisfaction. The system reduces manual work and ensures secure data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handling.</a:t>
            </a:r>
            <a:endParaRPr lang="en-US" alt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objectives were achieved successfully.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Future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AI-based recommendations</a:t>
            </a:r>
          </a:p>
          <a:p>
            <a:pPr>
              <a:spcAft>
                <a:spcPts val="1200"/>
              </a:spcAft>
              <a:defRPr sz="2400"/>
            </a:pPr>
            <a:r>
              <a:t>• Chatbot support</a:t>
            </a:r>
          </a:p>
          <a:p>
            <a:pPr>
              <a:spcAft>
                <a:spcPts val="1200"/>
              </a:spcAft>
              <a:defRPr sz="2400"/>
            </a:pPr>
            <a:r>
              <a:t>• Advanced analytics</a:t>
            </a:r>
          </a:p>
          <a:p>
            <a:pPr>
              <a:spcAft>
                <a:spcPts val="1200"/>
              </a:spcAft>
              <a:defRPr sz="2400"/>
            </a:pPr>
            <a:r>
              <a:t>• Scalable server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457200" y="698500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57200" y="1562100"/>
          <a:ext cx="8069580" cy="4445000"/>
        </p:xfrm>
        <a:graphic>
          <a:graphicData uri="http://schemas.openxmlformats.org/drawingml/2006/table">
            <a:tbl>
              <a:tblPr/>
              <a:tblGrid>
                <a:gridCol w="343535"/>
                <a:gridCol w="7726045"/>
              </a:tblGrid>
              <a:tr h="82486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[1]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K.Acharya,"Research	Gate,"	[Online].	Available: https:/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  <a:hlinkClick r:id="rId2"/>
                        </a:rPr>
                        <a:t>/www.researchgate.net/publication/380835687_Online_Vehicle_Rental_Syste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 m_Project_Report.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486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[2]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"Types of Feasibility Study in software project deavelopmeint," GeeksforGeeks, [Online]. Available: https://en.wikipedia.org/wiki/MySQL. [Accessed 05 September 2024].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023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[3]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W3Schools, "W3Schools," [Online]. Available: https://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  <a:hlinkClick r:id="rId3"/>
                        </a:rPr>
                        <a:t>www.w3schools.com/html/.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 [Accessed 20 August 2024].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[4]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"Tutorials	Point,"	[Online].	Available: </a:t>
                      </a: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  <a:hlinkClick r:id="rId4"/>
                        </a:rPr>
                        <a:t>www.tutorialspoint.com/javascript/index.html.</a:t>
                      </a: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 [Accessed 28 08 2024].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991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[5]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R. E. Shamkanth, in Fundamental Of Database System, Pearson.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[6]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A. Forbes, "The Joy of PHP Programming," Plum Island.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[7]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dirty="0">
                          <a:latin typeface="Times New Roman" panose="02020603050405020304"/>
                          <a:ea typeface="Times New Roman" panose="02020603050405020304"/>
                        </a:rPr>
                        <a:t>"Wikipedia," Wikipedia, [Online]. Available: https://en.wikipedia.org/wiki/MySQL. [Accessed 30 August 2024].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813685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2*111"/>
  <p:tag name="TABLE_ENDDRAG_RECT" val="77*371*582*111"/>
</p:tagLst>
</file>

<file path=ppt/tags/tag2.xml><?xml version="1.0" encoding="utf-8"?>
<p:tagLst xmlns:p="http://schemas.openxmlformats.org/presentationml/2006/main">
  <p:tag name="TABLE_ENDDRAG_ORIGIN_RECT" val="639*372"/>
  <p:tag name="TABLE_ENDDRAG_RECT" val="42*122*640*372"/>
</p:tagLst>
</file>

<file path=ppt/tags/tag3.xml><?xml version="1.0" encoding="utf-8"?>
<p:tagLst xmlns:p="http://schemas.openxmlformats.org/presentationml/2006/main">
  <p:tag name="TABLE_ENDDRAG_ORIGIN_RECT" val="661*413"/>
  <p:tag name="TABLE_ENDDRAG_RECT" val="22*84*661*413"/>
</p:tagLst>
</file>

<file path=ppt/tags/tag4.xml><?xml version="1.0" encoding="utf-8"?>
<p:tagLst xmlns:p="http://schemas.openxmlformats.org/presentationml/2006/main">
  <p:tag name="TABLE_ENDDRAG_ORIGIN_RECT" val="635*350"/>
  <p:tag name="TABLE_ENDDRAG_RECT" val="36*123*635*350"/>
</p:tagLst>
</file>

<file path=ppt/theme/theme1.xml><?xml version="1.0" encoding="utf-8"?>
<a:theme xmlns:a="http://schemas.openxmlformats.org/drawingml/2006/main" name="1_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4813</Words>
  <Application>WPS Presentation</Application>
  <PresentationFormat>On-screen Show (4:3)</PresentationFormat>
  <Paragraphs>363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Times New Roman</vt:lpstr>
      <vt:lpstr>Wingdings 3</vt:lpstr>
      <vt:lpstr>Wingdings</vt:lpstr>
      <vt:lpstr>Microsoft YaHei</vt:lpstr>
      <vt:lpstr>Arial Unicode MS</vt:lpstr>
      <vt:lpstr>Calibri</vt:lpstr>
      <vt:lpstr>Times New Roman</vt:lpstr>
      <vt:lpstr>等线</vt:lpstr>
      <vt:lpstr>1_Gear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Bhattarai</dc:creator>
  <dc:description>generated using python-pptx</dc:description>
  <cp:lastModifiedBy>Swosti Makaju</cp:lastModifiedBy>
  <cp:revision>80</cp:revision>
  <dcterms:created xsi:type="dcterms:W3CDTF">2013-01-27T09:14:00Z</dcterms:created>
  <dcterms:modified xsi:type="dcterms:W3CDTF">2026-02-04T02:31:57Z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2E3B4A083CC14DE4B646AB51CEF168D9_12</vt:lpwstr>
  </property>
  <property fmtid="{D5CDD505-2E9C-101B-9397-08002B2CF9AE}" pid="3" name="KSOProductBuildVer">
    <vt:lpwstr>1033-12.2.0.23196</vt:lpwstr>
  </property>
</Properties>
</file>