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96" r:id="rId12"/>
    <p:sldId id="267" r:id="rId13"/>
    <p:sldId id="268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1" r:id="rId33"/>
    <p:sldId id="292" r:id="rId34"/>
    <p:sldId id="293" r:id="rId35"/>
    <p:sldId id="294" r:id="rId36"/>
    <p:sldId id="297" r:id="rId37"/>
    <p:sldId id="298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47A9-607C-4FB8-88E1-77925CD6C20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C8CB-DDF9-4365-9830-F14D4AF8C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47A9-607C-4FB8-88E1-77925CD6C20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C8CB-DDF9-4365-9830-F14D4AF8C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47A9-607C-4FB8-88E1-77925CD6C20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C8CB-DDF9-4365-9830-F14D4AF8C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47A9-607C-4FB8-88E1-77925CD6C20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C8CB-DDF9-4365-9830-F14D4AF8C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47A9-607C-4FB8-88E1-77925CD6C20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C8CB-DDF9-4365-9830-F14D4AF8C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47A9-607C-4FB8-88E1-77925CD6C20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C8CB-DDF9-4365-9830-F14D4AF8C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47A9-607C-4FB8-88E1-77925CD6C20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C8CB-DDF9-4365-9830-F14D4AF8C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47A9-607C-4FB8-88E1-77925CD6C20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C8CB-DDF9-4365-9830-F14D4AF8C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47A9-607C-4FB8-88E1-77925CD6C20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C8CB-DDF9-4365-9830-F14D4AF8C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47A9-607C-4FB8-88E1-77925CD6C20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C8CB-DDF9-4365-9830-F14D4AF8C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47A9-607C-4FB8-88E1-77925CD6C20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C8CB-DDF9-4365-9830-F14D4AF8C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547A9-607C-4FB8-88E1-77925CD6C205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9C8CB-DDF9-4365-9830-F14D4AF8C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Problem Solving by Searching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Unit 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68232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Problem solving in AI is a systematic search through a range of possible action in order to reach some predefined goal or solutions.</a:t>
            </a:r>
          </a:p>
          <a:p>
            <a:r>
              <a:rPr lang="en-US" dirty="0" smtClean="0"/>
              <a:t>There are four general states in problem solving which are as follows:</a:t>
            </a:r>
          </a:p>
          <a:p>
            <a:r>
              <a:rPr lang="en-US" dirty="0" smtClean="0"/>
              <a:t>Goal formulation: A goal is a agent that the agent is trying to reach.</a:t>
            </a:r>
          </a:p>
          <a:p>
            <a:r>
              <a:rPr lang="en-US" dirty="0"/>
              <a:t>Problem formulation: This is the process of deciding what actions and </a:t>
            </a:r>
            <a:r>
              <a:rPr lang="en-US" dirty="0" smtClean="0"/>
              <a:t>states and goal to consider.</a:t>
            </a:r>
          </a:p>
          <a:p>
            <a:r>
              <a:rPr lang="en-US" dirty="0" smtClean="0"/>
              <a:t>Search method: it determines possible sequence of actions and choose the best one.</a:t>
            </a:r>
          </a:p>
          <a:p>
            <a:r>
              <a:rPr lang="en-US" dirty="0" smtClean="0"/>
              <a:t>Execute: it provides the solution to perform action.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2588520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Searching :It is commonly used method in AI for solving problems.</a:t>
            </a:r>
          </a:p>
          <a:p>
            <a:r>
              <a:rPr lang="en-US" dirty="0" smtClean="0"/>
              <a:t>The search technique explores the possible moves that one can make in a space of ‘states’ called the search space.</a:t>
            </a:r>
          </a:p>
          <a:p>
            <a:r>
              <a:rPr lang="en-US" dirty="0"/>
              <a:t>In Artificial Intelligence, a search technique is used to explore all possible configurations or states of a problem to find a solution. These states form a structure known as the search space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420133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Problem formulation: In AI, it is the process of defining a problem in a way that a computer can understand and solve it using AI techniques—especially search algorithms.</a:t>
            </a:r>
          </a:p>
          <a:p>
            <a:r>
              <a:rPr lang="en-US" dirty="0" smtClean="0"/>
              <a:t>Component of problem formulation:</a:t>
            </a:r>
          </a:p>
          <a:p>
            <a:pPr lvl="1"/>
            <a:r>
              <a:rPr lang="en-US" b="1" dirty="0" smtClean="0"/>
              <a:t>Initial State: </a:t>
            </a:r>
            <a:r>
              <a:rPr lang="en-US" dirty="0" smtClean="0"/>
              <a:t>The starting point of the problem.</a:t>
            </a:r>
          </a:p>
          <a:p>
            <a:pPr lvl="1"/>
            <a:r>
              <a:rPr lang="en-US" b="1" dirty="0" smtClean="0"/>
              <a:t>State Space: </a:t>
            </a:r>
            <a:r>
              <a:rPr lang="en-US" dirty="0" smtClean="0"/>
              <a:t>All possible states reachable from the initial state.</a:t>
            </a:r>
          </a:p>
          <a:p>
            <a:pPr lvl="1"/>
            <a:r>
              <a:rPr lang="en-US" b="1" dirty="0" smtClean="0"/>
              <a:t>Actions: </a:t>
            </a:r>
            <a:r>
              <a:rPr lang="en-US" dirty="0" smtClean="0"/>
              <a:t>Legal moves or operations that can be performed.</a:t>
            </a:r>
          </a:p>
          <a:p>
            <a:pPr lvl="1"/>
            <a:r>
              <a:rPr lang="en-US" b="1" dirty="0" smtClean="0"/>
              <a:t>Transition Model: </a:t>
            </a:r>
            <a:r>
              <a:rPr lang="en-US" dirty="0" smtClean="0"/>
              <a:t>Describes what results from performing an action in a state.</a:t>
            </a:r>
          </a:p>
          <a:p>
            <a:pPr lvl="1"/>
            <a:r>
              <a:rPr lang="en-US" b="1" dirty="0" smtClean="0"/>
              <a:t>Goal Test: </a:t>
            </a:r>
            <a:r>
              <a:rPr lang="en-US" dirty="0" smtClean="0"/>
              <a:t>Checks whether a given state is a goal state.</a:t>
            </a:r>
          </a:p>
          <a:p>
            <a:pPr lvl="1"/>
            <a:r>
              <a:rPr lang="en-US" b="1" dirty="0" smtClean="0"/>
              <a:t>Path Cost: </a:t>
            </a:r>
            <a:r>
              <a:rPr lang="en-US" dirty="0" smtClean="0"/>
              <a:t>(Optional) A numeric cost for a path, used in optimization.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Space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**see in copy**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17034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Well defined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 problems that lacks one or more of the below 5 properties is an ill-defined problem.</a:t>
            </a:r>
          </a:p>
          <a:p>
            <a:r>
              <a:rPr lang="en-US" dirty="0" smtClean="0"/>
              <a:t>But a well-defined problem can be defined formally by following five components:</a:t>
            </a:r>
          </a:p>
          <a:p>
            <a:r>
              <a:rPr lang="en-US" dirty="0" smtClean="0"/>
              <a:t>Initial state: state from which agent start.</a:t>
            </a:r>
          </a:p>
          <a:p>
            <a:r>
              <a:rPr lang="en-US" dirty="0" smtClean="0"/>
              <a:t>State description ( Success or function): description of possible actions available on agent.</a:t>
            </a:r>
          </a:p>
          <a:p>
            <a:r>
              <a:rPr lang="en-US" dirty="0" smtClean="0"/>
              <a:t>State space and path: all states reachable from initial by any sequence of actions is state space. Path is the sequence through state space.</a:t>
            </a:r>
          </a:p>
          <a:p>
            <a:r>
              <a:rPr lang="en-US" dirty="0" smtClean="0"/>
              <a:t>Path cost: sum of cost of each path from initial to given state.</a:t>
            </a:r>
          </a:p>
          <a:p>
            <a:r>
              <a:rPr lang="en-US" dirty="0" smtClean="0"/>
              <a:t>Goal test: determining the state is goal state or not.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43767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Well defined problem: </a:t>
            </a:r>
          </a:p>
          <a:p>
            <a:pPr lvl="1"/>
            <a:r>
              <a:rPr lang="en-US" dirty="0" err="1" smtClean="0"/>
              <a:t>Vaccum</a:t>
            </a:r>
            <a:r>
              <a:rPr lang="en-US" dirty="0" smtClean="0"/>
              <a:t> world state problem</a:t>
            </a:r>
          </a:p>
          <a:p>
            <a:pPr lvl="1"/>
            <a:r>
              <a:rPr lang="en-US" dirty="0" smtClean="0"/>
              <a:t>Real world problem( used to define the time, money and human resource cost)</a:t>
            </a:r>
          </a:p>
          <a:p>
            <a:pPr lvl="1"/>
            <a:r>
              <a:rPr lang="en-US" dirty="0" smtClean="0"/>
              <a:t>Toy problem (used to compare performance of system)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79032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Solving Problems by searching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Figure bellow contains representation of  a map. The nodes represent cities, and the links represent direct road connections between cities. The number associated to a link represent the length of the corresponding road. The search problem is to find a path from a city S to a city 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63282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FIG: graph representation of map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558437" y="3148149"/>
            <a:ext cx="6858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867988" y="2203269"/>
            <a:ext cx="6858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206931" y="4511040"/>
            <a:ext cx="6858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203666" y="1881052"/>
            <a:ext cx="6858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170317" y="3378926"/>
            <a:ext cx="6858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1828799" y="4554583"/>
            <a:ext cx="6858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5747656" y="2921727"/>
            <a:ext cx="6858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cxnSp>
        <p:nvCxnSpPr>
          <p:cNvPr id="12" name="Straight Connector 11"/>
          <p:cNvCxnSpPr>
            <a:stCxn id="4" idx="7"/>
          </p:cNvCxnSpPr>
          <p:nvPr/>
        </p:nvCxnSpPr>
        <p:spPr>
          <a:xfrm rot="5400000" flipH="1" flipV="1">
            <a:off x="1296882" y="2707689"/>
            <a:ext cx="421294" cy="7274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4" idx="5"/>
          </p:cNvCxnSpPr>
          <p:nvPr/>
        </p:nvCxnSpPr>
        <p:spPr>
          <a:xfrm rot="16200000" flipH="1">
            <a:off x="1033993" y="4038448"/>
            <a:ext cx="956870" cy="737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7" idx="2"/>
          </p:cNvCxnSpPr>
          <p:nvPr/>
        </p:nvCxnSpPr>
        <p:spPr>
          <a:xfrm flipV="1">
            <a:off x="2561124" y="2338253"/>
            <a:ext cx="642542" cy="260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 rot="16200000" flipH="1">
            <a:off x="3742920" y="2608630"/>
            <a:ext cx="911114" cy="629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10" idx="2"/>
          </p:cNvCxnSpPr>
          <p:nvPr/>
        </p:nvCxnSpPr>
        <p:spPr>
          <a:xfrm flipV="1">
            <a:off x="4873250" y="3378927"/>
            <a:ext cx="874406" cy="473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6" idx="2"/>
          </p:cNvCxnSpPr>
          <p:nvPr/>
        </p:nvCxnSpPr>
        <p:spPr>
          <a:xfrm flipV="1">
            <a:off x="2521935" y="4968241"/>
            <a:ext cx="684996" cy="164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854346" y="4284617"/>
            <a:ext cx="544574" cy="469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36468" y="2651760"/>
            <a:ext cx="56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425043" y="2360023"/>
            <a:ext cx="56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648494" y="5255623"/>
            <a:ext cx="56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245429" y="4589417"/>
            <a:ext cx="56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570117" y="1937658"/>
            <a:ext cx="56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992777" y="4902926"/>
            <a:ext cx="56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875712" y="3065417"/>
            <a:ext cx="56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35762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problem will be used to illustrate some search methods.</a:t>
            </a:r>
          </a:p>
          <a:p>
            <a:r>
              <a:rPr lang="en-US" dirty="0" smtClean="0"/>
              <a:t>Search problems are part of a large number of real world applications</a:t>
            </a:r>
          </a:p>
          <a:p>
            <a:pPr lvl="1"/>
            <a:r>
              <a:rPr lang="en-US" dirty="0" smtClean="0"/>
              <a:t>VLSI layout</a:t>
            </a:r>
          </a:p>
          <a:p>
            <a:pPr lvl="1"/>
            <a:r>
              <a:rPr lang="en-US" dirty="0" smtClean="0"/>
              <a:t>Web Search</a:t>
            </a:r>
          </a:p>
          <a:p>
            <a:pPr lvl="1"/>
            <a:r>
              <a:rPr lang="en-US" dirty="0" smtClean="0"/>
              <a:t>Path Planning</a:t>
            </a:r>
          </a:p>
          <a:p>
            <a:pPr lvl="1"/>
            <a:r>
              <a:rPr lang="en-US" dirty="0" smtClean="0"/>
              <a:t>Robot navigation </a:t>
            </a:r>
            <a:r>
              <a:rPr lang="en-US" dirty="0" err="1" smtClean="0"/>
              <a:t>etc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08090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 satisfaction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Consists of three components: V,D,C</a:t>
            </a:r>
          </a:p>
          <a:p>
            <a:r>
              <a:rPr lang="en-US" dirty="0" smtClean="0"/>
              <a:t>V is set of variables: { v1,v2,v3…</a:t>
            </a:r>
            <a:r>
              <a:rPr lang="en-US" dirty="0" err="1" smtClean="0"/>
              <a:t>vn</a:t>
            </a:r>
            <a:r>
              <a:rPr lang="en-US" dirty="0" smtClean="0"/>
              <a:t>}</a:t>
            </a:r>
          </a:p>
          <a:p>
            <a:r>
              <a:rPr lang="en-US" dirty="0" smtClean="0"/>
              <a:t>D is set of domain </a:t>
            </a:r>
          </a:p>
          <a:p>
            <a:endParaRPr lang="en-US" dirty="0" smtClean="0"/>
          </a:p>
          <a:p>
            <a:r>
              <a:rPr lang="en-US" dirty="0" smtClean="0"/>
              <a:t>***see in copy**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Search techniques / search strategies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There are two broad search strategies:</a:t>
            </a:r>
          </a:p>
          <a:p>
            <a:r>
              <a:rPr lang="en-US" dirty="0" smtClean="0"/>
              <a:t>Uniformed ( or blind) search methods: In the method, the order in which potential solution path is considered in arbitrary, using-no domain specific information to judge where the solution is likely to lie. </a:t>
            </a:r>
            <a:r>
              <a:rPr lang="en-US" dirty="0" err="1" smtClean="0"/>
              <a:t>Eg</a:t>
            </a:r>
            <a:r>
              <a:rPr lang="en-US" dirty="0" smtClean="0"/>
              <a:t> Breadth first search, Depth first  Search, Depth limit search, Bidirectional Search etc.</a:t>
            </a:r>
          </a:p>
          <a:p>
            <a:r>
              <a:rPr lang="en-US" dirty="0" smtClean="0"/>
              <a:t>Heuristically informed search methods: In this method, one uses domain-dependent ( heuristic ) information in order to search the space more efficiently. </a:t>
            </a:r>
            <a:r>
              <a:rPr lang="en-US" dirty="0" err="1" smtClean="0"/>
              <a:t>Eg</a:t>
            </a:r>
            <a:r>
              <a:rPr lang="en-US" dirty="0" smtClean="0"/>
              <a:t>: Greedy best first search, A* search, Hill climbing search etc. 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31822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Measuring problem solving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We can evaluate the performance of search techniques in four ways:</a:t>
            </a:r>
          </a:p>
          <a:p>
            <a:r>
              <a:rPr lang="en-US" dirty="0" smtClean="0"/>
              <a:t>Completeness: An algorithm is said to be complete if it definitely finds solution to the problem, if exist.</a:t>
            </a:r>
          </a:p>
          <a:p>
            <a:r>
              <a:rPr lang="en-US" dirty="0" smtClean="0"/>
              <a:t>Time complexity: how long ( worst or average case) does it take to find a solution? Usually in terms of number of nodes expanded.</a:t>
            </a:r>
          </a:p>
          <a:p>
            <a:r>
              <a:rPr lang="en-US" dirty="0" smtClean="0"/>
              <a:t>Space complexity: how much space is used by the algorithm? usually measured in terms of the maximum number of nodes in memory at a time.</a:t>
            </a:r>
          </a:p>
          <a:p>
            <a:r>
              <a:rPr lang="en-US" dirty="0" smtClean="0"/>
              <a:t>Optimality/ admissibility: If a solution is found, is it guaranteed to be optimal one? For example is it the one with minimum cost?</a:t>
            </a:r>
          </a:p>
          <a:p>
            <a:r>
              <a:rPr lang="en-US" dirty="0" smtClean="0"/>
              <a:t> time and space complexity are measured in terms of:</a:t>
            </a:r>
          </a:p>
          <a:p>
            <a:r>
              <a:rPr lang="en-US" dirty="0"/>
              <a:t>b</a:t>
            </a:r>
            <a:r>
              <a:rPr lang="en-US" dirty="0" smtClean="0"/>
              <a:t> =minimum branching factor (number of successor of any node) of the search tree.</a:t>
            </a:r>
          </a:p>
          <a:p>
            <a:r>
              <a:rPr lang="en-US" dirty="0" smtClean="0"/>
              <a:t>m= depth of the least-cost solution</a:t>
            </a:r>
          </a:p>
          <a:p>
            <a:r>
              <a:rPr lang="en-US" dirty="0" smtClean="0"/>
              <a:t>d= maximum length of any path in the space.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30708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Heuristic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Heuristic function h(n) estimates the goodness of a node n.</a:t>
            </a:r>
          </a:p>
          <a:p>
            <a:r>
              <a:rPr lang="en-US" dirty="0" smtClean="0"/>
              <a:t>It is estimate based on domain-specific information that is computable from current state description of how close we are to goal.</a:t>
            </a:r>
          </a:p>
          <a:p>
            <a:r>
              <a:rPr lang="en-US" dirty="0" smtClean="0"/>
              <a:t>h(n) = estimated cost (distance ) of minimal cost path from n to goal state.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Greedy best-first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This method uses evaluation function to select which node to be expanded next.</a:t>
            </a:r>
          </a:p>
          <a:p>
            <a:r>
              <a:rPr lang="en-IN" dirty="0" smtClean="0"/>
              <a:t>The node with lowest evaluation is selected for expansion because it has the closest path to goal.</a:t>
            </a:r>
          </a:p>
          <a:p>
            <a:r>
              <a:rPr lang="en-IN" dirty="0" smtClean="0"/>
              <a:t>Evaluation function f(n)=h(n)</a:t>
            </a:r>
          </a:p>
          <a:p>
            <a:r>
              <a:rPr lang="en-IN" dirty="0" smtClean="0"/>
              <a:t>Estimate of cost from n to goal.</a:t>
            </a:r>
          </a:p>
          <a:p>
            <a:r>
              <a:rPr lang="en-IN" dirty="0" smtClean="0"/>
              <a:t>This algorithm has O(</a:t>
            </a:r>
            <a:r>
              <a:rPr lang="en-IN" dirty="0" err="1" smtClean="0"/>
              <a:t>b</a:t>
            </a:r>
            <a:r>
              <a:rPr lang="en-IN" baseline="30000" dirty="0" err="1" smtClean="0"/>
              <a:t>m</a:t>
            </a:r>
            <a:r>
              <a:rPr lang="en-IN" dirty="0" smtClean="0"/>
              <a:t>) space and time complexity, where b is the average branching factor and m is the maximum depth of the search tree.</a:t>
            </a:r>
            <a:endParaRPr lang="en-US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547948" y="2416629"/>
            <a:ext cx="421277" cy="3657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897379" y="3836126"/>
            <a:ext cx="421277" cy="3657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05548" y="1989908"/>
            <a:ext cx="421277" cy="3657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046220" y="3971109"/>
            <a:ext cx="421277" cy="3657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G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396343" y="2190206"/>
            <a:ext cx="421277" cy="3657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916283" y="3039292"/>
            <a:ext cx="421277" cy="3657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cxnSp>
        <p:nvCxnSpPr>
          <p:cNvPr id="11" name="Straight Connector 10"/>
          <p:cNvCxnSpPr>
            <a:stCxn id="4" idx="6"/>
            <a:endCxn id="8" idx="2"/>
          </p:cNvCxnSpPr>
          <p:nvPr/>
        </p:nvCxnSpPr>
        <p:spPr>
          <a:xfrm flipV="1">
            <a:off x="1969225" y="2373087"/>
            <a:ext cx="1427117" cy="226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798025" y="2172790"/>
            <a:ext cx="1427117" cy="226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7"/>
          </p:cNvCxnSpPr>
          <p:nvPr/>
        </p:nvCxnSpPr>
        <p:spPr>
          <a:xfrm rot="5400000">
            <a:off x="4076492" y="2684978"/>
            <a:ext cx="1669005" cy="1010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7" idx="2"/>
          </p:cNvCxnSpPr>
          <p:nvPr/>
        </p:nvCxnSpPr>
        <p:spPr>
          <a:xfrm>
            <a:off x="3301637" y="3331029"/>
            <a:ext cx="744582" cy="822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5" idx="7"/>
            <a:endCxn id="9" idx="3"/>
          </p:cNvCxnSpPr>
          <p:nvPr/>
        </p:nvCxnSpPr>
        <p:spPr>
          <a:xfrm rot="5400000" flipH="1" flipV="1">
            <a:off x="2348368" y="3260082"/>
            <a:ext cx="538202" cy="721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5" idx="5"/>
            <a:endCxn id="7" idx="2"/>
          </p:cNvCxnSpPr>
          <p:nvPr/>
        </p:nvCxnSpPr>
        <p:spPr>
          <a:xfrm rot="16200000" flipH="1">
            <a:off x="3148757" y="3256526"/>
            <a:ext cx="5667" cy="1789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4" idx="4"/>
            <a:endCxn id="5" idx="0"/>
          </p:cNvCxnSpPr>
          <p:nvPr/>
        </p:nvCxnSpPr>
        <p:spPr>
          <a:xfrm rot="16200000" flipH="1">
            <a:off x="1406434" y="3134542"/>
            <a:ext cx="1053737" cy="349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0"/>
            <a:endCxn id="8" idx="4"/>
          </p:cNvCxnSpPr>
          <p:nvPr/>
        </p:nvCxnSpPr>
        <p:spPr>
          <a:xfrm rot="5400000" flipH="1" flipV="1">
            <a:off x="3125288" y="2557599"/>
            <a:ext cx="483326" cy="4800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31720" y="2024743"/>
            <a:ext cx="30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9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327072" y="1680755"/>
            <a:ext cx="30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8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130438" y="2869475"/>
            <a:ext cx="30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9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073037" y="4267200"/>
            <a:ext cx="522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10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250769" y="3117668"/>
            <a:ext cx="30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8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374174" y="3152502"/>
            <a:ext cx="30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5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523706" y="2778035"/>
            <a:ext cx="30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7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3729447" y="3357154"/>
            <a:ext cx="30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6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Let G be the goal node, then distance to node G from other node are:</a:t>
            </a:r>
          </a:p>
          <a:p>
            <a:pPr lvl="1"/>
            <a:r>
              <a:rPr lang="en-IN" dirty="0" smtClean="0"/>
              <a:t>S-&gt;G =12</a:t>
            </a:r>
          </a:p>
          <a:p>
            <a:pPr lvl="1"/>
            <a:r>
              <a:rPr lang="en-IN" dirty="0" smtClean="0"/>
              <a:t>B-&gt;G=4</a:t>
            </a:r>
          </a:p>
          <a:p>
            <a:pPr lvl="1"/>
            <a:r>
              <a:rPr lang="en-IN" dirty="0" smtClean="0"/>
              <a:t>E-&gt;G=</a:t>
            </a:r>
            <a:r>
              <a:rPr lang="en-US" dirty="0" smtClean="0"/>
              <a:t>7</a:t>
            </a:r>
          </a:p>
          <a:p>
            <a:pPr lvl="1"/>
            <a:r>
              <a:rPr lang="en-IN" dirty="0" smtClean="0"/>
              <a:t>D-&gt;G =5</a:t>
            </a:r>
          </a:p>
          <a:p>
            <a:pPr lvl="1"/>
            <a:r>
              <a:rPr lang="en-IN" dirty="0" smtClean="0"/>
              <a:t>C-&gt;G=3</a:t>
            </a:r>
          </a:p>
          <a:p>
            <a:r>
              <a:rPr lang="en-IN" dirty="0" smtClean="0"/>
              <a:t> now, greedy search operation is done as bellow: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715192" y="2116183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348741" y="3274423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06978" y="3309256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>
            <a:off x="475162" y="2960370"/>
            <a:ext cx="587828" cy="205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5"/>
          </p:cNvCxnSpPr>
          <p:nvPr/>
        </p:nvCxnSpPr>
        <p:spPr>
          <a:xfrm rot="16200000" flipH="1">
            <a:off x="995781" y="2847442"/>
            <a:ext cx="646204" cy="320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24642" y="2037806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H(n)=12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544682" y="4005944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H(n)=5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80851" y="4058195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H(n)=4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4268289" y="1955074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3536770" y="2834639"/>
            <a:ext cx="519248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5019402" y="2860765"/>
            <a:ext cx="408215" cy="69668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4023361" y="3757748"/>
            <a:ext cx="519248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3118758" y="3688080"/>
            <a:ext cx="519248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</a:t>
            </a:r>
            <a:endParaRPr lang="en-US" dirty="0"/>
          </a:p>
        </p:txBody>
      </p:sp>
      <p:cxnSp>
        <p:nvCxnSpPr>
          <p:cNvPr id="23" name="Straight Connector 22"/>
          <p:cNvCxnSpPr>
            <a:stCxn id="14" idx="2"/>
            <a:endCxn id="17" idx="0"/>
          </p:cNvCxnSpPr>
          <p:nvPr/>
        </p:nvCxnSpPr>
        <p:spPr>
          <a:xfrm rot="10800000" flipV="1">
            <a:off x="3796395" y="2288177"/>
            <a:ext cx="471895" cy="5464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" idx="6"/>
            <a:endCxn id="19" idx="1"/>
          </p:cNvCxnSpPr>
          <p:nvPr/>
        </p:nvCxnSpPr>
        <p:spPr>
          <a:xfrm>
            <a:off x="4787537" y="2288178"/>
            <a:ext cx="291647" cy="674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7" idx="3"/>
            <a:endCxn id="21" idx="0"/>
          </p:cNvCxnSpPr>
          <p:nvPr/>
        </p:nvCxnSpPr>
        <p:spPr>
          <a:xfrm rot="5400000">
            <a:off x="3269575" y="3344842"/>
            <a:ext cx="452045" cy="234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7" idx="5"/>
            <a:endCxn id="20" idx="0"/>
          </p:cNvCxnSpPr>
          <p:nvPr/>
        </p:nvCxnSpPr>
        <p:spPr>
          <a:xfrm rot="16200000" flipH="1">
            <a:off x="3870624" y="3345385"/>
            <a:ext cx="521713" cy="303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87537" y="1811383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H(n)=12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352506" y="2590802"/>
            <a:ext cx="613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H(n)=5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932611" y="2525487"/>
            <a:ext cx="643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H(n)=4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2948939" y="4206241"/>
            <a:ext cx="643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987437" y="4219304"/>
            <a:ext cx="643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H(n)=3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303712" y="731521"/>
            <a:ext cx="1136469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1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3886201" y="792483"/>
            <a:ext cx="1136469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2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6969035" y="618311"/>
            <a:ext cx="1136469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3</a:t>
            </a:r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7645038" y="1389016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8464731" y="2373085"/>
            <a:ext cx="408215" cy="69668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7138852" y="2621279"/>
            <a:ext cx="519248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740433" y="2116185"/>
            <a:ext cx="643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H(n)=4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8484324" y="1881053"/>
            <a:ext cx="659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H(n)=5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6544492" y="3696789"/>
            <a:ext cx="519248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</a:t>
            </a:r>
            <a:endParaRPr lang="en-US" dirty="0"/>
          </a:p>
        </p:txBody>
      </p:sp>
      <p:sp>
        <p:nvSpPr>
          <p:cNvPr id="48" name="Oval 47"/>
          <p:cNvSpPr/>
          <p:nvPr/>
        </p:nvSpPr>
        <p:spPr>
          <a:xfrm>
            <a:off x="7429501" y="3740331"/>
            <a:ext cx="519248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cxnSp>
        <p:nvCxnSpPr>
          <p:cNvPr id="50" name="Straight Connector 49"/>
          <p:cNvCxnSpPr>
            <a:stCxn id="41" idx="3"/>
            <a:endCxn id="43" idx="0"/>
          </p:cNvCxnSpPr>
          <p:nvPr/>
        </p:nvCxnSpPr>
        <p:spPr>
          <a:xfrm rot="5400000">
            <a:off x="7227968" y="2128166"/>
            <a:ext cx="663620" cy="322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1" idx="4"/>
            <a:endCxn id="42" idx="1"/>
          </p:cNvCxnSpPr>
          <p:nvPr/>
        </p:nvCxnSpPr>
        <p:spPr>
          <a:xfrm rot="16200000" flipH="1">
            <a:off x="8004642" y="1955242"/>
            <a:ext cx="419890" cy="6198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43" idx="3"/>
          </p:cNvCxnSpPr>
          <p:nvPr/>
        </p:nvCxnSpPr>
        <p:spPr>
          <a:xfrm rot="5400000">
            <a:off x="6730414" y="3199247"/>
            <a:ext cx="661052" cy="307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3" idx="4"/>
          </p:cNvCxnSpPr>
          <p:nvPr/>
        </p:nvCxnSpPr>
        <p:spPr>
          <a:xfrm rot="16200000" flipH="1">
            <a:off x="7271385" y="3218634"/>
            <a:ext cx="644434" cy="390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154489" y="1206137"/>
            <a:ext cx="741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H(n)=12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6257108" y="3300550"/>
            <a:ext cx="643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H(n)=7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7795260" y="3352802"/>
            <a:ext cx="643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H(n)=3</a:t>
            </a:r>
            <a:endParaRPr lang="en-US" dirty="0"/>
          </a:p>
        </p:txBody>
      </p:sp>
      <p:sp>
        <p:nvSpPr>
          <p:cNvPr id="61" name="Oval 60"/>
          <p:cNvSpPr/>
          <p:nvPr/>
        </p:nvSpPr>
        <p:spPr>
          <a:xfrm>
            <a:off x="7955281" y="4624251"/>
            <a:ext cx="519248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G</a:t>
            </a:r>
            <a:endParaRPr lang="en-US" dirty="0"/>
          </a:p>
        </p:txBody>
      </p:sp>
      <p:sp>
        <p:nvSpPr>
          <p:cNvPr id="62" name="Oval 61"/>
          <p:cNvSpPr/>
          <p:nvPr/>
        </p:nvSpPr>
        <p:spPr>
          <a:xfrm>
            <a:off x="7070272" y="4619897"/>
            <a:ext cx="519248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cxnSp>
        <p:nvCxnSpPr>
          <p:cNvPr id="64" name="Straight Connector 63"/>
          <p:cNvCxnSpPr>
            <a:stCxn id="48" idx="4"/>
            <a:endCxn id="62" idx="0"/>
          </p:cNvCxnSpPr>
          <p:nvPr/>
        </p:nvCxnSpPr>
        <p:spPr>
          <a:xfrm rot="5400000">
            <a:off x="7304861" y="4235632"/>
            <a:ext cx="409301" cy="359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48" idx="5"/>
            <a:endCxn id="61" idx="0"/>
          </p:cNvCxnSpPr>
          <p:nvPr/>
        </p:nvCxnSpPr>
        <p:spPr>
          <a:xfrm rot="16200000" flipH="1">
            <a:off x="7802543" y="4211889"/>
            <a:ext cx="482524" cy="342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364877" y="4959533"/>
            <a:ext cx="643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H(n)=5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8046719" y="5190310"/>
            <a:ext cx="643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Performance measures:</a:t>
            </a:r>
          </a:p>
          <a:p>
            <a:r>
              <a:rPr lang="en-IN" dirty="0" err="1" smtClean="0"/>
              <a:t>Completness</a:t>
            </a:r>
            <a:r>
              <a:rPr lang="en-IN" dirty="0" smtClean="0"/>
              <a:t>: it is not complete because while minimizing the value of heuristic greedy may oscillate between the two nodes</a:t>
            </a:r>
          </a:p>
          <a:p>
            <a:r>
              <a:rPr lang="en-IN" dirty="0" smtClean="0"/>
              <a:t>Time complexity: O(</a:t>
            </a:r>
            <a:r>
              <a:rPr lang="en-IN" dirty="0" err="1" smtClean="0"/>
              <a:t>b</a:t>
            </a:r>
            <a:r>
              <a:rPr lang="en-IN" baseline="30000" dirty="0" err="1" smtClean="0"/>
              <a:t>m</a:t>
            </a:r>
            <a:r>
              <a:rPr lang="en-IN" dirty="0" smtClean="0"/>
              <a:t>)</a:t>
            </a:r>
          </a:p>
          <a:p>
            <a:r>
              <a:rPr lang="en-IN" dirty="0" smtClean="0"/>
              <a:t>Space complexity : O(</a:t>
            </a:r>
            <a:r>
              <a:rPr lang="en-IN" dirty="0" err="1" smtClean="0"/>
              <a:t>b</a:t>
            </a:r>
            <a:r>
              <a:rPr lang="en-IN" baseline="30000" dirty="0" err="1" smtClean="0"/>
              <a:t>m</a:t>
            </a:r>
            <a:r>
              <a:rPr lang="en-IN" dirty="0" smtClean="0"/>
              <a:t>)</a:t>
            </a:r>
          </a:p>
          <a:p>
            <a:r>
              <a:rPr lang="en-IN" dirty="0" smtClean="0"/>
              <a:t>Optimality: it is not optimal.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A* search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Admissible heuristic:</a:t>
            </a:r>
          </a:p>
          <a:p>
            <a:r>
              <a:rPr lang="en-IN" dirty="0" smtClean="0"/>
              <a:t>A heuristic function is said to be admissible if it is no more then the lowest-cost path to the goal.</a:t>
            </a:r>
          </a:p>
          <a:p>
            <a:r>
              <a:rPr lang="en-IN" dirty="0" smtClean="0"/>
              <a:t>It is used to estimate the cost of reaching the goal state in an informed search algorithm.</a:t>
            </a:r>
          </a:p>
          <a:p>
            <a:r>
              <a:rPr lang="en-IN" dirty="0" smtClean="0"/>
              <a:t>The estimated cost must be always be lower then the actual cost reaching the goal state.</a:t>
            </a:r>
          </a:p>
          <a:p>
            <a:r>
              <a:rPr lang="en-IN" dirty="0" smtClean="0"/>
              <a:t>A* search uses heuristic function h(n)</a:t>
            </a:r>
            <a:r>
              <a:rPr lang="en-US" dirty="0" smtClean="0"/>
              <a:t> as well as the path cost to the node g(n) in computing the total cost f(n).</a:t>
            </a:r>
          </a:p>
          <a:p>
            <a:r>
              <a:rPr lang="en-US" dirty="0" smtClean="0"/>
              <a:t>f(n)=h(n)+g(n), where </a:t>
            </a:r>
          </a:p>
          <a:p>
            <a:pPr lvl="1"/>
            <a:r>
              <a:rPr lang="en-US" dirty="0" smtClean="0"/>
              <a:t>f(n) is evaluation function, </a:t>
            </a:r>
          </a:p>
          <a:p>
            <a:pPr lvl="1"/>
            <a:r>
              <a:rPr lang="en-US" dirty="0" smtClean="0"/>
              <a:t>h(n)= estimated cost from current node to goal node, </a:t>
            </a:r>
          </a:p>
          <a:p>
            <a:pPr lvl="1"/>
            <a:r>
              <a:rPr lang="en-US" dirty="0" smtClean="0"/>
              <a:t>g(n) = the cost from the start node to current node.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method follows a path of the lowest known path keeping a sorted priority queue of alternate path segments along the way.</a:t>
            </a:r>
          </a:p>
          <a:p>
            <a:r>
              <a:rPr lang="en-US" dirty="0" smtClean="0"/>
              <a:t>If path being traversed has higher cost than another path then it neglects the higher cost path and traverses lower cost path segment.</a:t>
            </a:r>
          </a:p>
          <a:p>
            <a:r>
              <a:rPr lang="en-US" dirty="0" smtClean="0"/>
              <a:t>This process continues until goal is reached.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76727" y="1800203"/>
            <a:ext cx="4644458" cy="3442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Let G be the goal node, then distance to node G from other node are:</a:t>
            </a:r>
          </a:p>
          <a:p>
            <a:pPr lvl="1"/>
            <a:r>
              <a:rPr lang="en-IN" dirty="0" smtClean="0"/>
              <a:t>S-&gt;G =12</a:t>
            </a:r>
          </a:p>
          <a:p>
            <a:pPr lvl="1"/>
            <a:r>
              <a:rPr lang="en-IN" dirty="0" smtClean="0"/>
              <a:t>B-&gt;G=4</a:t>
            </a:r>
          </a:p>
          <a:p>
            <a:pPr lvl="1"/>
            <a:r>
              <a:rPr lang="en-IN" dirty="0" smtClean="0"/>
              <a:t>E-&gt;G=</a:t>
            </a:r>
            <a:r>
              <a:rPr lang="en-US" dirty="0" smtClean="0"/>
              <a:t>7</a:t>
            </a:r>
          </a:p>
          <a:p>
            <a:pPr lvl="1"/>
            <a:r>
              <a:rPr lang="en-IN" dirty="0" smtClean="0"/>
              <a:t>D-&gt;</a:t>
            </a:r>
            <a:r>
              <a:rPr lang="en-IN" smtClean="0"/>
              <a:t>G =6</a:t>
            </a:r>
            <a:endParaRPr lang="en-IN" dirty="0" smtClean="0"/>
          </a:p>
          <a:p>
            <a:pPr lvl="1"/>
            <a:r>
              <a:rPr lang="en-IN" dirty="0" smtClean="0"/>
              <a:t>C-&gt;G=3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3712" y="731521"/>
            <a:ext cx="1136469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15192" y="2116183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06978" y="3309256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348741" y="3274423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>
            <a:stCxn id="6" idx="3"/>
            <a:endCxn id="7" idx="0"/>
          </p:cNvCxnSpPr>
          <p:nvPr/>
        </p:nvCxnSpPr>
        <p:spPr>
          <a:xfrm rot="5400000">
            <a:off x="366703" y="2884724"/>
            <a:ext cx="624431" cy="224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6" idx="5"/>
            <a:endCxn id="8" idx="1"/>
          </p:cNvCxnSpPr>
          <p:nvPr/>
        </p:nvCxnSpPr>
        <p:spPr>
          <a:xfrm rot="16200000" flipH="1">
            <a:off x="948009" y="2895214"/>
            <a:ext cx="687162" cy="266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24642" y="2037806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f(n)=12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80851" y="4058195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f(n)=13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544682" y="4005944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f(n)=14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008415" y="2181498"/>
            <a:ext cx="1410788" cy="37882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F(B)=9+4=13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034541" y="2843349"/>
            <a:ext cx="1404257" cy="3439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F(D)=8+6=14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454435" y="687979"/>
            <a:ext cx="1136469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2: for B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5120641" y="1693817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4585063" y="2625633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695406" y="2656114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cxnSp>
        <p:nvCxnSpPr>
          <p:cNvPr id="22" name="Straight Connector 21"/>
          <p:cNvCxnSpPr>
            <a:stCxn id="19" idx="3"/>
          </p:cNvCxnSpPr>
          <p:nvPr/>
        </p:nvCxnSpPr>
        <p:spPr>
          <a:xfrm rot="5400000">
            <a:off x="4888086" y="2356225"/>
            <a:ext cx="402362" cy="214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5513353" y="2352141"/>
            <a:ext cx="415427" cy="236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170317" y="3692434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5052061" y="3705497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cxnSp>
        <p:nvCxnSpPr>
          <p:cNvPr id="30" name="Straight Connector 29"/>
          <p:cNvCxnSpPr>
            <a:stCxn id="20" idx="3"/>
            <a:endCxn id="27" idx="0"/>
          </p:cNvCxnSpPr>
          <p:nvPr/>
        </p:nvCxnSpPr>
        <p:spPr>
          <a:xfrm rot="5400000">
            <a:off x="4296445" y="3327773"/>
            <a:ext cx="498159" cy="231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0" idx="5"/>
            <a:endCxn id="28" idx="0"/>
          </p:cNvCxnSpPr>
          <p:nvPr/>
        </p:nvCxnSpPr>
        <p:spPr>
          <a:xfrm rot="16200000" flipH="1">
            <a:off x="4914366" y="3308178"/>
            <a:ext cx="511222" cy="283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0" y="1706881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f(n)=12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951513" y="2420984"/>
            <a:ext cx="682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f(n)=13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273436" y="2773681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f(n)=14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303712" y="2808514"/>
            <a:ext cx="40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348740" y="2791097"/>
            <a:ext cx="40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353888" y="3975464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f(n)=24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597434" y="3897086"/>
            <a:ext cx="67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f(n)=19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630784" y="2098765"/>
            <a:ext cx="40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832566" y="2172788"/>
            <a:ext cx="40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108270" y="3113314"/>
            <a:ext cx="38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254535" y="3152503"/>
            <a:ext cx="40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6756763" y="3326676"/>
            <a:ext cx="1410788" cy="37882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F(E)=17+7=24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6763294" y="4027714"/>
            <a:ext cx="1404257" cy="3439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F(C)=16+3=19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692332" y="1680755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15538" y="2743199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1472837" y="3048000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95697" y="1994263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3857897"/>
            <a:ext cx="682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f(n)=13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913707" y="3074127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f(D)=14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" y="4228011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702130" y="4188823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cxnSp>
        <p:nvCxnSpPr>
          <p:cNvPr id="13" name="Straight Connector 12"/>
          <p:cNvCxnSpPr>
            <a:stCxn id="4" idx="3"/>
            <a:endCxn id="5" idx="7"/>
          </p:cNvCxnSpPr>
          <p:nvPr/>
        </p:nvCxnSpPr>
        <p:spPr>
          <a:xfrm rot="5400000">
            <a:off x="417876" y="2490266"/>
            <a:ext cx="591366" cy="109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4" idx="5"/>
            <a:endCxn id="6" idx="1"/>
          </p:cNvCxnSpPr>
          <p:nvPr/>
        </p:nvCxnSpPr>
        <p:spPr>
          <a:xfrm rot="16200000" flipH="1">
            <a:off x="894126" y="2490809"/>
            <a:ext cx="896167" cy="413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5" idx="4"/>
            <a:endCxn id="10" idx="7"/>
          </p:cNvCxnSpPr>
          <p:nvPr/>
        </p:nvCxnSpPr>
        <p:spPr>
          <a:xfrm rot="5400000">
            <a:off x="1099" y="3851512"/>
            <a:ext cx="916170" cy="31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5" idx="5"/>
            <a:endCxn id="11" idx="0"/>
          </p:cNvCxnSpPr>
          <p:nvPr/>
        </p:nvCxnSpPr>
        <p:spPr>
          <a:xfrm rot="16200000" flipH="1">
            <a:off x="371757" y="3598827"/>
            <a:ext cx="876982" cy="3030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41664" y="2242457"/>
            <a:ext cx="40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423851" y="2434045"/>
            <a:ext cx="40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02927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f(n)=24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45819" y="4929051"/>
            <a:ext cx="67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f(n)=19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369026" y="465910"/>
            <a:ext cx="1136469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3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2543992" y="1719944"/>
            <a:ext cx="1410788" cy="37882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F(G)=17+0=18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2550523" y="2277292"/>
            <a:ext cx="1404257" cy="3439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F(C)=13+3=16</a:t>
            </a:r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1361803" y="4023360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G</a:t>
            </a:r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2223951" y="4062548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cxnSp>
        <p:nvCxnSpPr>
          <p:cNvPr id="42" name="Straight Connector 41"/>
          <p:cNvCxnSpPr>
            <a:stCxn id="6" idx="4"/>
            <a:endCxn id="39" idx="0"/>
          </p:cNvCxnSpPr>
          <p:nvPr/>
        </p:nvCxnSpPr>
        <p:spPr>
          <a:xfrm rot="5400000">
            <a:off x="1522367" y="3813267"/>
            <a:ext cx="309154" cy="111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6" idx="5"/>
          </p:cNvCxnSpPr>
          <p:nvPr/>
        </p:nvCxnSpPr>
        <p:spPr>
          <a:xfrm rot="16200000" flipH="1">
            <a:off x="1909093" y="3623591"/>
            <a:ext cx="458969" cy="445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762793" y="4140927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f(C)=16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7553595" y="5120641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f(n)=124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045026" y="3653247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f(G)=16</a:t>
            </a:r>
            <a:endParaRPr lang="en-US" dirty="0"/>
          </a:p>
        </p:txBody>
      </p:sp>
      <p:sp>
        <p:nvSpPr>
          <p:cNvPr id="56" name="Oval 55"/>
          <p:cNvSpPr/>
          <p:nvPr/>
        </p:nvSpPr>
        <p:spPr>
          <a:xfrm>
            <a:off x="6106887" y="1075509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5453743" y="1994262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358345" y="1985554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sp>
        <p:nvSpPr>
          <p:cNvPr id="59" name="Oval 58"/>
          <p:cNvSpPr/>
          <p:nvPr/>
        </p:nvSpPr>
        <p:spPr>
          <a:xfrm>
            <a:off x="4777741" y="3021873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</a:t>
            </a:r>
            <a:endParaRPr lang="en-US" dirty="0"/>
          </a:p>
        </p:txBody>
      </p:sp>
      <p:sp>
        <p:nvSpPr>
          <p:cNvPr id="60" name="Oval 59"/>
          <p:cNvSpPr/>
          <p:nvPr/>
        </p:nvSpPr>
        <p:spPr>
          <a:xfrm>
            <a:off x="5597435" y="3087189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sp>
        <p:nvSpPr>
          <p:cNvPr id="61" name="Oval 60"/>
          <p:cNvSpPr/>
          <p:nvPr/>
        </p:nvSpPr>
        <p:spPr>
          <a:xfrm>
            <a:off x="6335486" y="3000103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G</a:t>
            </a:r>
            <a:endParaRPr lang="en-US" dirty="0"/>
          </a:p>
        </p:txBody>
      </p:sp>
      <p:sp>
        <p:nvSpPr>
          <p:cNvPr id="62" name="Oval 61"/>
          <p:cNvSpPr/>
          <p:nvPr/>
        </p:nvSpPr>
        <p:spPr>
          <a:xfrm>
            <a:off x="7138852" y="3026228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sp>
        <p:nvSpPr>
          <p:cNvPr id="63" name="Oval 62"/>
          <p:cNvSpPr/>
          <p:nvPr/>
        </p:nvSpPr>
        <p:spPr>
          <a:xfrm>
            <a:off x="6792686" y="4275908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G</a:t>
            </a: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7537268" y="4328161"/>
            <a:ext cx="519248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cxnSp>
        <p:nvCxnSpPr>
          <p:cNvPr id="65" name="Straight Connector 64"/>
          <p:cNvCxnSpPr>
            <a:stCxn id="56" idx="3"/>
          </p:cNvCxnSpPr>
          <p:nvPr/>
        </p:nvCxnSpPr>
        <p:spPr>
          <a:xfrm rot="5400000">
            <a:off x="5811203" y="1641726"/>
            <a:ext cx="369300" cy="374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endCxn id="58" idx="0"/>
          </p:cNvCxnSpPr>
          <p:nvPr/>
        </p:nvCxnSpPr>
        <p:spPr>
          <a:xfrm rot="16200000" flipH="1">
            <a:off x="6385571" y="1753155"/>
            <a:ext cx="367530" cy="9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58247" y="1428206"/>
            <a:ext cx="40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750231" y="1554479"/>
            <a:ext cx="40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6067697" y="644434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f(n)=12</a:t>
            </a:r>
            <a:endParaRPr lang="en-US" dirty="0"/>
          </a:p>
        </p:txBody>
      </p:sp>
      <p:cxnSp>
        <p:nvCxnSpPr>
          <p:cNvPr id="75" name="Straight Connector 74"/>
          <p:cNvCxnSpPr>
            <a:stCxn id="57" idx="3"/>
          </p:cNvCxnSpPr>
          <p:nvPr/>
        </p:nvCxnSpPr>
        <p:spPr>
          <a:xfrm rot="5400000">
            <a:off x="5099538" y="2587273"/>
            <a:ext cx="454616" cy="405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57" idx="4"/>
            <a:endCxn id="60" idx="0"/>
          </p:cNvCxnSpPr>
          <p:nvPr/>
        </p:nvCxnSpPr>
        <p:spPr>
          <a:xfrm rot="16200000" flipH="1">
            <a:off x="5571853" y="2801982"/>
            <a:ext cx="426721" cy="143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58" idx="3"/>
          </p:cNvCxnSpPr>
          <p:nvPr/>
        </p:nvCxnSpPr>
        <p:spPr>
          <a:xfrm rot="16200000" flipH="1">
            <a:off x="6233284" y="2755299"/>
            <a:ext cx="463324" cy="61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58" idx="5"/>
            <a:endCxn id="62" idx="0"/>
          </p:cNvCxnSpPr>
          <p:nvPr/>
        </p:nvCxnSpPr>
        <p:spPr>
          <a:xfrm rot="16200000" flipH="1">
            <a:off x="6863997" y="2491750"/>
            <a:ext cx="472032" cy="596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endCxn id="63" idx="0"/>
          </p:cNvCxnSpPr>
          <p:nvPr/>
        </p:nvCxnSpPr>
        <p:spPr>
          <a:xfrm rot="5400000">
            <a:off x="6872970" y="3850005"/>
            <a:ext cx="605245" cy="246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rot="16200000" flipH="1">
            <a:off x="7249886" y="3941718"/>
            <a:ext cx="705394" cy="215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433455" y="5050973"/>
            <a:ext cx="8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f(n)=18</a:t>
            </a:r>
            <a:endParaRPr lang="en-US" dirty="0"/>
          </a:p>
        </p:txBody>
      </p:sp>
      <p:sp>
        <p:nvSpPr>
          <p:cNvPr id="87" name="Rectangle 86"/>
          <p:cNvSpPr/>
          <p:nvPr/>
        </p:nvSpPr>
        <p:spPr>
          <a:xfrm>
            <a:off x="4950823" y="235132"/>
            <a:ext cx="1136469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Evaluation / performance measures:</a:t>
            </a:r>
          </a:p>
          <a:p>
            <a:r>
              <a:rPr lang="en-US" dirty="0" smtClean="0"/>
              <a:t>Completeness: A* gives us solution.</a:t>
            </a:r>
          </a:p>
          <a:p>
            <a:r>
              <a:rPr lang="en-US" dirty="0" smtClean="0"/>
              <a:t>Time complexity: O(</a:t>
            </a:r>
            <a:r>
              <a:rPr lang="en-US" dirty="0" err="1" smtClean="0"/>
              <a:t>b</a:t>
            </a:r>
            <a:r>
              <a:rPr lang="en-US" baseline="30000" dirty="0" err="1" smtClean="0"/>
              <a:t>d</a:t>
            </a:r>
            <a:r>
              <a:rPr lang="en-US" dirty="0" smtClean="0"/>
              <a:t>)</a:t>
            </a:r>
          </a:p>
          <a:p>
            <a:r>
              <a:rPr lang="en-US" dirty="0" smtClean="0"/>
              <a:t>Space complexity: it keeps all generated nodes in memory. Hence space is the major problem not time.</a:t>
            </a:r>
          </a:p>
          <a:p>
            <a:r>
              <a:rPr lang="en-US" dirty="0" smtClean="0"/>
              <a:t>Optimality: A* gives optimal solution.</a:t>
            </a:r>
          </a:p>
          <a:p>
            <a:r>
              <a:rPr lang="en-US" dirty="0" smtClean="0"/>
              <a:t>Admissibility: A* is admissible and considers fewer nodes than any other admissible search algorithm with the same heuristic.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Hill climbing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This search technique can be used to solve problems that have many solutions, some of which are better then others.</a:t>
            </a:r>
          </a:p>
          <a:p>
            <a:r>
              <a:rPr lang="en-US" dirty="0" smtClean="0"/>
              <a:t>It starts with a random solution and iteratively makes small changes to the solution, each time improving a little.</a:t>
            </a:r>
          </a:p>
          <a:p>
            <a:r>
              <a:rPr lang="en-US" dirty="0" smtClean="0"/>
              <a:t>When the algorithm cannot see any improvement anymore, it terminates.</a:t>
            </a:r>
          </a:p>
          <a:p>
            <a:r>
              <a:rPr lang="en-US" dirty="0" smtClean="0"/>
              <a:t>**</a:t>
            </a:r>
            <a:r>
              <a:rPr lang="en-US" smtClean="0"/>
              <a:t>see in copy**</a:t>
            </a:r>
            <a:endParaRPr lang="en-US" dirty="0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812471" y="2129246"/>
            <a:ext cx="499655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045028" y="2987041"/>
            <a:ext cx="499655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519748" y="4066904"/>
            <a:ext cx="499655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331029" y="4036424"/>
            <a:ext cx="499655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750423" y="3966754"/>
            <a:ext cx="499655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3314700" y="2146664"/>
            <a:ext cx="499655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4487091" y="2194561"/>
            <a:ext cx="499655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290457" y="3239590"/>
            <a:ext cx="499655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cxnSp>
        <p:nvCxnSpPr>
          <p:cNvPr id="15" name="Straight Connector 14"/>
          <p:cNvCxnSpPr>
            <a:stCxn id="6" idx="6"/>
            <a:endCxn id="11" idx="2"/>
          </p:cNvCxnSpPr>
          <p:nvPr/>
        </p:nvCxnSpPr>
        <p:spPr>
          <a:xfrm>
            <a:off x="2312125" y="2436223"/>
            <a:ext cx="1002575" cy="174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</p:cNvCxnSpPr>
          <p:nvPr/>
        </p:nvCxnSpPr>
        <p:spPr>
          <a:xfrm rot="16200000" flipH="1">
            <a:off x="1445896" y="3359603"/>
            <a:ext cx="1267097" cy="34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7"/>
            <a:endCxn id="6" idx="3"/>
          </p:cNvCxnSpPr>
          <p:nvPr/>
        </p:nvCxnSpPr>
        <p:spPr>
          <a:xfrm rot="5400000" flipH="1" flipV="1">
            <a:off x="1466745" y="2658054"/>
            <a:ext cx="423664" cy="4141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10" idx="1"/>
          </p:cNvCxnSpPr>
          <p:nvPr/>
        </p:nvCxnSpPr>
        <p:spPr>
          <a:xfrm>
            <a:off x="1400992" y="3592287"/>
            <a:ext cx="422604" cy="464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6"/>
            <a:endCxn id="9" idx="2"/>
          </p:cNvCxnSpPr>
          <p:nvPr/>
        </p:nvCxnSpPr>
        <p:spPr>
          <a:xfrm>
            <a:off x="2250078" y="4273731"/>
            <a:ext cx="1080952" cy="69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1" idx="6"/>
            <a:endCxn id="12" idx="2"/>
          </p:cNvCxnSpPr>
          <p:nvPr/>
        </p:nvCxnSpPr>
        <p:spPr>
          <a:xfrm>
            <a:off x="3814354" y="2453642"/>
            <a:ext cx="672737" cy="47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1" idx="4"/>
            <a:endCxn id="9" idx="0"/>
          </p:cNvCxnSpPr>
          <p:nvPr/>
        </p:nvCxnSpPr>
        <p:spPr>
          <a:xfrm rot="16200000" flipH="1">
            <a:off x="2934790" y="3390356"/>
            <a:ext cx="1275805" cy="16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9" idx="6"/>
            <a:endCxn id="8" idx="2"/>
          </p:cNvCxnSpPr>
          <p:nvPr/>
        </p:nvCxnSpPr>
        <p:spPr>
          <a:xfrm>
            <a:off x="3830684" y="4343401"/>
            <a:ext cx="689065" cy="30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13" idx="3"/>
          </p:cNvCxnSpPr>
          <p:nvPr/>
        </p:nvCxnSpPr>
        <p:spPr>
          <a:xfrm rot="5400000" flipH="1" flipV="1">
            <a:off x="4932658" y="3827518"/>
            <a:ext cx="494859" cy="367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743891" y="4637314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3102428" y="1628502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32812" y="1654628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36815" y="3004458"/>
            <a:ext cx="4016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	10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819003" y="1759131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8.5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233057" y="4767942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572000" y="4802777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1345474" y="2499360"/>
            <a:ext cx="339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273628" y="3840479"/>
            <a:ext cx="32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690948" y="4489268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866606" y="4502330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101046" y="3992879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941717" y="2068285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125979" y="3174273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2651759" y="2216330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3631474" y="3261358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hill climbing search from S to G proceeds as shown by arrow as shown bellow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332411" y="2795452"/>
            <a:ext cx="362495" cy="44413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1750423" y="2085704"/>
            <a:ext cx="499655" cy="38317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201092" y="2778033"/>
            <a:ext cx="336368" cy="48768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9" name="Straight Connector 8"/>
          <p:cNvCxnSpPr>
            <a:stCxn id="6" idx="3"/>
            <a:endCxn id="5" idx="0"/>
          </p:cNvCxnSpPr>
          <p:nvPr/>
        </p:nvCxnSpPr>
        <p:spPr>
          <a:xfrm rot="5400000">
            <a:off x="1477284" y="2449139"/>
            <a:ext cx="382687" cy="309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6" idx="5"/>
            <a:endCxn id="7" idx="0"/>
          </p:cNvCxnSpPr>
          <p:nvPr/>
        </p:nvCxnSpPr>
        <p:spPr>
          <a:xfrm rot="16200000" flipH="1">
            <a:off x="2090456" y="2499213"/>
            <a:ext cx="365268" cy="1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841862" y="3605349"/>
            <a:ext cx="333103" cy="4833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2655027" y="3709852"/>
            <a:ext cx="362494" cy="4702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15" name="Straight Connector 14"/>
          <p:cNvCxnSpPr>
            <a:stCxn id="7" idx="3"/>
            <a:endCxn id="12" idx="7"/>
          </p:cNvCxnSpPr>
          <p:nvPr/>
        </p:nvCxnSpPr>
        <p:spPr>
          <a:xfrm rot="5400000">
            <a:off x="1947351" y="3373128"/>
            <a:ext cx="481834" cy="124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4"/>
            <a:endCxn id="13" idx="1"/>
          </p:cNvCxnSpPr>
          <p:nvPr/>
        </p:nvCxnSpPr>
        <p:spPr>
          <a:xfrm rot="16200000" flipH="1">
            <a:off x="2282192" y="3352799"/>
            <a:ext cx="513005" cy="338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357845" y="4593772"/>
            <a:ext cx="333103" cy="4833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2886891" y="4371703"/>
            <a:ext cx="333103" cy="4833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cxnSp>
        <p:nvCxnSpPr>
          <p:cNvPr id="22" name="Straight Connector 21"/>
          <p:cNvCxnSpPr>
            <a:stCxn id="13" idx="4"/>
            <a:endCxn id="19" idx="1"/>
          </p:cNvCxnSpPr>
          <p:nvPr/>
        </p:nvCxnSpPr>
        <p:spPr>
          <a:xfrm rot="16200000" flipH="1">
            <a:off x="2754789" y="4261600"/>
            <a:ext cx="262369" cy="99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3"/>
            <a:endCxn id="18" idx="0"/>
          </p:cNvCxnSpPr>
          <p:nvPr/>
        </p:nvCxnSpPr>
        <p:spPr>
          <a:xfrm rot="5400000">
            <a:off x="2374993" y="4260651"/>
            <a:ext cx="482525" cy="1837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5"/>
            <a:endCxn id="28" idx="0"/>
          </p:cNvCxnSpPr>
          <p:nvPr/>
        </p:nvCxnSpPr>
        <p:spPr>
          <a:xfrm rot="16200000" flipH="1">
            <a:off x="2940050" y="5015410"/>
            <a:ext cx="597649" cy="135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2929346" y="5381897"/>
            <a:ext cx="754380" cy="61395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3105695" y="5512526"/>
            <a:ext cx="382089" cy="30044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cxnSp>
        <p:nvCxnSpPr>
          <p:cNvPr id="32" name="Straight Arrow Connector 31"/>
          <p:cNvCxnSpPr/>
          <p:nvPr/>
        </p:nvCxnSpPr>
        <p:spPr>
          <a:xfrm rot="16200000" flipH="1">
            <a:off x="2212522" y="2480310"/>
            <a:ext cx="326571" cy="1469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16200000" flipH="1">
            <a:off x="2522764" y="3215096"/>
            <a:ext cx="431074" cy="2449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16200000" flipH="1">
            <a:off x="2978332" y="4085407"/>
            <a:ext cx="352697" cy="1763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16200000" flipH="1">
            <a:off x="3019152" y="4932862"/>
            <a:ext cx="692332" cy="1273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67888" y="3252651"/>
            <a:ext cx="54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8.5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2612571" y="2738846"/>
            <a:ext cx="54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1698171" y="4132217"/>
            <a:ext cx="54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8.5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125288" y="3566160"/>
            <a:ext cx="54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2044337" y="4763588"/>
            <a:ext cx="306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386545" y="4306388"/>
            <a:ext cx="38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playing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Game playing is an important domain of AI.</a:t>
            </a:r>
          </a:p>
          <a:p>
            <a:r>
              <a:rPr lang="en-US" dirty="0" smtClean="0"/>
              <a:t>Games don’t require much knowledge, it only needs to provide is the rules.</a:t>
            </a:r>
          </a:p>
          <a:p>
            <a:r>
              <a:rPr lang="en-US" dirty="0" smtClean="0"/>
              <a:t>Both players try to win the game.</a:t>
            </a:r>
          </a:p>
          <a:p>
            <a:r>
              <a:rPr lang="en-US" dirty="0" smtClean="0"/>
              <a:t>So both of them try to make the best move possible at each time.</a:t>
            </a:r>
          </a:p>
          <a:p>
            <a:r>
              <a:rPr lang="en-US" dirty="0" smtClean="0"/>
              <a:t>Searching techniques like BFS are not accurate for this as the branching factor is very high as minimum 35, so searching will take a lot of time.</a:t>
            </a:r>
          </a:p>
          <a:p>
            <a:r>
              <a:rPr lang="en-US" dirty="0" smtClean="0"/>
              <a:t>So we need another search procedures that improves searching time.</a:t>
            </a:r>
          </a:p>
          <a:p>
            <a:r>
              <a:rPr lang="en-US" dirty="0" smtClean="0"/>
              <a:t>Games are a form of multi-agent environment and arise questions like what another agent do and how they affect our success?</a:t>
            </a:r>
          </a:p>
          <a:p>
            <a:r>
              <a:rPr lang="en-US" dirty="0" smtClean="0"/>
              <a:t>Competitive multi-agent environment give rise to games.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1373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Adversarial Search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Adversarial search is also known as Minimax search used in calculating the best move in two player games where all the information is available such as chess or tic-tac toe.</a:t>
            </a:r>
          </a:p>
          <a:p>
            <a:r>
              <a:rPr lang="en-US" dirty="0" smtClean="0"/>
              <a:t>It consists of navigating through a tree which captures all the possible moves in the game, where each move is represented in terms of loss and gain for one the players.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67290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mini-max </a:t>
            </a:r>
            <a:r>
              <a:rPr lang="en-US" dirty="0" err="1" smtClean="0"/>
              <a:t>serach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Let us assign the following value for the game : 1 for win by x, 0 for draw by x, -1 for loss by x.</a:t>
            </a:r>
          </a:p>
          <a:p>
            <a:r>
              <a:rPr lang="en-US" dirty="0" smtClean="0"/>
              <a:t>Given the values of the terminal nodes (win for x(1), loss for x(-1), draw for x(0)), now the values of the non-terminal nodes are computed as following:</a:t>
            </a:r>
          </a:p>
          <a:p>
            <a:r>
              <a:rPr lang="en-US" dirty="0" smtClean="0"/>
              <a:t>The value of a node where it is the turn of player X to move is the maximum of the values of its successor ( because x tries to maximize its outcome).</a:t>
            </a:r>
          </a:p>
          <a:p>
            <a:r>
              <a:rPr lang="en-US" dirty="0" smtClean="0"/>
              <a:t>The value of a node where it is the turn of player 0 to move is the minimum of the values of its successors ( because 0 tries to minimize the outcome of X).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6919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Consider the following game tree ( drawn from the point of view of the maximizing player)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3738414" y="1561824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2174966" y="3000104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093823" y="2923847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387928" y="4071258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395514" y="4147428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85750" y="5373187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387928" y="5373186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2490107" y="5373185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</a:t>
            </a:r>
            <a:endParaRPr lang="en-US" dirty="0"/>
          </a:p>
        </p:txBody>
      </p:sp>
      <p:cxnSp>
        <p:nvCxnSpPr>
          <p:cNvPr id="13" name="Straight Connector 12"/>
          <p:cNvCxnSpPr>
            <a:endCxn id="4" idx="3"/>
          </p:cNvCxnSpPr>
          <p:nvPr/>
        </p:nvCxnSpPr>
        <p:spPr>
          <a:xfrm flipV="1">
            <a:off x="2610914" y="2018969"/>
            <a:ext cx="1227934" cy="1132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3"/>
          </p:cNvCxnSpPr>
          <p:nvPr/>
        </p:nvCxnSpPr>
        <p:spPr>
          <a:xfrm flipH="1">
            <a:off x="1871255" y="3457247"/>
            <a:ext cx="404144" cy="614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5" idx="5"/>
            <a:endCxn id="8" idx="1"/>
          </p:cNvCxnSpPr>
          <p:nvPr/>
        </p:nvCxnSpPr>
        <p:spPr>
          <a:xfrm>
            <a:off x="2760332" y="3457248"/>
            <a:ext cx="735615" cy="768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9" idx="0"/>
          </p:cNvCxnSpPr>
          <p:nvPr/>
        </p:nvCxnSpPr>
        <p:spPr>
          <a:xfrm flipH="1">
            <a:off x="628650" y="4606834"/>
            <a:ext cx="1007058" cy="7663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7" idx="4"/>
          </p:cNvCxnSpPr>
          <p:nvPr/>
        </p:nvCxnSpPr>
        <p:spPr>
          <a:xfrm>
            <a:off x="1730828" y="4606834"/>
            <a:ext cx="47561" cy="76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830938" y="4606834"/>
            <a:ext cx="814291" cy="918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395514" y="5427613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4497692" y="5373185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cxnSp>
        <p:nvCxnSpPr>
          <p:cNvPr id="28" name="Straight Connector 27"/>
          <p:cNvCxnSpPr>
            <a:stCxn id="8" idx="4"/>
          </p:cNvCxnSpPr>
          <p:nvPr/>
        </p:nvCxnSpPr>
        <p:spPr>
          <a:xfrm flipH="1">
            <a:off x="3592285" y="4683004"/>
            <a:ext cx="146129" cy="744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6" idx="1"/>
          </p:cNvCxnSpPr>
          <p:nvPr/>
        </p:nvCxnSpPr>
        <p:spPr>
          <a:xfrm>
            <a:off x="3835076" y="4606835"/>
            <a:ext cx="763050" cy="844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4" idx="5"/>
            <a:endCxn id="6" idx="1"/>
          </p:cNvCxnSpPr>
          <p:nvPr/>
        </p:nvCxnSpPr>
        <p:spPr>
          <a:xfrm>
            <a:off x="4323781" y="2018969"/>
            <a:ext cx="1870475" cy="983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669280" y="4157005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6903720" y="4157005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5375846" y="5365003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6217920" y="5365003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cxnSp>
        <p:nvCxnSpPr>
          <p:cNvPr id="38" name="Straight Connector 37"/>
          <p:cNvCxnSpPr>
            <a:stCxn id="33" idx="4"/>
          </p:cNvCxnSpPr>
          <p:nvPr/>
        </p:nvCxnSpPr>
        <p:spPr>
          <a:xfrm flipH="1">
            <a:off x="5718747" y="4692581"/>
            <a:ext cx="293434" cy="759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3" idx="5"/>
            <a:endCxn id="36" idx="0"/>
          </p:cNvCxnSpPr>
          <p:nvPr/>
        </p:nvCxnSpPr>
        <p:spPr>
          <a:xfrm>
            <a:off x="6254647" y="4614148"/>
            <a:ext cx="306173" cy="750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endCxn id="33" idx="0"/>
          </p:cNvCxnSpPr>
          <p:nvPr/>
        </p:nvCxnSpPr>
        <p:spPr>
          <a:xfrm flipH="1">
            <a:off x="6012181" y="3420207"/>
            <a:ext cx="342149" cy="736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560820" y="3400598"/>
            <a:ext cx="561703" cy="825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975401" y="5181199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</a:t>
            </a:r>
            <a:endParaRPr lang="en-US" dirty="0"/>
          </a:p>
        </p:txBody>
      </p:sp>
      <p:sp>
        <p:nvSpPr>
          <p:cNvPr id="46" name="Oval 45"/>
          <p:cNvSpPr/>
          <p:nvPr/>
        </p:nvSpPr>
        <p:spPr>
          <a:xfrm>
            <a:off x="7771424" y="5120635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8498781" y="5066212"/>
            <a:ext cx="6858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</a:t>
            </a:r>
            <a:endParaRPr lang="en-US" dirty="0"/>
          </a:p>
        </p:txBody>
      </p:sp>
      <p:cxnSp>
        <p:nvCxnSpPr>
          <p:cNvPr id="49" name="Straight Connector 48"/>
          <p:cNvCxnSpPr>
            <a:endCxn id="45" idx="0"/>
          </p:cNvCxnSpPr>
          <p:nvPr/>
        </p:nvCxnSpPr>
        <p:spPr>
          <a:xfrm flipH="1">
            <a:off x="7318300" y="4614148"/>
            <a:ext cx="55112" cy="567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34" idx="5"/>
          </p:cNvCxnSpPr>
          <p:nvPr/>
        </p:nvCxnSpPr>
        <p:spPr>
          <a:xfrm>
            <a:off x="7489087" y="4614148"/>
            <a:ext cx="586694" cy="567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7495179" y="4415216"/>
            <a:ext cx="1236279" cy="705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224880" y="1626810"/>
            <a:ext cx="534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max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1733265" y="2737004"/>
            <a:ext cx="534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min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6708026" y="2628617"/>
            <a:ext cx="534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min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93901" y="5963189"/>
            <a:ext cx="534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1463454" y="5963189"/>
            <a:ext cx="534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2490107" y="5989310"/>
            <a:ext cx="534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1040" y="6041557"/>
            <a:ext cx="534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48744" y="6041557"/>
            <a:ext cx="534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16906" y="6067678"/>
            <a:ext cx="534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16525" y="6067678"/>
            <a:ext cx="534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54771" y="5889148"/>
            <a:ext cx="534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89575" y="5856886"/>
            <a:ext cx="534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8854" y="5804644"/>
            <a:ext cx="534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082" y="3909978"/>
            <a:ext cx="534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max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7647498" y="4000508"/>
            <a:ext cx="534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0014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8010" y="2022816"/>
            <a:ext cx="6707981" cy="3695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17664" y="3777440"/>
            <a:ext cx="29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81248" y="3809412"/>
            <a:ext cx="29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8914" y="3774284"/>
            <a:ext cx="29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521321" y="3589618"/>
            <a:ext cx="29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1273" y="2675805"/>
            <a:ext cx="29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259" y="2659586"/>
            <a:ext cx="29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426624" y="1996396"/>
            <a:ext cx="29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628650" y="5577840"/>
            <a:ext cx="2045970" cy="3235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Min-max value=7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281248" y="2547257"/>
            <a:ext cx="1208417" cy="613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5198914" y="3442156"/>
            <a:ext cx="290751" cy="367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198914" y="4170037"/>
            <a:ext cx="0" cy="586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29411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Alpha-beta pruning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This method is applied to a standard </a:t>
            </a:r>
            <a:r>
              <a:rPr lang="en-US" dirty="0" err="1" smtClean="0"/>
              <a:t>minmax</a:t>
            </a:r>
            <a:r>
              <a:rPr lang="en-US" dirty="0" smtClean="0"/>
              <a:t> tree, it returns the same more as min max would, but prunes away branches that cannot possibly influence the final decision.</a:t>
            </a:r>
          </a:p>
          <a:p>
            <a:r>
              <a:rPr lang="en-US" dirty="0" smtClean="0"/>
              <a:t>Alpha-beta pruning can be applied to trees of any depth and it is often possible to prune entire sub-tree rather then just leaves.</a:t>
            </a:r>
          </a:p>
          <a:p>
            <a:r>
              <a:rPr lang="en-US" dirty="0" smtClean="0"/>
              <a:t>This is a technique for evaluating nodes of a game tree that eliminates unnecessary evaluations.</a:t>
            </a:r>
          </a:p>
          <a:p>
            <a:r>
              <a:rPr lang="en-US" dirty="0" smtClean="0"/>
              <a:t>It uses two parameter alpha and beta.</a:t>
            </a:r>
          </a:p>
          <a:p>
            <a:r>
              <a:rPr lang="en-US" dirty="0" smtClean="0"/>
              <a:t>Alpha: it is the value of the best( </a:t>
            </a:r>
            <a:r>
              <a:rPr lang="en-US" dirty="0" err="1" smtClean="0"/>
              <a:t>i.e</a:t>
            </a:r>
            <a:r>
              <a:rPr lang="en-US" dirty="0" smtClean="0"/>
              <a:t> highest value) choice we have found so far at any choice along the path </a:t>
            </a:r>
            <a:r>
              <a:rPr lang="en-US" smtClean="0"/>
              <a:t>for  MAX.</a:t>
            </a:r>
            <a:endParaRPr lang="en-US" dirty="0" smtClean="0"/>
          </a:p>
          <a:p>
            <a:r>
              <a:rPr lang="en-US" dirty="0" smtClean="0"/>
              <a:t>Beta: it is the value of the best ( </a:t>
            </a:r>
            <a:r>
              <a:rPr lang="en-US" dirty="0" err="1" smtClean="0"/>
              <a:t>i.e</a:t>
            </a:r>
            <a:r>
              <a:rPr lang="en-US" dirty="0" smtClean="0"/>
              <a:t> lowest value) choice we have found so far at any choice along the path for MIN.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20990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Stochastic Games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Many games are unpredictable in nature, such as those involving dice throw. These games are called </a:t>
            </a:r>
            <a:r>
              <a:rPr lang="en-US" dirty="0" smtClean="0"/>
              <a:t>S</a:t>
            </a:r>
            <a:r>
              <a:rPr lang="en-US" dirty="0" smtClean="0"/>
              <a:t>tochastic Game.</a:t>
            </a:r>
          </a:p>
          <a:p>
            <a:r>
              <a:rPr lang="en-US" dirty="0" smtClean="0"/>
              <a:t> </a:t>
            </a:r>
            <a:r>
              <a:rPr lang="en-US" dirty="0" smtClean="0"/>
              <a:t>The output of game depends on skills as well as luck.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Gambling Game</a:t>
            </a:r>
          </a:p>
          <a:p>
            <a:pPr lvl="1"/>
            <a:r>
              <a:rPr lang="en-US" dirty="0" err="1" smtClean="0"/>
              <a:t>Ludo</a:t>
            </a:r>
            <a:endParaRPr lang="en-US" dirty="0" smtClean="0"/>
          </a:p>
          <a:p>
            <a:pPr lvl="1"/>
            <a:r>
              <a:rPr lang="en-US" dirty="0" smtClean="0"/>
              <a:t>Golf Ball Game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Stochastic search algorithms are designed for problems with inherent random noise or deterministic problems solved by injected randomness.</a:t>
            </a:r>
          </a:p>
          <a:p>
            <a:r>
              <a:rPr lang="en-US" dirty="0" smtClean="0"/>
              <a:t>Desired property of search algorithm are:</a:t>
            </a:r>
            <a:endParaRPr lang="en-IN" dirty="0" smtClean="0"/>
          </a:p>
          <a:p>
            <a:pPr lvl="1"/>
            <a:r>
              <a:rPr lang="en-IN" dirty="0" smtClean="0"/>
              <a:t>High probability of finding near-optimal solutions (Effectiveness)</a:t>
            </a:r>
          </a:p>
          <a:p>
            <a:pPr lvl="1"/>
            <a:r>
              <a:rPr lang="en-IN" dirty="0" smtClean="0"/>
              <a:t>Short processing time (</a:t>
            </a:r>
            <a:r>
              <a:rPr lang="en-US" dirty="0" smtClean="0"/>
              <a:t>efficiency)</a:t>
            </a:r>
          </a:p>
          <a:p>
            <a:r>
              <a:rPr lang="en-US" dirty="0" smtClean="0"/>
              <a:t>They are usually conflicting, a compromise is offered by stochastic techniques where certain steps are based on random choice. </a:t>
            </a:r>
          </a:p>
          <a:p>
            <a:r>
              <a:rPr lang="en-US" dirty="0" smtClean="0"/>
              <a:t>Stochastic search is the method of choice for solving many hard and complex problem.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2310</Words>
  <Application>Microsoft Office PowerPoint</Application>
  <PresentationFormat>On-screen Show (4:3)</PresentationFormat>
  <Paragraphs>357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Problem Solving by Searching</vt:lpstr>
      <vt:lpstr>Introduction </vt:lpstr>
      <vt:lpstr>Slide 3</vt:lpstr>
      <vt:lpstr>Slide 4</vt:lpstr>
      <vt:lpstr>State Space Representation</vt:lpstr>
      <vt:lpstr>Well defined Problems</vt:lpstr>
      <vt:lpstr>Slide 7</vt:lpstr>
      <vt:lpstr>Solving Problems by searching </vt:lpstr>
      <vt:lpstr>FIG: graph representation of map</vt:lpstr>
      <vt:lpstr>Slide 10</vt:lpstr>
      <vt:lpstr>Constraint satisfaction Problem</vt:lpstr>
      <vt:lpstr>Search techniques / search strategies</vt:lpstr>
      <vt:lpstr>Measuring problem solving performance</vt:lpstr>
      <vt:lpstr>Heuristic Function</vt:lpstr>
      <vt:lpstr>Greedy best-first search</vt:lpstr>
      <vt:lpstr>example</vt:lpstr>
      <vt:lpstr>Slide 17</vt:lpstr>
      <vt:lpstr>Slide 18</vt:lpstr>
      <vt:lpstr>Slide 19</vt:lpstr>
      <vt:lpstr>A* search </vt:lpstr>
      <vt:lpstr>Slide 21</vt:lpstr>
      <vt:lpstr>Example </vt:lpstr>
      <vt:lpstr>Slide 23</vt:lpstr>
      <vt:lpstr>Slide 24</vt:lpstr>
      <vt:lpstr>Slide 25</vt:lpstr>
      <vt:lpstr>Slide 26</vt:lpstr>
      <vt:lpstr>Hill climbing search</vt:lpstr>
      <vt:lpstr>Slide 28</vt:lpstr>
      <vt:lpstr>The hill climbing search from S to G proceeds as shown by arrow as shown bellow</vt:lpstr>
      <vt:lpstr>Game playing </vt:lpstr>
      <vt:lpstr>Adversarial Search techniques</vt:lpstr>
      <vt:lpstr>The mini-max serach</vt:lpstr>
      <vt:lpstr>Consider the following game tree ( drawn from the point of view of the maximizing player)</vt:lpstr>
      <vt:lpstr>Slide 34</vt:lpstr>
      <vt:lpstr>Alpha-beta pruning </vt:lpstr>
      <vt:lpstr>Stochastic Games</vt:lpstr>
      <vt:lpstr>Slide 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Acer</cp:lastModifiedBy>
  <cp:revision>27</cp:revision>
  <dcterms:created xsi:type="dcterms:W3CDTF">2026-04-28T15:49:58Z</dcterms:created>
  <dcterms:modified xsi:type="dcterms:W3CDTF">2026-05-13T17:06:53Z</dcterms:modified>
</cp:coreProperties>
</file>