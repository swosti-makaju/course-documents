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F9386-6A75-4D8C-BB7B-D27CD08CE3C7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11F44-A969-4064-8C51-C56167F36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Neural Network and 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690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Artificial neural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components of artificial neural network are:</a:t>
            </a:r>
          </a:p>
          <a:p>
            <a:pPr lvl="1"/>
            <a:r>
              <a:rPr lang="en-US" dirty="0" smtClean="0"/>
              <a:t>Neurons (Nodes)</a:t>
            </a:r>
          </a:p>
          <a:p>
            <a:pPr lvl="1"/>
            <a:r>
              <a:rPr lang="en-US" dirty="0" smtClean="0"/>
              <a:t>Layers</a:t>
            </a:r>
          </a:p>
          <a:p>
            <a:pPr lvl="1"/>
            <a:r>
              <a:rPr lang="en-US" dirty="0" smtClean="0"/>
              <a:t>Connections</a:t>
            </a:r>
          </a:p>
          <a:p>
            <a:pPr lvl="1"/>
            <a:r>
              <a:rPr lang="en-US" dirty="0" smtClean="0"/>
              <a:t>Activation function</a:t>
            </a:r>
          </a:p>
          <a:p>
            <a:r>
              <a:rPr lang="en-US" dirty="0" smtClean="0"/>
              <a:t>In neurons some values or data is stored.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54981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838200" y="1465401"/>
            <a:ext cx="477078" cy="45057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838200" y="2340390"/>
            <a:ext cx="477078" cy="45057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38200" y="3215379"/>
            <a:ext cx="477078" cy="45057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8200" y="4215227"/>
            <a:ext cx="477078" cy="45057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0574" y="5261113"/>
            <a:ext cx="166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Neurons/nodes</a:t>
            </a:r>
          </a:p>
          <a:p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676939" y="1465401"/>
            <a:ext cx="649357" cy="274982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091609" y="1590261"/>
            <a:ext cx="649357" cy="190831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307496" y="1590261"/>
            <a:ext cx="649357" cy="1908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10131" y="1590261"/>
            <a:ext cx="649357" cy="190831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004314" y="1219718"/>
            <a:ext cx="649357" cy="274982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15" name="Straight Connector 14"/>
          <p:cNvCxnSpPr>
            <a:stCxn id="9" idx="7"/>
          </p:cNvCxnSpPr>
          <p:nvPr/>
        </p:nvCxnSpPr>
        <p:spPr>
          <a:xfrm>
            <a:off x="3231200" y="1868104"/>
            <a:ext cx="956487" cy="47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362739" y="2429098"/>
            <a:ext cx="808383" cy="165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246783" y="2915824"/>
            <a:ext cx="844826" cy="582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0" idx="7"/>
          </p:cNvCxnSpPr>
          <p:nvPr/>
        </p:nvCxnSpPr>
        <p:spPr>
          <a:xfrm>
            <a:off x="4645870" y="1869727"/>
            <a:ext cx="658315" cy="433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5"/>
          </p:cNvCxnSpPr>
          <p:nvPr/>
        </p:nvCxnSpPr>
        <p:spPr>
          <a:xfrm flipV="1">
            <a:off x="4645870" y="2840314"/>
            <a:ext cx="690277" cy="378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1" idx="2"/>
          </p:cNvCxnSpPr>
          <p:nvPr/>
        </p:nvCxnSpPr>
        <p:spPr>
          <a:xfrm>
            <a:off x="4740966" y="2544418"/>
            <a:ext cx="5665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956853" y="2186609"/>
            <a:ext cx="553278" cy="1166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1" idx="5"/>
          </p:cNvCxnSpPr>
          <p:nvPr/>
        </p:nvCxnSpPr>
        <p:spPr>
          <a:xfrm flipV="1">
            <a:off x="5861757" y="3029711"/>
            <a:ext cx="648374" cy="189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5956853" y="2735417"/>
            <a:ext cx="553278" cy="7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20348" y="4536420"/>
            <a:ext cx="166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layer</a:t>
            </a:r>
          </a:p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818784" y="4342635"/>
            <a:ext cx="166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 layer</a:t>
            </a:r>
          </a:p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273288" y="1406704"/>
            <a:ext cx="1237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W1b</a:t>
            </a:r>
          </a:p>
          <a:p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7159488" y="2053035"/>
            <a:ext cx="844826" cy="191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endCxn id="13" idx="2"/>
          </p:cNvCxnSpPr>
          <p:nvPr/>
        </p:nvCxnSpPr>
        <p:spPr>
          <a:xfrm flipV="1">
            <a:off x="7063409" y="2594631"/>
            <a:ext cx="940905" cy="422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172740" y="2429098"/>
            <a:ext cx="76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6608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736035" y="2332383"/>
            <a:ext cx="649356" cy="8216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736034" y="3795712"/>
            <a:ext cx="795131" cy="8216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387009" y="2974078"/>
            <a:ext cx="516835" cy="8216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50574" y="2743200"/>
            <a:ext cx="1285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50574" y="4366591"/>
            <a:ext cx="1285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6" idx="2"/>
          </p:cNvCxnSpPr>
          <p:nvPr/>
        </p:nvCxnSpPr>
        <p:spPr>
          <a:xfrm>
            <a:off x="2385391" y="2623930"/>
            <a:ext cx="3001618" cy="76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5"/>
          </p:cNvCxnSpPr>
          <p:nvPr/>
        </p:nvCxnSpPr>
        <p:spPr>
          <a:xfrm flipV="1">
            <a:off x="2414721" y="3604592"/>
            <a:ext cx="2972288" cy="892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6"/>
          </p:cNvCxnSpPr>
          <p:nvPr/>
        </p:nvCxnSpPr>
        <p:spPr>
          <a:xfrm>
            <a:off x="5903844" y="3384895"/>
            <a:ext cx="93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2609" y="2332383"/>
            <a:ext cx="56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768626" y="3896486"/>
            <a:ext cx="56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316356" y="2439264"/>
            <a:ext cx="56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316356" y="3583676"/>
            <a:ext cx="56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w2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070035" y="3179657"/>
            <a:ext cx="56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280452" y="4850296"/>
            <a:ext cx="1934818" cy="5963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Y=w1*x1+w2*x2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639878" y="4850296"/>
            <a:ext cx="2551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Sigmod</a:t>
            </a:r>
            <a:r>
              <a:rPr lang="en-US" dirty="0" smtClean="0"/>
              <a:t> function is used as activation function</a:t>
            </a:r>
          </a:p>
          <a:p>
            <a:r>
              <a:rPr lang="en-US" dirty="0" smtClean="0"/>
              <a:t>So </a:t>
            </a:r>
            <a:r>
              <a:rPr lang="el-GR" dirty="0" smtClean="0"/>
              <a:t>σ(</a:t>
            </a:r>
            <a:r>
              <a:rPr lang="en-US" dirty="0" smtClean="0"/>
              <a:t>y</a:t>
            </a:r>
            <a:r>
              <a:rPr lang="el-GR" dirty="0" smtClean="0"/>
              <a:t>) </a:t>
            </a:r>
            <a:r>
              <a:rPr lang="el-GR" dirty="0"/>
              <a:t>= 1/(1 + e</a:t>
            </a:r>
            <a:r>
              <a:rPr lang="el-GR" baseline="30000" dirty="0" smtClean="0"/>
              <a:t>−</a:t>
            </a:r>
            <a:r>
              <a:rPr lang="en-US" baseline="30000" dirty="0" smtClean="0"/>
              <a:t>y</a:t>
            </a:r>
            <a:r>
              <a:rPr lang="el-GR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w1 =0.5</a:t>
            </a:r>
          </a:p>
          <a:p>
            <a:pPr lvl="1"/>
            <a:r>
              <a:rPr lang="en-US" dirty="0" smtClean="0"/>
              <a:t>W2=-0.3</a:t>
            </a:r>
          </a:p>
          <a:p>
            <a:pPr lvl="1"/>
            <a:r>
              <a:rPr lang="en-US" dirty="0" smtClean="0"/>
              <a:t>b=0.1</a:t>
            </a:r>
          </a:p>
          <a:p>
            <a:r>
              <a:rPr lang="en-US" dirty="0" smtClean="0"/>
              <a:t>This value is taken after number of training in neural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003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Activation function: the process of deciding output after aggregating input is called activation function.</a:t>
            </a:r>
          </a:p>
          <a:p>
            <a:r>
              <a:rPr lang="en-US" dirty="0" smtClean="0"/>
              <a:t>Types:</a:t>
            </a:r>
          </a:p>
          <a:p>
            <a:r>
              <a:rPr lang="en-US" dirty="0" smtClean="0"/>
              <a:t>Linear function: for linear activation function, the output activity is proportional to the total weighted output. </a:t>
            </a:r>
          </a:p>
          <a:p>
            <a:pPr lvl="1"/>
            <a:r>
              <a:rPr lang="en-US" dirty="0"/>
              <a:t>g</a:t>
            </a:r>
            <a:r>
              <a:rPr lang="en-US" dirty="0" smtClean="0"/>
              <a:t>(x)=k*</a:t>
            </a:r>
            <a:r>
              <a:rPr lang="en-US" dirty="0" err="1" smtClean="0"/>
              <a:t>x+c</a:t>
            </a:r>
            <a:r>
              <a:rPr lang="en-US" dirty="0" smtClean="0"/>
              <a:t>, where k and c are constant.</a:t>
            </a:r>
          </a:p>
          <a:p>
            <a:r>
              <a:rPr lang="en-US" dirty="0" smtClean="0"/>
              <a:t>Threshold function: for threshold function, the output are set at one of the two levels, depending on whether the total input is greater than or less than some threshold value.</a:t>
            </a:r>
          </a:p>
          <a:p>
            <a:pPr lvl="1"/>
            <a:r>
              <a:rPr lang="en-US" dirty="0" smtClean="0"/>
              <a:t>g(x)=1, if x&gt;-=k</a:t>
            </a:r>
          </a:p>
          <a:p>
            <a:pPr lvl="1"/>
            <a:r>
              <a:rPr lang="en-US" dirty="0" smtClean="0"/>
              <a:t>g(x)=0, if x&lt;k</a:t>
            </a:r>
          </a:p>
          <a:p>
            <a:r>
              <a:rPr lang="en-US" dirty="0" smtClean="0"/>
              <a:t>Sigmoid function: For sigmoid activation function, the output varies continuously but not linearly as the input changes.</a:t>
            </a:r>
          </a:p>
          <a:p>
            <a:pPr lvl="1"/>
            <a:r>
              <a:rPr lang="en-US" dirty="0" smtClean="0"/>
              <a:t> </a:t>
            </a:r>
            <a:r>
              <a:rPr lang="el-GR" dirty="0" smtClean="0"/>
              <a:t>σ(</a:t>
            </a:r>
            <a:r>
              <a:rPr lang="en-US" dirty="0" smtClean="0"/>
              <a:t>y</a:t>
            </a:r>
            <a:r>
              <a:rPr lang="el-GR" dirty="0" smtClean="0"/>
              <a:t>) = 1/(1 + e</a:t>
            </a:r>
            <a:r>
              <a:rPr lang="el-GR" baseline="30000" dirty="0" smtClean="0"/>
              <a:t>−</a:t>
            </a:r>
            <a:r>
              <a:rPr lang="en-US" baseline="30000" dirty="0" smtClean="0"/>
              <a:t>y</a:t>
            </a:r>
            <a:r>
              <a:rPr lang="el-GR" dirty="0" smtClean="0"/>
              <a:t>)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19984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ANN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Feed-forward network: </a:t>
            </a:r>
          </a:p>
          <a:p>
            <a:pPr lvl="1"/>
            <a:r>
              <a:rPr lang="en-US" dirty="0" smtClean="0"/>
              <a:t>feed-forward ANN allows signal to travel one way only: from input to output. </a:t>
            </a:r>
          </a:p>
          <a:p>
            <a:pPr lvl="1"/>
            <a:r>
              <a:rPr lang="en-US" dirty="0" smtClean="0"/>
              <a:t>There is no feedback( loops) </a:t>
            </a:r>
            <a:r>
              <a:rPr lang="en-US" dirty="0" err="1" smtClean="0"/>
              <a:t>i.e</a:t>
            </a:r>
            <a:r>
              <a:rPr lang="en-US" dirty="0" smtClean="0"/>
              <a:t> the output of any layer </a:t>
            </a:r>
            <a:r>
              <a:rPr lang="en-US" dirty="0" err="1" smtClean="0"/>
              <a:t>doesnot</a:t>
            </a:r>
            <a:r>
              <a:rPr lang="en-US" dirty="0" smtClean="0"/>
              <a:t> affect the same layer. </a:t>
            </a:r>
          </a:p>
          <a:p>
            <a:pPr lvl="1"/>
            <a:r>
              <a:rPr lang="en-US" dirty="0" smtClean="0"/>
              <a:t>This type of ANN are extensively used in pattern </a:t>
            </a:r>
            <a:r>
              <a:rPr lang="en-US" dirty="0" err="1" smtClean="0"/>
              <a:t>recognization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359266" y="4735948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338049" y="5595164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687009" y="4471819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91511" y="5190767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73944" y="5900806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526501" y="4394858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694711" y="5061188"/>
            <a:ext cx="689113" cy="53008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087566" y="4553068"/>
            <a:ext cx="1547189" cy="237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5"/>
            <a:endCxn id="7" idx="2"/>
          </p:cNvCxnSpPr>
          <p:nvPr/>
        </p:nvCxnSpPr>
        <p:spPr>
          <a:xfrm rot="16200000" flipH="1">
            <a:off x="3735784" y="4400083"/>
            <a:ext cx="267405" cy="1844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4"/>
          </p:cNvCxnSpPr>
          <p:nvPr/>
        </p:nvCxnSpPr>
        <p:spPr>
          <a:xfrm>
            <a:off x="2703823" y="5266035"/>
            <a:ext cx="1891744" cy="967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6"/>
          </p:cNvCxnSpPr>
          <p:nvPr/>
        </p:nvCxnSpPr>
        <p:spPr>
          <a:xfrm flipV="1">
            <a:off x="3027162" y="5117361"/>
            <a:ext cx="1648107" cy="74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5"/>
            <a:endCxn id="7" idx="2"/>
          </p:cNvCxnSpPr>
          <p:nvPr/>
        </p:nvCxnSpPr>
        <p:spPr>
          <a:xfrm rot="5400000" flipH="1" flipV="1">
            <a:off x="3562971" y="4819083"/>
            <a:ext cx="591811" cy="1865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5"/>
            <a:endCxn id="8" idx="2"/>
          </p:cNvCxnSpPr>
          <p:nvPr/>
        </p:nvCxnSpPr>
        <p:spPr>
          <a:xfrm rot="16200000" flipH="1">
            <a:off x="3740980" y="5232886"/>
            <a:ext cx="118228" cy="174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6"/>
            <a:endCxn id="9" idx="2"/>
          </p:cNvCxnSpPr>
          <p:nvPr/>
        </p:nvCxnSpPr>
        <p:spPr>
          <a:xfrm flipV="1">
            <a:off x="5376122" y="4659902"/>
            <a:ext cx="1150379" cy="7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10805" y="4974269"/>
            <a:ext cx="1202633" cy="24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5"/>
            <a:endCxn id="10" idx="3"/>
          </p:cNvCxnSpPr>
          <p:nvPr/>
        </p:nvCxnSpPr>
        <p:spPr>
          <a:xfrm rot="5400000" flipH="1" flipV="1">
            <a:off x="5609075" y="5166710"/>
            <a:ext cx="839618" cy="1533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7"/>
            <a:endCxn id="9" idx="3"/>
          </p:cNvCxnSpPr>
          <p:nvPr/>
        </p:nvCxnSpPr>
        <p:spPr>
          <a:xfrm rot="5400000" flipH="1" flipV="1">
            <a:off x="5793022" y="4434000"/>
            <a:ext cx="421080" cy="1247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7"/>
          </p:cNvCxnSpPr>
          <p:nvPr/>
        </p:nvCxnSpPr>
        <p:spPr>
          <a:xfrm flipV="1">
            <a:off x="5262139" y="5692839"/>
            <a:ext cx="1419509" cy="285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4" idx="2"/>
          </p:cNvCxnSpPr>
          <p:nvPr/>
        </p:nvCxnSpPr>
        <p:spPr>
          <a:xfrm>
            <a:off x="1165937" y="4906310"/>
            <a:ext cx="1193329" cy="9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107307" y="5702047"/>
            <a:ext cx="1202630" cy="145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9" idx="6"/>
          </p:cNvCxnSpPr>
          <p:nvPr/>
        </p:nvCxnSpPr>
        <p:spPr>
          <a:xfrm flipV="1">
            <a:off x="7215614" y="4647098"/>
            <a:ext cx="947536" cy="1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0" idx="6"/>
          </p:cNvCxnSpPr>
          <p:nvPr/>
        </p:nvCxnSpPr>
        <p:spPr>
          <a:xfrm flipV="1">
            <a:off x="7383824" y="5320264"/>
            <a:ext cx="993909" cy="5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1879" y="513615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inputs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8166104" y="450770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2342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feedforward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78226" y="2226365"/>
            <a:ext cx="702365" cy="649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a1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378225" y="3810000"/>
            <a:ext cx="702365" cy="649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a2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518451" y="2319131"/>
            <a:ext cx="702365" cy="649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a3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518450" y="3458817"/>
            <a:ext cx="702365" cy="649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a4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744817" y="2749825"/>
            <a:ext cx="702365" cy="6493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a5</a:t>
            </a:r>
            <a:endParaRPr lang="en-US" dirty="0"/>
          </a:p>
        </p:txBody>
      </p:sp>
      <p:cxnSp>
        <p:nvCxnSpPr>
          <p:cNvPr id="10" name="Straight Arrow Connector 9"/>
          <p:cNvCxnSpPr>
            <a:endCxn id="6" idx="2"/>
          </p:cNvCxnSpPr>
          <p:nvPr/>
        </p:nvCxnSpPr>
        <p:spPr>
          <a:xfrm>
            <a:off x="2080590" y="2425665"/>
            <a:ext cx="1437861" cy="218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3"/>
          </p:cNvCxnSpPr>
          <p:nvPr/>
        </p:nvCxnSpPr>
        <p:spPr>
          <a:xfrm flipV="1">
            <a:off x="2080590" y="2873392"/>
            <a:ext cx="1540720" cy="126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072231" y="2712218"/>
            <a:ext cx="1446219" cy="991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7"/>
          </p:cNvCxnSpPr>
          <p:nvPr/>
        </p:nvCxnSpPr>
        <p:spPr>
          <a:xfrm flipV="1">
            <a:off x="1977731" y="3902766"/>
            <a:ext cx="1519976" cy="2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6"/>
            <a:endCxn id="8" idx="2"/>
          </p:cNvCxnSpPr>
          <p:nvPr/>
        </p:nvCxnSpPr>
        <p:spPr>
          <a:xfrm>
            <a:off x="4220816" y="2643810"/>
            <a:ext cx="1524001" cy="430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6"/>
            <a:endCxn id="8" idx="3"/>
          </p:cNvCxnSpPr>
          <p:nvPr/>
        </p:nvCxnSpPr>
        <p:spPr>
          <a:xfrm flipV="1">
            <a:off x="4220815" y="3304086"/>
            <a:ext cx="1626861" cy="479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73604" y="2906663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W1,4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1246391">
            <a:off x="4442635" y="2366377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W3,5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 rot="19850638">
            <a:off x="2259650" y="3334700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W2,3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 rot="21290365">
            <a:off x="2516333" y="3948022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W2,4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781378" y="2307121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W1,3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 rot="20630928">
            <a:off x="4718589" y="3571661"/>
            <a:ext cx="75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W4,5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023651" y="1961322"/>
            <a:ext cx="2809461" cy="464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g3=g(w1,3 *a1 +w2,3 *a2)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6953047" y="2749825"/>
            <a:ext cx="2809461" cy="464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g4=g(w1,4 *a1 +w2,4 *a2)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953046" y="3632468"/>
            <a:ext cx="2809461" cy="464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g5=g(w3,5 *a3 +w4,5 *a4)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6660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Feedback networks (recurrent networks)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8689"/>
            <a:ext cx="10515600" cy="4351338"/>
          </a:xfrm>
        </p:spPr>
        <p:txBody>
          <a:bodyPr/>
          <a:lstStyle/>
          <a:p>
            <a:r>
              <a:rPr lang="en-US" dirty="0" smtClean="0"/>
              <a:t>Feedback networks can have signal travelling in both direction by introducing loops in the network.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09530" y="3140765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709530" y="4220818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326835" y="3014869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393096" y="4047676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393096" y="5368149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010401" y="3213652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10401" y="4756667"/>
            <a:ext cx="556592" cy="66260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266122" y="3213653"/>
            <a:ext cx="2060713" cy="25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>
            <a:off x="2266122" y="3733369"/>
            <a:ext cx="2126974" cy="645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2"/>
          </p:cNvCxnSpPr>
          <p:nvPr/>
        </p:nvCxnSpPr>
        <p:spPr>
          <a:xfrm>
            <a:off x="2266122" y="4756667"/>
            <a:ext cx="2126974" cy="942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6"/>
          </p:cNvCxnSpPr>
          <p:nvPr/>
        </p:nvCxnSpPr>
        <p:spPr>
          <a:xfrm>
            <a:off x="4949688" y="4378981"/>
            <a:ext cx="2060713" cy="739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6"/>
            <a:endCxn id="9" idx="2"/>
          </p:cNvCxnSpPr>
          <p:nvPr/>
        </p:nvCxnSpPr>
        <p:spPr>
          <a:xfrm>
            <a:off x="4883427" y="3346174"/>
            <a:ext cx="2126974" cy="198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1"/>
            <a:endCxn id="4" idx="7"/>
          </p:cNvCxnSpPr>
          <p:nvPr/>
        </p:nvCxnSpPr>
        <p:spPr>
          <a:xfrm flipH="1">
            <a:off x="2184611" y="3111906"/>
            <a:ext cx="2223735" cy="125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266122" y="4568902"/>
            <a:ext cx="2123319" cy="101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0"/>
          </p:cNvCxnSpPr>
          <p:nvPr/>
        </p:nvCxnSpPr>
        <p:spPr>
          <a:xfrm flipH="1" flipV="1">
            <a:off x="2332383" y="4710285"/>
            <a:ext cx="2339009" cy="657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6"/>
            <a:endCxn id="10" idx="3"/>
          </p:cNvCxnSpPr>
          <p:nvPr/>
        </p:nvCxnSpPr>
        <p:spPr>
          <a:xfrm flipV="1">
            <a:off x="4949688" y="5322239"/>
            <a:ext cx="2142224" cy="377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5"/>
          </p:cNvCxnSpPr>
          <p:nvPr/>
        </p:nvCxnSpPr>
        <p:spPr>
          <a:xfrm>
            <a:off x="4801916" y="3580441"/>
            <a:ext cx="2274746" cy="1264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40904" y="3876261"/>
            <a:ext cx="1046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inputs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633593" y="4182790"/>
            <a:ext cx="1046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844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ANN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Image and Video Processing:</a:t>
            </a:r>
          </a:p>
          <a:p>
            <a:pPr lvl="1"/>
            <a:r>
              <a:rPr lang="en-US" dirty="0" smtClean="0"/>
              <a:t>Applications:</a:t>
            </a:r>
          </a:p>
          <a:p>
            <a:pPr lvl="1"/>
            <a:r>
              <a:rPr lang="en-US" dirty="0" smtClean="0"/>
              <a:t>Face recognition (e.g., Facebook photo tagging)</a:t>
            </a:r>
          </a:p>
          <a:p>
            <a:pPr lvl="1"/>
            <a:r>
              <a:rPr lang="en-US" dirty="0" smtClean="0"/>
              <a:t>Object detection (e.g., autonomous vehicles)</a:t>
            </a:r>
          </a:p>
          <a:p>
            <a:pPr lvl="1"/>
            <a:r>
              <a:rPr lang="en-US" dirty="0" smtClean="0"/>
              <a:t>Medical imaging (e.g., tumor detection in X-rays or MRIs)</a:t>
            </a:r>
          </a:p>
          <a:p>
            <a:r>
              <a:rPr lang="en-US" dirty="0" smtClean="0"/>
              <a:t>Natural Language Processing (NLP):</a:t>
            </a:r>
          </a:p>
          <a:p>
            <a:pPr lvl="1"/>
            <a:r>
              <a:rPr lang="en-US" dirty="0" smtClean="0"/>
              <a:t>Applications:</a:t>
            </a:r>
          </a:p>
          <a:p>
            <a:pPr lvl="1"/>
            <a:r>
              <a:rPr lang="en-US" dirty="0" smtClean="0"/>
              <a:t>Machine translation (e.g., Google Translate)</a:t>
            </a:r>
          </a:p>
          <a:p>
            <a:pPr lvl="1"/>
            <a:r>
              <a:rPr lang="en-US" dirty="0" smtClean="0"/>
              <a:t>Text classification (e.g., spam detection)</a:t>
            </a:r>
          </a:p>
          <a:p>
            <a:pPr lvl="1"/>
            <a:r>
              <a:rPr lang="en-US" dirty="0" smtClean="0"/>
              <a:t>Sentiment analysis (e.g., product reviews)</a:t>
            </a:r>
          </a:p>
          <a:p>
            <a:r>
              <a:rPr lang="en-US" dirty="0" smtClean="0"/>
              <a:t>Speech Recognition and Audio Processing:</a:t>
            </a:r>
          </a:p>
          <a:p>
            <a:pPr lvl="1"/>
            <a:r>
              <a:rPr lang="en-US" dirty="0" smtClean="0"/>
              <a:t>Applications:</a:t>
            </a:r>
          </a:p>
          <a:p>
            <a:pPr lvl="1"/>
            <a:r>
              <a:rPr lang="en-US" dirty="0" smtClean="0"/>
              <a:t>Voice assistants (e.g., Google Assistant, Alexa)</a:t>
            </a:r>
          </a:p>
          <a:p>
            <a:pPr lvl="1"/>
            <a:r>
              <a:rPr lang="en-US" dirty="0" smtClean="0"/>
              <a:t>Automatic transcription (e.g., YouTube captions)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514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Healthcare and Bioinformatics:</a:t>
            </a:r>
          </a:p>
          <a:p>
            <a:pPr lvl="1"/>
            <a:r>
              <a:rPr lang="en-US" dirty="0" smtClean="0"/>
              <a:t>Applications:</a:t>
            </a:r>
          </a:p>
          <a:p>
            <a:pPr lvl="1"/>
            <a:r>
              <a:rPr lang="en-US" dirty="0" smtClean="0"/>
              <a:t>Disease prediction (e.g., cancer, diabetes)</a:t>
            </a:r>
          </a:p>
          <a:p>
            <a:pPr lvl="1"/>
            <a:r>
              <a:rPr lang="en-US" dirty="0" smtClean="0"/>
              <a:t>Drug discovery</a:t>
            </a:r>
          </a:p>
          <a:p>
            <a:r>
              <a:rPr lang="en-US" dirty="0" smtClean="0"/>
              <a:t>Finance and Banking</a:t>
            </a:r>
          </a:p>
          <a:p>
            <a:pPr lvl="1"/>
            <a:r>
              <a:rPr lang="en-US" b="1" dirty="0" smtClean="0"/>
              <a:t> </a:t>
            </a:r>
            <a:r>
              <a:rPr lang="en-US" dirty="0" smtClean="0"/>
              <a:t>Applications:</a:t>
            </a:r>
          </a:p>
          <a:p>
            <a:pPr lvl="1"/>
            <a:r>
              <a:rPr lang="en-US" dirty="0" smtClean="0"/>
              <a:t>Stock market prediction</a:t>
            </a:r>
          </a:p>
          <a:p>
            <a:pPr lvl="1"/>
            <a:r>
              <a:rPr lang="en-US" dirty="0" smtClean="0"/>
              <a:t>Credit scoring</a:t>
            </a:r>
          </a:p>
          <a:p>
            <a:pPr lvl="1"/>
            <a:r>
              <a:rPr lang="en-US" dirty="0" smtClean="0"/>
              <a:t>Fraud detection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85402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Boltzmann Machine (BM)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Boltzmann Machine is a type of stochastic recurrent neural network that uses a probabilistic approach to model data distributions </a:t>
            </a:r>
            <a:r>
              <a:rPr lang="en-US" dirty="0" err="1" smtClean="0"/>
              <a:t>i.e</a:t>
            </a:r>
            <a:r>
              <a:rPr lang="en-US" dirty="0" smtClean="0"/>
              <a:t> Instead of memorizing the training data, the Boltzmann Machine learns how likely different patterns are.</a:t>
            </a:r>
          </a:p>
          <a:p>
            <a:r>
              <a:rPr lang="en-US" dirty="0" smtClean="0"/>
              <a:t>It is mainly used for unsupervised learning, meaning it learns patterns from input data without requiring labeled outputs.</a:t>
            </a:r>
          </a:p>
          <a:p>
            <a:r>
              <a:rPr lang="en-US" dirty="0" smtClean="0"/>
              <a:t>It consists of a set of neurons connected in a network, where each neuron can take binary states (0 or 1). </a:t>
            </a:r>
          </a:p>
          <a:p>
            <a:r>
              <a:rPr lang="en-US" dirty="0" smtClean="0"/>
              <a:t>These networks are energy-based models that learn by minimizing an energy function, similar to how physical systems reach equilibrium.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 energy → Stable and more likely. </a:t>
            </a:r>
          </a:p>
          <a:p>
            <a:r>
              <a:rPr lang="en-US" dirty="0" smtClean="0"/>
              <a:t>High energy → Unstable and less likely.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Concepts of natural language understanding and natural language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Natural Language Processing (NLP)</a:t>
            </a:r>
            <a:r>
              <a:rPr lang="en-US" dirty="0" smtClean="0"/>
              <a:t> is divided into two major areas:</a:t>
            </a:r>
          </a:p>
          <a:p>
            <a:pPr lvl="1"/>
            <a:r>
              <a:rPr lang="en-US" b="1" dirty="0" smtClean="0"/>
              <a:t>Natural Language Understanding (NLU)</a:t>
            </a:r>
            <a:r>
              <a:rPr lang="en-US" dirty="0" smtClean="0"/>
              <a:t> – Understanding human language. </a:t>
            </a:r>
          </a:p>
          <a:p>
            <a:pPr lvl="1"/>
            <a:r>
              <a:rPr lang="en-US" b="1" dirty="0" smtClean="0"/>
              <a:t>Natural Language Generation (NLG)</a:t>
            </a:r>
            <a:r>
              <a:rPr lang="en-US" dirty="0" smtClean="0"/>
              <a:t> – Generating human language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Natural Language Understanding (NLU) is the branch of AI that enables a computer to </a:t>
            </a:r>
            <a:r>
              <a:rPr lang="en-US" b="1" dirty="0" smtClean="0"/>
              <a:t>understand the meaning of human language</a:t>
            </a:r>
            <a:r>
              <a:rPr lang="en-US" dirty="0" smtClean="0"/>
              <a:t> (text or speech).</a:t>
            </a:r>
          </a:p>
          <a:p>
            <a:r>
              <a:rPr lang="en-US" dirty="0" smtClean="0"/>
              <a:t>It converts </a:t>
            </a:r>
            <a:r>
              <a:rPr lang="en-US" b="1" dirty="0" smtClean="0"/>
              <a:t>human language → machine-understandable representation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Input:</a:t>
            </a:r>
          </a:p>
          <a:p>
            <a:r>
              <a:rPr lang="en-US" dirty="0" smtClean="0"/>
              <a:t>"Book me a flight from Kathmandu to </a:t>
            </a:r>
            <a:r>
              <a:rPr lang="en-US" dirty="0" err="1" smtClean="0"/>
              <a:t>Pokhara</a:t>
            </a:r>
            <a:r>
              <a:rPr lang="en-US" dirty="0" smtClean="0"/>
              <a:t> tomorrow."</a:t>
            </a:r>
          </a:p>
          <a:p>
            <a:r>
              <a:rPr lang="en-US" dirty="0" smtClean="0"/>
              <a:t>The computer should understand:</a:t>
            </a:r>
          </a:p>
          <a:p>
            <a:r>
              <a:rPr lang="en-US" dirty="0" smtClean="0"/>
              <a:t>Intent: Book flight </a:t>
            </a:r>
          </a:p>
          <a:p>
            <a:r>
              <a:rPr lang="en-US" dirty="0" smtClean="0"/>
              <a:t>Source: Kathmandu </a:t>
            </a:r>
          </a:p>
          <a:p>
            <a:r>
              <a:rPr lang="en-US" dirty="0" smtClean="0"/>
              <a:t>Destination: </a:t>
            </a:r>
            <a:r>
              <a:rPr lang="en-US" dirty="0" err="1" smtClean="0"/>
              <a:t>Pokhara</a:t>
            </a:r>
            <a:r>
              <a:rPr lang="en-US" dirty="0" smtClean="0"/>
              <a:t> </a:t>
            </a:r>
          </a:p>
          <a:p>
            <a:r>
              <a:rPr lang="en-US" dirty="0" smtClean="0"/>
              <a:t>Date: Tomorrow </a:t>
            </a:r>
          </a:p>
          <a:p>
            <a:r>
              <a:rPr lang="en-US" dirty="0" smtClean="0"/>
              <a:t>The computer does </a:t>
            </a:r>
            <a:r>
              <a:rPr lang="en-US" b="1" dirty="0" smtClean="0"/>
              <a:t>not</a:t>
            </a:r>
            <a:r>
              <a:rPr lang="en-US" dirty="0" smtClean="0"/>
              <a:t> simply see words—it understands what they mean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Natural </a:t>
            </a:r>
            <a:r>
              <a:rPr lang="en-US" dirty="0" smtClean="0"/>
              <a:t>Language Generation (NLG) is the branch of AI that </a:t>
            </a:r>
            <a:r>
              <a:rPr lang="en-US" b="1" dirty="0" smtClean="0"/>
              <a:t>converts machine data or internal representations into human-readable language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converts </a:t>
            </a:r>
            <a:r>
              <a:rPr lang="en-US" b="1" dirty="0" smtClean="0"/>
              <a:t>machine representation → human language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Computer data:</a:t>
            </a:r>
          </a:p>
          <a:p>
            <a:r>
              <a:rPr lang="en-US" dirty="0" smtClean="0"/>
              <a:t>Temperature = 35°C Weather = Sunny</a:t>
            </a:r>
          </a:p>
          <a:p>
            <a:r>
              <a:rPr lang="en-US" dirty="0" smtClean="0"/>
              <a:t>Generated sentence:</a:t>
            </a:r>
          </a:p>
          <a:p>
            <a:r>
              <a:rPr lang="en-US" dirty="0" smtClean="0"/>
              <a:t>"Today's weather is sunny with a temperature of 35°C."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Natural Language Processing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95437" y="2096294"/>
            <a:ext cx="900112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Lexical Analysis (Word-Level Analysis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Lexical </a:t>
            </a:r>
            <a:r>
              <a:rPr lang="en-US" sz="2000" dirty="0" smtClean="0"/>
              <a:t>analysis is the first step of NLP. It breaks the input sentence into words or tokens and identifies their basic properties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Example</a:t>
            </a:r>
            <a:endParaRPr lang="en-US" sz="2000" dirty="0" smtClean="0"/>
          </a:p>
          <a:p>
            <a:r>
              <a:rPr lang="en-US" sz="2000" dirty="0" smtClean="0"/>
              <a:t>Sentence:</a:t>
            </a:r>
          </a:p>
          <a:p>
            <a:r>
              <a:rPr lang="en-US" sz="2000" dirty="0" smtClean="0"/>
              <a:t>"The students are studying."</a:t>
            </a:r>
          </a:p>
          <a:p>
            <a:r>
              <a:rPr lang="en-US" sz="2000" dirty="0" smtClean="0"/>
              <a:t>After lexical analysis</a:t>
            </a:r>
            <a:r>
              <a:rPr lang="en-US" sz="2000" dirty="0" smtClean="0"/>
              <a:t>:</a:t>
            </a:r>
          </a:p>
          <a:p>
            <a:endParaRPr lang="en-US" sz="2400" dirty="0" smtClean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1337" y="3788230"/>
            <a:ext cx="9431383" cy="2717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527" y="2419190"/>
            <a:ext cx="767715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Morphological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Morphological </a:t>
            </a:r>
            <a:r>
              <a:rPr lang="en-US" dirty="0" smtClean="0"/>
              <a:t>analysis studies the internal structure of words using morphemes, the smallest units of meaning.</a:t>
            </a:r>
          </a:p>
          <a:p>
            <a:pPr fontAlgn="base"/>
            <a:r>
              <a:rPr lang="en-US" dirty="0" smtClean="0"/>
              <a:t>Stemming</a:t>
            </a:r>
            <a:r>
              <a:rPr lang="en-US" dirty="0" smtClean="0"/>
              <a:t> reduces words to their root form like "running" to "run".</a:t>
            </a:r>
          </a:p>
          <a:p>
            <a:pPr fontAlgn="base"/>
            <a:r>
              <a:rPr lang="en-US" dirty="0" smtClean="0"/>
              <a:t>Lemmatization converts words to their base or dictionary form considering the context like "better" becomes "good".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Syntactic Analysis (Parsing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Syntactic </a:t>
            </a:r>
            <a:r>
              <a:rPr lang="en-US" dirty="0" smtClean="0"/>
              <a:t>analysis checks whether the sentence follows the grammatical rules of the language and determines the relationship between words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Sentence:</a:t>
            </a:r>
          </a:p>
          <a:p>
            <a:r>
              <a:rPr lang="en-US" dirty="0" smtClean="0"/>
              <a:t>"Ram eats an apple."</a:t>
            </a:r>
          </a:p>
          <a:p>
            <a:r>
              <a:rPr lang="en-US" dirty="0" smtClean="0"/>
              <a:t>Structure:</a:t>
            </a:r>
          </a:p>
          <a:p>
            <a:r>
              <a:rPr lang="en-US" dirty="0" smtClean="0"/>
              <a:t>Subject </a:t>
            </a:r>
            <a:r>
              <a:rPr lang="en-US" dirty="0" smtClean="0"/>
              <a:t>: Ram </a:t>
            </a:r>
            <a:endParaRPr lang="en-US" dirty="0" smtClean="0"/>
          </a:p>
          <a:p>
            <a:r>
              <a:rPr lang="en-US" dirty="0" smtClean="0"/>
              <a:t>Verb </a:t>
            </a:r>
            <a:r>
              <a:rPr lang="en-US" dirty="0" smtClean="0"/>
              <a:t>: eats </a:t>
            </a:r>
            <a:endParaRPr lang="en-US" dirty="0" smtClean="0"/>
          </a:p>
          <a:p>
            <a:r>
              <a:rPr lang="en-US" dirty="0" smtClean="0"/>
              <a:t>Object </a:t>
            </a:r>
            <a:r>
              <a:rPr lang="en-US" dirty="0" smtClean="0"/>
              <a:t>: apple</a:t>
            </a:r>
          </a:p>
          <a:p>
            <a:r>
              <a:rPr lang="en-US" dirty="0" smtClean="0"/>
              <a:t>If the sentence is:</a:t>
            </a:r>
          </a:p>
          <a:p>
            <a:r>
              <a:rPr lang="en-US" dirty="0" smtClean="0"/>
              <a:t>"Apple Ram eats"</a:t>
            </a:r>
          </a:p>
          <a:p>
            <a:r>
              <a:rPr lang="en-US" dirty="0" smtClean="0"/>
              <a:t>The parser recognizes that the word order is grammatically incorrect in English.</a:t>
            </a:r>
          </a:p>
          <a:p>
            <a:r>
              <a:rPr lang="en-US" b="1" dirty="0" smtClean="0"/>
              <a:t>Output:</a:t>
            </a:r>
            <a:r>
              <a:rPr lang="en-US" dirty="0" smtClean="0"/>
              <a:t> The grammatical structure of the sentence.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Semantic </a:t>
            </a:r>
            <a:r>
              <a:rPr lang="en-US" b="1" dirty="0" smtClean="0"/>
              <a:t>Analysis (Meaning Analysis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Semantic </a:t>
            </a:r>
            <a:r>
              <a:rPr lang="en-US" dirty="0" smtClean="0"/>
              <a:t>analysis determines the </a:t>
            </a:r>
            <a:r>
              <a:rPr lang="en-US" b="1" dirty="0" smtClean="0"/>
              <a:t>meaning</a:t>
            </a:r>
            <a:r>
              <a:rPr lang="en-US" dirty="0" smtClean="0"/>
              <a:t> of the sentence after its grammatical structure has been identified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Sentence:</a:t>
            </a:r>
          </a:p>
          <a:p>
            <a:r>
              <a:rPr lang="en-US" dirty="0" smtClean="0"/>
              <a:t>"Ram drinks water."</a:t>
            </a:r>
          </a:p>
          <a:p>
            <a:r>
              <a:rPr lang="en-US" dirty="0" smtClean="0"/>
              <a:t>Computer understands:</a:t>
            </a:r>
          </a:p>
          <a:p>
            <a:r>
              <a:rPr lang="en-US" dirty="0" smtClean="0"/>
              <a:t>Person : </a:t>
            </a:r>
            <a:r>
              <a:rPr lang="en-US" dirty="0" smtClean="0"/>
              <a:t>Ram, </a:t>
            </a:r>
            <a:r>
              <a:rPr lang="en-US" dirty="0" smtClean="0"/>
              <a:t>Action : </a:t>
            </a:r>
            <a:r>
              <a:rPr lang="en-US" dirty="0" smtClean="0"/>
              <a:t>Drink, </a:t>
            </a:r>
            <a:r>
              <a:rPr lang="en-US" dirty="0" smtClean="0"/>
              <a:t>Object : </a:t>
            </a:r>
            <a:r>
              <a:rPr lang="en-US" dirty="0" smtClean="0"/>
              <a:t>Water</a:t>
            </a:r>
          </a:p>
          <a:p>
            <a:r>
              <a:rPr lang="en-US" dirty="0" smtClean="0"/>
              <a:t>Another example:</a:t>
            </a:r>
          </a:p>
          <a:p>
            <a:r>
              <a:rPr lang="en-US" dirty="0" smtClean="0"/>
              <a:t>"The bank is closed."</a:t>
            </a:r>
          </a:p>
          <a:p>
            <a:r>
              <a:rPr lang="en-US" dirty="0" smtClean="0"/>
              <a:t>Semantic analysis tries to determine whether </a:t>
            </a:r>
            <a:r>
              <a:rPr lang="en-US" b="1" dirty="0" smtClean="0"/>
              <a:t>bank</a:t>
            </a:r>
            <a:r>
              <a:rPr lang="en-US" dirty="0" smtClean="0"/>
              <a:t> means:</a:t>
            </a:r>
          </a:p>
          <a:p>
            <a:r>
              <a:rPr lang="en-US" dirty="0" smtClean="0"/>
              <a:t>A financial institution, or </a:t>
            </a:r>
          </a:p>
          <a:p>
            <a:r>
              <a:rPr lang="en-US" dirty="0" smtClean="0"/>
              <a:t>The side of a river. </a:t>
            </a:r>
          </a:p>
          <a:p>
            <a:r>
              <a:rPr lang="en-US" b="1" dirty="0" smtClean="0"/>
              <a:t>Output:</a:t>
            </a:r>
            <a:r>
              <a:rPr lang="en-US" dirty="0" smtClean="0"/>
              <a:t> The meaning of the sentence.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Discourse </a:t>
            </a:r>
            <a:r>
              <a:rPr lang="en-US" b="1" dirty="0" smtClean="0"/>
              <a:t>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Discourse </a:t>
            </a:r>
            <a:r>
              <a:rPr lang="en-US" dirty="0" smtClean="0"/>
              <a:t>integration connects the current sentence with previous sentences to understand the overall context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Ram bought a laptop. He uses it every day.</a:t>
            </a:r>
          </a:p>
          <a:p>
            <a:r>
              <a:rPr lang="en-US" dirty="0" smtClean="0"/>
              <a:t>The computer identifies:</a:t>
            </a:r>
          </a:p>
          <a:p>
            <a:r>
              <a:rPr lang="en-US" b="1" dirty="0" smtClean="0"/>
              <a:t>He</a:t>
            </a:r>
            <a:r>
              <a:rPr lang="en-US" dirty="0" smtClean="0"/>
              <a:t> → Ram </a:t>
            </a:r>
          </a:p>
          <a:p>
            <a:r>
              <a:rPr lang="en-US" b="1" dirty="0" smtClean="0"/>
              <a:t>it</a:t>
            </a:r>
            <a:r>
              <a:rPr lang="en-US" dirty="0" smtClean="0"/>
              <a:t> → Laptop </a:t>
            </a:r>
          </a:p>
          <a:p>
            <a:r>
              <a:rPr lang="en-US" dirty="0" smtClean="0"/>
              <a:t>Without discourse analysis, the pronouns would be ambiguous.</a:t>
            </a:r>
          </a:p>
          <a:p>
            <a:r>
              <a:rPr lang="en-US" b="1" dirty="0" smtClean="0"/>
              <a:t>Output:</a:t>
            </a:r>
            <a:r>
              <a:rPr lang="en-US" dirty="0" smtClean="0"/>
              <a:t> Context-aware understanding across multiple sentences</a:t>
            </a:r>
            <a:r>
              <a:rPr lang="en-US" dirty="0" smtClean="0"/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Pragmatic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Pragmatic </a:t>
            </a:r>
            <a:r>
              <a:rPr lang="en-US" dirty="0" smtClean="0"/>
              <a:t>analysis determines the speaker's </a:t>
            </a:r>
            <a:r>
              <a:rPr lang="en-US" b="1" dirty="0" smtClean="0"/>
              <a:t>intended meaning</a:t>
            </a:r>
            <a:r>
              <a:rPr lang="en-US" dirty="0" smtClean="0"/>
              <a:t> using context, background knowledge, and real-world situations.</a:t>
            </a:r>
          </a:p>
          <a:p>
            <a:r>
              <a:rPr lang="en-US" dirty="0" smtClean="0"/>
              <a:t>Teacher says:</a:t>
            </a:r>
          </a:p>
          <a:p>
            <a:r>
              <a:rPr lang="en-US" dirty="0" smtClean="0"/>
              <a:t>"Can you open the window?"</a:t>
            </a:r>
          </a:p>
          <a:p>
            <a:r>
              <a:rPr lang="en-US" dirty="0" smtClean="0"/>
              <a:t>Literal meaning:</a:t>
            </a:r>
          </a:p>
          <a:p>
            <a:pPr lvl="1"/>
            <a:r>
              <a:rPr lang="en-US" dirty="0" smtClean="0"/>
              <a:t>Asking whether the student has the ability. </a:t>
            </a:r>
          </a:p>
          <a:p>
            <a:pPr lvl="1"/>
            <a:r>
              <a:rPr lang="en-US" dirty="0" smtClean="0"/>
              <a:t>Actual meaning:</a:t>
            </a:r>
          </a:p>
          <a:p>
            <a:pPr lvl="1"/>
            <a:r>
              <a:rPr lang="en-US" dirty="0" smtClean="0"/>
              <a:t>A polite request to open the window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</TotalTime>
  <Words>1003</Words>
  <Application>Microsoft Office PowerPoint</Application>
  <PresentationFormat>Custom</PresentationFormat>
  <Paragraphs>173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Neural Network and Natural Language Processing</vt:lpstr>
      <vt:lpstr>Artificial neural network</vt:lpstr>
      <vt:lpstr> </vt:lpstr>
      <vt:lpstr>Slide 4</vt:lpstr>
      <vt:lpstr>Slide 5</vt:lpstr>
      <vt:lpstr>Slide 6</vt:lpstr>
      <vt:lpstr>Types of ANN</vt:lpstr>
      <vt:lpstr>Example of feedforward</vt:lpstr>
      <vt:lpstr>Feedback networks (recurrent networks)</vt:lpstr>
      <vt:lpstr>Application of ANN</vt:lpstr>
      <vt:lpstr>Slide 11</vt:lpstr>
      <vt:lpstr>Boltzmann Machine (BM)</vt:lpstr>
      <vt:lpstr>Slide 13</vt:lpstr>
      <vt:lpstr>Concepts of natural language understanding and natural language generation</vt:lpstr>
      <vt:lpstr>Slide 15</vt:lpstr>
      <vt:lpstr>Steps in Natural Language Processing</vt:lpstr>
      <vt:lpstr>Lexical Analysis (Word-Level Analysis)</vt:lpstr>
      <vt:lpstr>Slide 18</vt:lpstr>
      <vt:lpstr>Morphological Analysis</vt:lpstr>
      <vt:lpstr>Syntactic Analysis (Parsing)</vt:lpstr>
      <vt:lpstr>Semantic Analysis (Meaning Analysis)</vt:lpstr>
      <vt:lpstr>Discourse Integration</vt:lpstr>
      <vt:lpstr>Pragmatic Analysis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Lt Sumit Bidari</dc:creator>
  <cp:lastModifiedBy>Acer</cp:lastModifiedBy>
  <cp:revision>91</cp:revision>
  <dcterms:created xsi:type="dcterms:W3CDTF">2025-08-20T05:58:25Z</dcterms:created>
  <dcterms:modified xsi:type="dcterms:W3CDTF">2026-07-15T15:53:03Z</dcterms:modified>
</cp:coreProperties>
</file>