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B93B0B-F019-4C4A-8C46-4246CD980F6F}" type="datetimeFigureOut">
              <a:rPr lang="en-US" smtClean="0"/>
              <a:pPr/>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B93B0B-F019-4C4A-8C46-4246CD980F6F}" type="datetimeFigureOut">
              <a:rPr lang="en-US" smtClean="0"/>
              <a:pPr/>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B93B0B-F019-4C4A-8C46-4246CD980F6F}" type="datetimeFigureOut">
              <a:rPr lang="en-US" smtClean="0"/>
              <a:pPr/>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B93B0B-F019-4C4A-8C46-4246CD980F6F}" type="datetimeFigureOut">
              <a:rPr lang="en-US" smtClean="0"/>
              <a:pPr/>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B93B0B-F019-4C4A-8C46-4246CD980F6F}" type="datetimeFigureOut">
              <a:rPr lang="en-US" smtClean="0"/>
              <a:pPr/>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B93B0B-F019-4C4A-8C46-4246CD980F6F}" type="datetimeFigureOut">
              <a:rPr lang="en-US" smtClean="0"/>
              <a:pPr/>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B93B0B-F019-4C4A-8C46-4246CD980F6F}" type="datetimeFigureOut">
              <a:rPr lang="en-US" smtClean="0"/>
              <a:pPr/>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B93B0B-F019-4C4A-8C46-4246CD980F6F}" type="datetimeFigureOut">
              <a:rPr lang="en-US" smtClean="0"/>
              <a:pPr/>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B93B0B-F019-4C4A-8C46-4246CD980F6F}" type="datetimeFigureOut">
              <a:rPr lang="en-US" smtClean="0"/>
              <a:pPr/>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B93B0B-F019-4C4A-8C46-4246CD980F6F}" type="datetimeFigureOut">
              <a:rPr lang="en-US" smtClean="0"/>
              <a:pPr/>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B93B0B-F019-4C4A-8C46-4246CD980F6F}" type="datetimeFigureOut">
              <a:rPr lang="en-US" smtClean="0"/>
              <a:pPr/>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23B44-C28A-4FA6-9F17-49855E0259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93B0B-F019-4C4A-8C46-4246CD980F6F}" type="datetimeFigureOut">
              <a:rPr lang="en-US" smtClean="0"/>
              <a:pPr/>
              <a:t>7/12/2026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23B44-C28A-4FA6-9F17-49855E0259E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Learning</a:t>
            </a:r>
            <a:endParaRPr lang="en-US" dirty="0"/>
          </a:p>
        </p:txBody>
      </p:sp>
      <p:sp>
        <p:nvSpPr>
          <p:cNvPr id="3" name="Subtitle 2"/>
          <p:cNvSpPr>
            <a:spLocks noGrp="1"/>
          </p:cNvSpPr>
          <p:nvPr>
            <p:ph type="subTitle" idx="1"/>
          </p:nvPr>
        </p:nvSpPr>
        <p:spPr/>
        <p:txBody>
          <a:bodyPr/>
          <a:lstStyle/>
          <a:p>
            <a:r>
              <a:rPr lang="en-US" dirty="0" smtClean="0"/>
              <a:t>Chapter 4</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Rote Learning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Rote learning refers to the memorization process by which facts or knowledge are memorized by repeated recital.</a:t>
            </a:r>
          </a:p>
          <a:p>
            <a:r>
              <a:rPr lang="en-US" dirty="0" smtClean="0"/>
              <a:t> In artificial intelligence, the process can be applied to algorithms that remember data. </a:t>
            </a:r>
          </a:p>
          <a:p>
            <a:r>
              <a:rPr lang="en-US" dirty="0" smtClean="0"/>
              <a:t>Volumes of data are handled by machines and stored for future reference.</a:t>
            </a:r>
          </a:p>
          <a:p>
            <a:r>
              <a:rPr lang="en-US" dirty="0" smtClean="0"/>
              <a:t> For example, an AI model can remember a set of images so that it can identify similar images in the future.</a:t>
            </a:r>
          </a:p>
          <a:p>
            <a:r>
              <a:rPr lang="en-US" dirty="0" smtClean="0"/>
              <a:t>Machines are able to remember information easily that has been learned, and this makes decision-making effective. </a:t>
            </a:r>
          </a:p>
          <a:p>
            <a:r>
              <a:rPr lang="en-US" dirty="0" smtClean="0"/>
              <a:t>Therefore, it is restrictive, especially when applied to solve complex AI problems.</a:t>
            </a:r>
            <a:endParaRPr lang="en-US" dirty="0"/>
          </a:p>
        </p:txBody>
      </p:sp>
    </p:spTree>
    <p:extLst>
      <p:ext uri="{BB962C8B-B14F-4D97-AF65-F5344CB8AC3E}">
        <p14:creationId xmlns:p14="http://schemas.microsoft.com/office/powerpoint/2010/main" xmlns="" val="725863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For example, it is essential in operations like pattern recognition, classification, and decision-making. </a:t>
            </a:r>
          </a:p>
          <a:p>
            <a:r>
              <a:rPr lang="en-US" dirty="0" smtClean="0"/>
              <a:t>Rote learning-trained computers can identify objects in images or speech patterns. </a:t>
            </a:r>
          </a:p>
          <a:p>
            <a:r>
              <a:rPr lang="en-US" dirty="0" smtClean="0"/>
              <a:t>Moreover, it is not sufficient for operations that require creativity or deep understanding. </a:t>
            </a:r>
          </a:p>
          <a:p>
            <a:r>
              <a:rPr lang="en-US" dirty="0" smtClean="0"/>
              <a:t>In addition, rote learning in AI can only operate within the scope of memorized data.</a:t>
            </a:r>
          </a:p>
          <a:p>
            <a:pPr fontAlgn="base"/>
            <a:r>
              <a:rPr lang="en-US" dirty="0" smtClean="0"/>
              <a:t>While rote learning in AI has its strengths, it has several significant weaknesses. Its greatest weakness is that it cannot generalize.</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dirty="0" smtClean="0"/>
              <a:t> For instance, rote learning-based AI models will not perform well on tasks outside the memorized data.</a:t>
            </a:r>
          </a:p>
          <a:p>
            <a:pPr fontAlgn="base"/>
            <a:r>
              <a:rPr lang="en-US" dirty="0" smtClean="0"/>
              <a:t> This is because rote learning does not lean toward deep learning or adaptation.</a:t>
            </a:r>
          </a:p>
          <a:p>
            <a:pPr fontAlgn="base"/>
            <a:r>
              <a:rPr lang="en-US" dirty="0" smtClean="0"/>
              <a:t> Rote learning-based AI models will not be able to handle new or unforeseen conditions well.</a:t>
            </a:r>
          </a:p>
          <a:p>
            <a:r>
              <a:rPr lang="en-US" dirty="0" smtClean="0"/>
              <a:t>Additionally, memorization in AI can also lead to </a:t>
            </a:r>
            <a:r>
              <a:rPr lang="en-US" dirty="0" err="1" smtClean="0"/>
              <a:t>overfitting</a:t>
            </a:r>
            <a:r>
              <a:rPr lang="en-US" dirty="0" smtClean="0"/>
              <a:t>.</a:t>
            </a:r>
          </a:p>
          <a:p>
            <a:r>
              <a:rPr lang="en-US" dirty="0" err="1" smtClean="0"/>
              <a:t>Overfitting</a:t>
            </a:r>
            <a:r>
              <a:rPr lang="en-US" dirty="0" smtClean="0"/>
              <a:t> occurs when a machine has learned the training data too well. </a:t>
            </a:r>
          </a:p>
          <a:p>
            <a:r>
              <a:rPr lang="en-US" dirty="0" smtClean="0"/>
              <a:t>This hinders the machine from reacting to new, unseen data. </a:t>
            </a:r>
          </a:p>
          <a:p>
            <a:r>
              <a:rPr lang="en-US" dirty="0" smtClean="0"/>
              <a:t>This is a very serious issue in the creation of AI because it limits the system to be inflexible.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Learning by Analogy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An analogy is essentially a bridge: it connects something we don’t fully understand to something we already know.</a:t>
            </a:r>
          </a:p>
          <a:p>
            <a:r>
              <a:rPr lang="en-US" dirty="0" smtClean="0"/>
              <a:t> It’s a cognitive shortcut our brains love because it transforms abstract, complex ideas into something intuitive and relatable. </a:t>
            </a:r>
          </a:p>
          <a:p>
            <a:r>
              <a:rPr lang="en-US" dirty="0" smtClean="0"/>
              <a:t>For example, comparing data packets traveling through a network to cars moving through city traffic instantly makes concepts like latency, congestion, and routing much easier to </a:t>
            </a:r>
            <a:r>
              <a:rPr lang="en-US" dirty="0" err="1" smtClean="0"/>
              <a:t>visualise</a:t>
            </a:r>
            <a:r>
              <a:rPr lang="en-US" dirty="0" smtClean="0"/>
              <a: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When we grasp a concept by analogy, the brain performs something remarkable: it maps relationships from something familiar (the “source”) to something new or abstract (the “target”). </a:t>
            </a:r>
          </a:p>
          <a:p>
            <a:r>
              <a:rPr lang="en-US" dirty="0" smtClean="0"/>
              <a:t>This process engages several key cognitive systems, including those responsible for reasoning, memory, and abstraction — effectively lighting up the mind as it builds connections between old and new ideas. </a:t>
            </a:r>
          </a:p>
          <a:p>
            <a:r>
              <a:rPr lang="en-US" dirty="0" smtClean="0"/>
              <a:t>Specifically, it activates several processes in the brain: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Activation of associative networks</a:t>
            </a:r>
            <a:r>
              <a:rPr lang="en-US" dirty="0" smtClean="0"/>
              <a:t/>
            </a:r>
            <a:br>
              <a:rPr lang="en-US" dirty="0" smtClean="0"/>
            </a:br>
            <a:r>
              <a:rPr lang="en-US" dirty="0" smtClean="0"/>
              <a:t>Analogies link two separate knowledge networks in your brain. For example, comparing electric current to water flow transfers your intuitive understanding of water (pressure, flow, blockage) to electricity, strengthening neural pathways for easier recall.</a:t>
            </a:r>
          </a:p>
          <a:p>
            <a:r>
              <a:rPr lang="en-US" b="1" dirty="0" smtClean="0"/>
              <a:t>Pattern recognition and relational mapping</a:t>
            </a:r>
            <a:r>
              <a:rPr lang="en-US" dirty="0" smtClean="0"/>
              <a:t/>
            </a:r>
            <a:br>
              <a:rPr lang="en-US" dirty="0" smtClean="0"/>
            </a:br>
            <a:r>
              <a:rPr lang="en-US" dirty="0" smtClean="0"/>
              <a:t>The prefrontal cortex and parietal regions handle holding both ideas in mind, identifying how relationships match, and focusing on structure rather than superficial details. When you say “the atom is like a solar system,” your brain maps the relationships, not the literal appearance.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Dopamine and the “Aha!” moment</a:t>
            </a:r>
            <a:r>
              <a:rPr lang="en-US" dirty="0" smtClean="0"/>
              <a:t/>
            </a:r>
            <a:br>
              <a:rPr lang="en-US" dirty="0" smtClean="0"/>
            </a:br>
            <a:r>
              <a:rPr lang="en-US" dirty="0" smtClean="0"/>
              <a:t>When an analogy clicks, your brain releases dopamine, giving that satisfying “Aha!” feeling. This emotional reward reinforces learning and strengthens neural connections.</a:t>
            </a:r>
          </a:p>
          <a:p>
            <a:r>
              <a:rPr lang="en-US" b="1" dirty="0" smtClean="0"/>
              <a:t>Integration into existing schemas</a:t>
            </a:r>
            <a:r>
              <a:rPr lang="en-US" dirty="0" smtClean="0"/>
              <a:t/>
            </a:r>
            <a:br>
              <a:rPr lang="en-US" dirty="0" smtClean="0"/>
            </a:br>
            <a:r>
              <a:rPr lang="en-US" dirty="0" smtClean="0"/>
              <a:t>Analogies act as bridges, connecting new concepts to what you already know. Once the connection is made, the new idea can stand on its own in your mental framework.</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Inductive Learning</a:t>
            </a:r>
            <a:endParaRPr lang="en-US" dirty="0"/>
          </a:p>
        </p:txBody>
      </p:sp>
      <p:sp>
        <p:nvSpPr>
          <p:cNvPr id="3" name="Content Placeholder 2"/>
          <p:cNvSpPr>
            <a:spLocks noGrp="1"/>
          </p:cNvSpPr>
          <p:nvPr>
            <p:ph idx="1"/>
          </p:nvPr>
        </p:nvSpPr>
        <p:spPr/>
        <p:txBody>
          <a:bodyPr/>
          <a:lstStyle/>
          <a:p>
            <a:r>
              <a:rPr lang="en-US" dirty="0" smtClean="0"/>
              <a:t>Inductive Learning Algorithm (ILA) is an iterative and inductive machine learning algorithm that is used for generating a set of classification rules, which produces rules of the form “IF-THEN”, for a set of examples, producing rules at each iteration and appending to the set of rules.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to generate ILA</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164674" y="1600204"/>
            <a:ext cx="4814656" cy="4525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2343150" y="2148681"/>
            <a:ext cx="44577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905000" y="2133604"/>
            <a:ext cx="5486400" cy="31392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 Based Learning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Imagine your mother says:</a:t>
            </a:r>
          </a:p>
          <a:p>
            <a:r>
              <a:rPr lang="en-US" dirty="0" smtClean="0"/>
              <a:t>"Don't touch the hot pan."</a:t>
            </a:r>
          </a:p>
          <a:p>
            <a:r>
              <a:rPr lang="en-US" dirty="0" smtClean="0"/>
              <a:t>You accidentally touch it once and It burns your hand.</a:t>
            </a:r>
          </a:p>
          <a:p>
            <a:r>
              <a:rPr lang="en-US" dirty="0" smtClean="0"/>
              <a:t>Now you ask yourself:</a:t>
            </a:r>
          </a:p>
          <a:p>
            <a:r>
              <a:rPr lang="en-US" b="1" dirty="0" smtClean="0"/>
              <a:t>Why did it burn?</a:t>
            </a:r>
            <a:endParaRPr lang="en-US" dirty="0" smtClean="0"/>
          </a:p>
          <a:p>
            <a:r>
              <a:rPr lang="en-US" dirty="0" smtClean="0"/>
              <a:t>Because the pan was hot.  Now ,you don't memorize:</a:t>
            </a:r>
          </a:p>
          <a:p>
            <a:r>
              <a:rPr lang="en-US" dirty="0" smtClean="0"/>
              <a:t>"That particular pan is dangerous."</a:t>
            </a:r>
          </a:p>
          <a:p>
            <a:r>
              <a:rPr lang="en-US" dirty="0" smtClean="0"/>
              <a:t>Instead, you learn the rule:</a:t>
            </a:r>
          </a:p>
          <a:p>
            <a:r>
              <a:rPr lang="en-US" b="1" dirty="0" smtClean="0"/>
              <a:t>Anything that is hot can burn me.</a:t>
            </a:r>
            <a:endParaRPr lang="en-US" dirty="0" smtClean="0"/>
          </a:p>
          <a:p>
            <a:r>
              <a:rPr lang="en-US" dirty="0" smtClean="0"/>
              <a:t>Next time, even if it's a different pan, kettle, or iron, you'll avoid touching it.</a:t>
            </a:r>
          </a:p>
          <a:p>
            <a:r>
              <a:rPr lang="en-US" dirty="0" smtClean="0"/>
              <a:t>This is Explanation-Based Learning.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Explanation-Based Learning is a machine learning technique where an AI system learns by analyzing and understanding the underlying structure or reasoning behind a specific example. </a:t>
            </a:r>
            <a:endParaRPr lang="en-US" dirty="0" smtClean="0"/>
          </a:p>
          <a:p>
            <a:r>
              <a:rPr lang="en-US" dirty="0" smtClean="0"/>
              <a:t>Unlike </a:t>
            </a:r>
            <a:r>
              <a:rPr lang="en-US" dirty="0"/>
              <a:t>traditional learning methods that require numerous examples to generalize, EBL leverages domain knowledge to form a general rule or concept from just one or a few examples. </a:t>
            </a:r>
            <a:endParaRPr lang="en-US" dirty="0" smtClean="0"/>
          </a:p>
          <a:p>
            <a:r>
              <a:rPr lang="en-US" dirty="0" smtClean="0"/>
              <a:t>This </a:t>
            </a:r>
            <a:r>
              <a:rPr lang="en-US" dirty="0"/>
              <a:t>makes EBL particularly useful in domains where data is scarce or where understanding the rationale behind examples is more critical than just recognizing patterns.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Explanation-Based Learning Works?</a:t>
            </a: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dirty="0" smtClean="0"/>
              <a:t>Explanation-Based </a:t>
            </a:r>
            <a:r>
              <a:rPr lang="en-US" dirty="0"/>
              <a:t>Learning follows a systematic process that involves the following steps:</a:t>
            </a:r>
          </a:p>
          <a:p>
            <a:pPr fontAlgn="base"/>
            <a:r>
              <a:rPr lang="en-US" b="1" dirty="0"/>
              <a:t>Input Example:</a:t>
            </a:r>
            <a:r>
              <a:rPr lang="en-US" dirty="0"/>
              <a:t> The learning process begins with a single example that the system needs to learn from. This example is typically a positive instance of a concept that the system needs to understand.</a:t>
            </a:r>
          </a:p>
          <a:p>
            <a:pPr fontAlgn="base"/>
            <a:r>
              <a:rPr lang="en-US" b="1" dirty="0"/>
              <a:t>Domain Knowledge:</a:t>
            </a:r>
            <a:r>
              <a:rPr lang="en-US" dirty="0"/>
              <a:t> The system uses domain knowledge, which includes rules, concepts, and relationships relevant to the problem domain. This knowledge is crucial for explaining why the example is valid.</a:t>
            </a:r>
          </a:p>
          <a:p>
            <a:pPr fontAlgn="base"/>
            <a:r>
              <a:rPr lang="en-US" b="1" dirty="0"/>
              <a:t>Explanation Generation:</a:t>
            </a:r>
            <a:r>
              <a:rPr lang="en-US" dirty="0"/>
              <a:t> The system generates an explanation for why the example satisfies the concept. This involves identifying the relevant features and their relationships that make the example a valid instance</a:t>
            </a:r>
            <a:r>
              <a:rPr lang="en-US" dirty="0" smtClean="0"/>
              <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smtClean="0"/>
              <a:t>Generalization:</a:t>
            </a:r>
            <a:r>
              <a:rPr lang="en-US" dirty="0" smtClean="0"/>
              <a:t> Once the explanation is generated, the system generalizes it to form a broader concept that can apply to other similar examples. This generalization is typically in the form of a rule or a set of rules that describe the concept.</a:t>
            </a:r>
          </a:p>
          <a:p>
            <a:pPr fontAlgn="base"/>
            <a:r>
              <a:rPr lang="en-US" b="1" dirty="0" smtClean="0"/>
              <a:t>Learning Outcome: </a:t>
            </a:r>
            <a:r>
              <a:rPr lang="en-US" dirty="0" smtClean="0"/>
              <a:t>The outcome of EBL is a generalized rule or concept that can be applied to new situations. The system can now use this rule to identify or solve similar problems in the future.</a:t>
            </a:r>
          </a:p>
          <a:p>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Supervised Learning</a:t>
            </a:r>
            <a:endParaRPr lang="en-US" dirty="0"/>
          </a:p>
        </p:txBody>
      </p:sp>
      <p:sp>
        <p:nvSpPr>
          <p:cNvPr id="3" name="Content Placeholder 2"/>
          <p:cNvSpPr>
            <a:spLocks noGrp="1"/>
          </p:cNvSpPr>
          <p:nvPr>
            <p:ph idx="1"/>
          </p:nvPr>
        </p:nvSpPr>
        <p:spPr/>
        <p:txBody>
          <a:bodyPr>
            <a:normAutofit fontScale="55000" lnSpcReduction="20000"/>
          </a:bodyPr>
          <a:lstStyle/>
          <a:p>
            <a:pPr fontAlgn="base">
              <a:buNone/>
            </a:pPr>
            <a:endParaRPr lang="en-US" b="1" dirty="0"/>
          </a:p>
          <a:p>
            <a:pPr fontAlgn="base"/>
            <a:r>
              <a:rPr lang="en-US" sz="4500" dirty="0"/>
              <a:t>Supervised learning as the name suggests, works like a teacher or supervisor guiding the machine</a:t>
            </a:r>
            <a:r>
              <a:rPr lang="en-US" sz="4500" dirty="0" smtClean="0"/>
              <a:t>.</a:t>
            </a:r>
          </a:p>
          <a:p>
            <a:pPr fontAlgn="base"/>
            <a:r>
              <a:rPr lang="en-US" sz="4500" dirty="0" smtClean="0"/>
              <a:t> </a:t>
            </a:r>
            <a:r>
              <a:rPr lang="en-US" sz="4500" dirty="0"/>
              <a:t>In this approach we teach or train the machine using the </a:t>
            </a:r>
            <a:r>
              <a:rPr lang="en-US" sz="4500" dirty="0" err="1"/>
              <a:t>labelled</a:t>
            </a:r>
            <a:r>
              <a:rPr lang="en-US" sz="4500" dirty="0"/>
              <a:t> data(correct answers or classifications) which means each input has the correct output in the form of answer or category attached to it</a:t>
            </a:r>
            <a:r>
              <a:rPr lang="en-US" sz="4500" dirty="0" smtClean="0"/>
              <a:t>.</a:t>
            </a:r>
          </a:p>
          <a:p>
            <a:pPr fontAlgn="base"/>
            <a:r>
              <a:rPr lang="en-US" sz="4500" dirty="0" smtClean="0"/>
              <a:t> </a:t>
            </a:r>
            <a:r>
              <a:rPr lang="en-US" sz="4500" dirty="0"/>
              <a:t>After that machine is provided with a new set of examples (data) so that it can analyses the training data and produces a correct outcome from labeled data.</a:t>
            </a:r>
          </a:p>
          <a:p>
            <a:pPr fontAlgn="base"/>
            <a:r>
              <a:rPr lang="en-US" sz="4500" dirty="0"/>
              <a:t>For example, a labeled dataset of images of Elephant, Camel and Cow would have each image tagged with either "Elephant", "Camel" or "Cow."</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dirty="0"/>
              <a:t>Imagine we have a basket full of different fruits that we want the machine to identify. The machine first looks at the image of a fruit and extracts features like its shape, color and texture. Then it compares these features to the fruits it has already learned during training. If the new fruit’s features closely match those of an apple, the machine will predict that the fruit is an apple.</a:t>
            </a:r>
          </a:p>
          <a:p>
            <a:pPr fontAlgn="base"/>
            <a:r>
              <a:rPr lang="en-US" dirty="0"/>
              <a:t>For example, suppose we train the machine by showing it fruits one by one:</a:t>
            </a:r>
          </a:p>
          <a:p>
            <a:pPr fontAlgn="base"/>
            <a:r>
              <a:rPr lang="en-US" dirty="0"/>
              <a:t>If the fruit is round, has a small depression at the top and is red, it is labeled as an Apple.</a:t>
            </a:r>
          </a:p>
          <a:p>
            <a:pPr fontAlgn="base"/>
            <a:r>
              <a:rPr lang="en-US" dirty="0"/>
              <a:t>If the fruit is long, curved and greenish-yellow, it is labeled as a Banana.</a:t>
            </a:r>
          </a:p>
          <a:p>
            <a:pPr fontAlgn="base"/>
            <a:r>
              <a:rPr lang="en-US" dirty="0"/>
              <a:t>Now after this training, if we give the machine a new fruit (say a banana) from the basket and ask it to identify it, the machine will use what it has learned during training. It will analyze the shape and color of the new fruit and classify it as a Banana placing it in the correct category. In this way, the machine learns from the training data (the basket with labeled fruits) and applies that knowledge to recognize new, unseen fruits.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a:t>Supervised learning is classified into two types of algorithms: </a:t>
            </a:r>
            <a:endParaRPr lang="en-US" dirty="0" smtClean="0"/>
          </a:p>
          <a:p>
            <a:pPr fontAlgn="base"/>
            <a:r>
              <a:rPr lang="en-US" b="1" dirty="0"/>
              <a:t>1. Regression</a:t>
            </a:r>
          </a:p>
          <a:p>
            <a:pPr lvl="1" fontAlgn="base"/>
            <a:r>
              <a:rPr lang="en-US" dirty="0"/>
              <a:t>A </a:t>
            </a:r>
            <a:r>
              <a:rPr lang="en-US" u="sng" dirty="0"/>
              <a:t>regression</a:t>
            </a:r>
            <a:r>
              <a:rPr lang="en-US" dirty="0"/>
              <a:t> is used to predict </a:t>
            </a:r>
            <a:r>
              <a:rPr lang="en-US" b="1" dirty="0"/>
              <a:t>continuous </a:t>
            </a:r>
            <a:r>
              <a:rPr lang="en-US" dirty="0"/>
              <a:t>values such as house prices, stock prices or temperature. Regression algorithms learn how to connect input data to a specific number or value</a:t>
            </a:r>
            <a:r>
              <a:rPr lang="en-US" dirty="0" smtClean="0"/>
              <a:t>.</a:t>
            </a:r>
          </a:p>
          <a:p>
            <a:pPr fontAlgn="base"/>
            <a:r>
              <a:rPr lang="en-US" b="1" dirty="0"/>
              <a:t>2. Classification</a:t>
            </a:r>
          </a:p>
          <a:p>
            <a:pPr lvl="1" fontAlgn="base"/>
            <a:r>
              <a:rPr lang="en-US" dirty="0"/>
              <a:t>A </a:t>
            </a:r>
            <a:r>
              <a:rPr lang="en-US" u="sng" dirty="0"/>
              <a:t>classification</a:t>
            </a:r>
            <a:r>
              <a:rPr lang="en-US" dirty="0"/>
              <a:t> is used to predict </a:t>
            </a:r>
            <a:r>
              <a:rPr lang="en-US" b="1" dirty="0"/>
              <a:t>categorical</a:t>
            </a:r>
            <a:r>
              <a:rPr lang="en-US" dirty="0"/>
              <a:t> values such as whether a customer will buy or not, whether an email is spam or not or whether a medical image shows a tumor or not. Classification algorithms learn how to connect input data to the probability of belonging to different groups or categories.</a:t>
            </a:r>
          </a:p>
          <a:p>
            <a:pPr fontAlgn="base"/>
            <a:endParaRPr lang="en-US" dirty="0"/>
          </a:p>
          <a:p>
            <a:pPr lvl="1"/>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Unsupervised learning</a:t>
            </a: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dirty="0"/>
              <a:t>Unsupervised learning is a part of machine learning which works differently from supervised because there is no teacher(supervisor) involved to guide the machine</a:t>
            </a:r>
            <a:r>
              <a:rPr lang="en-US" dirty="0" smtClean="0"/>
              <a:t>.</a:t>
            </a:r>
          </a:p>
          <a:p>
            <a:pPr fontAlgn="base"/>
            <a:r>
              <a:rPr lang="en-US" dirty="0" smtClean="0"/>
              <a:t> </a:t>
            </a:r>
            <a:r>
              <a:rPr lang="en-US" dirty="0"/>
              <a:t>In this approach the machine is given with data that has</a:t>
            </a:r>
            <a:r>
              <a:rPr lang="en-US" b="1" dirty="0"/>
              <a:t> no labels or categories</a:t>
            </a:r>
            <a:r>
              <a:rPr lang="en-US" dirty="0"/>
              <a:t>. </a:t>
            </a:r>
            <a:endParaRPr lang="en-US" dirty="0" smtClean="0"/>
          </a:p>
          <a:p>
            <a:pPr fontAlgn="base"/>
            <a:r>
              <a:rPr lang="en-US" dirty="0" smtClean="0"/>
              <a:t>It </a:t>
            </a:r>
            <a:r>
              <a:rPr lang="en-US" dirty="0"/>
              <a:t>analyzes the data on its own to find patterns, groups or relationships without any prior knowledge. </a:t>
            </a:r>
            <a:endParaRPr lang="en-US" dirty="0" smtClean="0"/>
          </a:p>
          <a:p>
            <a:pPr fontAlgn="base"/>
            <a:r>
              <a:rPr lang="en-US" dirty="0" smtClean="0"/>
              <a:t>The </a:t>
            </a:r>
            <a:r>
              <a:rPr lang="en-US" dirty="0"/>
              <a:t>machine learns by discovering hidden structures within the data without being told what the correct output should be.</a:t>
            </a:r>
          </a:p>
          <a:p>
            <a:pPr fontAlgn="base"/>
            <a:r>
              <a:rPr lang="en-US" dirty="0"/>
              <a:t>For example, unsupervised learning can analyze animal data and group the animals by their traits and behavior. </a:t>
            </a:r>
            <a:endParaRPr lang="en-US" dirty="0" smtClean="0"/>
          </a:p>
          <a:p>
            <a:pPr fontAlgn="base"/>
            <a:r>
              <a:rPr lang="en-US" dirty="0" smtClean="0"/>
              <a:t>These </a:t>
            </a:r>
            <a:r>
              <a:rPr lang="en-US" dirty="0"/>
              <a:t>groups might represent different species which allows the machine to organize animals without any prior labels or categories.</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dirty="0"/>
              <a:t>Imagine we have a machine learning model trained on many unlabeled images of dogs and cats. The model has never seen any labeled example that says “dog” or “cat” before so it doesn’t know how these animals look like.</a:t>
            </a:r>
          </a:p>
          <a:p>
            <a:pPr fontAlgn="base"/>
            <a:r>
              <a:rPr lang="en-US" dirty="0"/>
              <a:t>Now, if we give the model a new image that contains both dogs and cats it won’t be able to directly label them as “dog” or “cat.” It will group parts of the image based on similarities and differences in features like shape or texture. It might separate the image into two groups one with dog-like features and other with cat-like features.</a:t>
            </a:r>
          </a:p>
          <a:p>
            <a:pPr fontAlgn="base"/>
            <a:r>
              <a:rPr lang="en-US" dirty="0"/>
              <a:t>This happens because unsupervised learning doesn’t rely on prior knowledge or training with labeled data. It finds patterns and organizes data on its own helps in discovering information that wasn’t given before.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Unsupervised Learning</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dirty="0" smtClean="0"/>
              <a:t>Unsupervised </a:t>
            </a:r>
            <a:r>
              <a:rPr lang="en-US" dirty="0"/>
              <a:t>learning is divided into two categories of algorithms: </a:t>
            </a:r>
            <a:endParaRPr lang="en-US" dirty="0" smtClean="0"/>
          </a:p>
          <a:p>
            <a:pPr fontAlgn="base"/>
            <a:r>
              <a:rPr lang="en-US" b="1" dirty="0" smtClean="0"/>
              <a:t>Clustering</a:t>
            </a:r>
            <a:endParaRPr lang="en-US" b="1" dirty="0"/>
          </a:p>
          <a:p>
            <a:pPr lvl="1" fontAlgn="base"/>
            <a:r>
              <a:rPr lang="en-US" dirty="0"/>
              <a:t>A clustering is used to group similar data points together. Clustering algorithms work by repeatedly moving data points closer to </a:t>
            </a:r>
            <a:r>
              <a:rPr lang="en-US" dirty="0" err="1"/>
              <a:t>to</a:t>
            </a:r>
            <a:r>
              <a:rPr lang="en-US" dirty="0"/>
              <a:t> the center of their group (cluster) and farther from points in other groups. This helps the algorithm to create clear and meaningful clusters</a:t>
            </a:r>
            <a:r>
              <a:rPr lang="en-US" dirty="0" smtClean="0"/>
              <a:t>.</a:t>
            </a:r>
          </a:p>
          <a:p>
            <a:pPr fontAlgn="base"/>
            <a:r>
              <a:rPr lang="en-US" b="1" dirty="0"/>
              <a:t>2. Association rule learning</a:t>
            </a:r>
          </a:p>
          <a:p>
            <a:pPr lvl="1" fontAlgn="base"/>
            <a:r>
              <a:rPr lang="en-US" dirty="0"/>
              <a:t>An</a:t>
            </a:r>
            <a:r>
              <a:rPr lang="en-US" u="sng" dirty="0"/>
              <a:t> </a:t>
            </a:r>
            <a:r>
              <a:rPr lang="en-US" dirty="0"/>
              <a:t>association rule </a:t>
            </a:r>
            <a:r>
              <a:rPr lang="en-US" dirty="0" smtClean="0"/>
              <a:t>learning used </a:t>
            </a:r>
            <a:r>
              <a:rPr lang="en-US" dirty="0"/>
              <a:t>to find patterns and relationships between different items in a dataset. It looks for rules like “people who buy X often also buy Y”</a:t>
            </a:r>
          </a:p>
          <a:p>
            <a:pPr fontAlgn="base"/>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Genetic Algorithm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Abstraction of real biological evolution and it is given by John Holland.</a:t>
            </a:r>
          </a:p>
          <a:p>
            <a:r>
              <a:rPr lang="en-US" dirty="0" smtClean="0"/>
              <a:t>Focused on optimization means it take best solution among all solutions.</a:t>
            </a:r>
          </a:p>
          <a:p>
            <a:r>
              <a:rPr lang="en-US" dirty="0" smtClean="0"/>
              <a:t>Solves complex problems. ( like NP hard problem)</a:t>
            </a:r>
          </a:p>
          <a:p>
            <a:r>
              <a:rPr lang="en-US" dirty="0" smtClean="0"/>
              <a:t>Population of possible solutions for a given problem.</a:t>
            </a:r>
          </a:p>
          <a:p>
            <a:r>
              <a:rPr lang="en-US" dirty="0" smtClean="0"/>
              <a:t>From a group of individuals, the best will survive.</a:t>
            </a:r>
          </a:p>
          <a:p>
            <a:r>
              <a:rPr lang="en-US" dirty="0" smtClean="0"/>
              <a:t>Phenotype: raw solutions</a:t>
            </a:r>
          </a:p>
          <a:p>
            <a:r>
              <a:rPr lang="en-US" dirty="0" smtClean="0"/>
              <a:t>Genotype: encoded raw solution.</a:t>
            </a:r>
          </a:p>
          <a:p>
            <a:pPr marL="0" indent="0">
              <a:buNone/>
            </a:pPr>
            <a:endParaRPr lang="en-US" dirty="0" smtClean="0"/>
          </a:p>
        </p:txBody>
      </p:sp>
      <p:sp>
        <p:nvSpPr>
          <p:cNvPr id="4" name="Oval 3"/>
          <p:cNvSpPr/>
          <p:nvPr/>
        </p:nvSpPr>
        <p:spPr>
          <a:xfrm>
            <a:off x="4959626" y="5062331"/>
            <a:ext cx="1321904" cy="78187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Phenotype</a:t>
            </a:r>
            <a:endParaRPr lang="en-US" dirty="0"/>
          </a:p>
        </p:txBody>
      </p:sp>
      <p:sp>
        <p:nvSpPr>
          <p:cNvPr id="5" name="Oval 4"/>
          <p:cNvSpPr/>
          <p:nvPr/>
        </p:nvSpPr>
        <p:spPr>
          <a:xfrm>
            <a:off x="7409622" y="5062330"/>
            <a:ext cx="1262270" cy="78187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Genotype</a:t>
            </a:r>
            <a:endParaRPr lang="en-US" dirty="0"/>
          </a:p>
        </p:txBody>
      </p:sp>
      <p:cxnSp>
        <p:nvCxnSpPr>
          <p:cNvPr id="9" name="Straight Arrow Connector 8"/>
          <p:cNvCxnSpPr/>
          <p:nvPr/>
        </p:nvCxnSpPr>
        <p:spPr>
          <a:xfrm>
            <a:off x="6202018" y="5261113"/>
            <a:ext cx="12076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2"/>
            <a:endCxn id="4" idx="6"/>
          </p:cNvCxnSpPr>
          <p:nvPr/>
        </p:nvCxnSpPr>
        <p:spPr>
          <a:xfrm flipH="1">
            <a:off x="6281530" y="5453270"/>
            <a:ext cx="11280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408255" y="4831803"/>
            <a:ext cx="844826" cy="646331"/>
          </a:xfrm>
          <a:prstGeom prst="rect">
            <a:avLst/>
          </a:prstGeom>
          <a:noFill/>
        </p:spPr>
        <p:txBody>
          <a:bodyPr wrap="square" rtlCol="0">
            <a:spAutoFit/>
          </a:bodyPr>
          <a:lstStyle/>
          <a:p>
            <a:r>
              <a:rPr lang="en-US" dirty="0" smtClean="0"/>
              <a:t>encode</a:t>
            </a:r>
            <a:endParaRPr lang="en-US" dirty="0"/>
          </a:p>
        </p:txBody>
      </p:sp>
      <p:sp>
        <p:nvSpPr>
          <p:cNvPr id="14" name="TextBox 13"/>
          <p:cNvSpPr txBox="1"/>
          <p:nvPr/>
        </p:nvSpPr>
        <p:spPr>
          <a:xfrm>
            <a:off x="6486526" y="5588207"/>
            <a:ext cx="844826" cy="646331"/>
          </a:xfrm>
          <a:prstGeom prst="rect">
            <a:avLst/>
          </a:prstGeom>
          <a:noFill/>
        </p:spPr>
        <p:txBody>
          <a:bodyPr wrap="square" rtlCol="0">
            <a:spAutoFit/>
          </a:bodyPr>
          <a:lstStyle/>
          <a:p>
            <a:r>
              <a:rPr lang="en-US" dirty="0" smtClean="0"/>
              <a:t>decode</a:t>
            </a:r>
            <a:endParaRPr lang="en-US" dirty="0"/>
          </a:p>
        </p:txBody>
      </p:sp>
    </p:spTree>
    <p:extLst>
      <p:ext uri="{BB962C8B-B14F-4D97-AF65-F5344CB8AC3E}">
        <p14:creationId xmlns="" xmlns:p14="http://schemas.microsoft.com/office/powerpoint/2010/main" val="28922989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63078" y="132523"/>
            <a:ext cx="1451114" cy="530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Initial Population</a:t>
            </a:r>
            <a:endParaRPr lang="en-US" dirty="0"/>
          </a:p>
        </p:txBody>
      </p:sp>
      <p:sp>
        <p:nvSpPr>
          <p:cNvPr id="5" name="Rectangle 4"/>
          <p:cNvSpPr/>
          <p:nvPr/>
        </p:nvSpPr>
        <p:spPr>
          <a:xfrm>
            <a:off x="2786050" y="928670"/>
            <a:ext cx="1451114" cy="449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Calculate fitness</a:t>
            </a:r>
            <a:endParaRPr lang="en-US" dirty="0"/>
          </a:p>
        </p:txBody>
      </p:sp>
      <p:sp>
        <p:nvSpPr>
          <p:cNvPr id="6" name="Rectangle 5"/>
          <p:cNvSpPr/>
          <p:nvPr/>
        </p:nvSpPr>
        <p:spPr>
          <a:xfrm>
            <a:off x="2763078" y="1630018"/>
            <a:ext cx="1451114" cy="3843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Selection </a:t>
            </a:r>
            <a:endParaRPr lang="en-US" dirty="0"/>
          </a:p>
        </p:txBody>
      </p:sp>
      <p:sp>
        <p:nvSpPr>
          <p:cNvPr id="7" name="Rectangle 6"/>
          <p:cNvSpPr/>
          <p:nvPr/>
        </p:nvSpPr>
        <p:spPr>
          <a:xfrm>
            <a:off x="2763078" y="2319130"/>
            <a:ext cx="1451114" cy="4373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Crossover </a:t>
            </a:r>
            <a:endParaRPr lang="en-US" dirty="0"/>
          </a:p>
        </p:txBody>
      </p:sp>
      <p:sp>
        <p:nvSpPr>
          <p:cNvPr id="8" name="Rectangle 7"/>
          <p:cNvSpPr/>
          <p:nvPr/>
        </p:nvSpPr>
        <p:spPr>
          <a:xfrm>
            <a:off x="2763078" y="3061252"/>
            <a:ext cx="1451114" cy="4837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Mutation</a:t>
            </a:r>
            <a:endParaRPr lang="en-US" dirty="0"/>
          </a:p>
        </p:txBody>
      </p:sp>
      <p:sp>
        <p:nvSpPr>
          <p:cNvPr id="9" name="Flowchart: Decision 8"/>
          <p:cNvSpPr/>
          <p:nvPr/>
        </p:nvSpPr>
        <p:spPr>
          <a:xfrm>
            <a:off x="2763079" y="4094922"/>
            <a:ext cx="1520687" cy="1245705"/>
          </a:xfrm>
          <a:prstGeom prst="flowChartDecis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Stopping criteria</a:t>
            </a:r>
            <a:endParaRPr lang="en-US" dirty="0"/>
          </a:p>
        </p:txBody>
      </p:sp>
      <p:cxnSp>
        <p:nvCxnSpPr>
          <p:cNvPr id="11" name="Straight Connector 10"/>
          <p:cNvCxnSpPr>
            <a:endCxn id="9" idx="1"/>
          </p:cNvCxnSpPr>
          <p:nvPr/>
        </p:nvCxnSpPr>
        <p:spPr>
          <a:xfrm>
            <a:off x="2077278" y="4704522"/>
            <a:ext cx="685800" cy="13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087219" y="755374"/>
            <a:ext cx="9939" cy="39491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 idx="2"/>
            <a:endCxn id="5" idx="0"/>
          </p:cNvCxnSpPr>
          <p:nvPr/>
        </p:nvCxnSpPr>
        <p:spPr>
          <a:xfrm rot="16200000" flipH="1">
            <a:off x="3367091" y="784154"/>
            <a:ext cx="266060" cy="22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488635" y="1325218"/>
            <a:ext cx="0" cy="28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414091" y="2034208"/>
            <a:ext cx="0" cy="28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443909" y="2756452"/>
            <a:ext cx="0" cy="28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9" idx="0"/>
          </p:cNvCxnSpPr>
          <p:nvPr/>
        </p:nvCxnSpPr>
        <p:spPr>
          <a:xfrm>
            <a:off x="3493605" y="3544957"/>
            <a:ext cx="29818"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523422" y="5340626"/>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087219" y="755374"/>
            <a:ext cx="14063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523422" y="5369722"/>
            <a:ext cx="496957" cy="369332"/>
          </a:xfrm>
          <a:prstGeom prst="rect">
            <a:avLst/>
          </a:prstGeom>
          <a:noFill/>
        </p:spPr>
        <p:txBody>
          <a:bodyPr wrap="square" rtlCol="0">
            <a:spAutoFit/>
          </a:bodyPr>
          <a:lstStyle/>
          <a:p>
            <a:r>
              <a:rPr lang="en-US" dirty="0" smtClean="0"/>
              <a:t>yes</a:t>
            </a:r>
            <a:endParaRPr lang="en-US" dirty="0"/>
          </a:p>
        </p:txBody>
      </p:sp>
      <p:sp>
        <p:nvSpPr>
          <p:cNvPr id="27" name="TextBox 26"/>
          <p:cNvSpPr txBox="1"/>
          <p:nvPr/>
        </p:nvSpPr>
        <p:spPr>
          <a:xfrm>
            <a:off x="2343151" y="4134679"/>
            <a:ext cx="496957" cy="369332"/>
          </a:xfrm>
          <a:prstGeom prst="rect">
            <a:avLst/>
          </a:prstGeom>
          <a:noFill/>
        </p:spPr>
        <p:txBody>
          <a:bodyPr wrap="square" rtlCol="0">
            <a:spAutoFit/>
          </a:bodyPr>
          <a:lstStyle/>
          <a:p>
            <a:r>
              <a:rPr lang="en-US" dirty="0" smtClean="0"/>
              <a:t>NO</a:t>
            </a:r>
            <a:endParaRPr lang="en-US" dirty="0"/>
          </a:p>
        </p:txBody>
      </p:sp>
      <p:sp>
        <p:nvSpPr>
          <p:cNvPr id="28" name="TextBox 27"/>
          <p:cNvSpPr txBox="1"/>
          <p:nvPr/>
        </p:nvSpPr>
        <p:spPr>
          <a:xfrm>
            <a:off x="3036403" y="6004098"/>
            <a:ext cx="1470993" cy="646331"/>
          </a:xfrm>
          <a:prstGeom prst="rect">
            <a:avLst/>
          </a:prstGeom>
          <a:noFill/>
        </p:spPr>
        <p:txBody>
          <a:bodyPr wrap="square" rtlCol="0">
            <a:spAutoFit/>
          </a:bodyPr>
          <a:lstStyle/>
          <a:p>
            <a:r>
              <a:rPr lang="en-US" dirty="0" smtClean="0"/>
              <a:t>Optimal solution</a:t>
            </a:r>
            <a:endParaRPr lang="en-US" dirty="0"/>
          </a:p>
        </p:txBody>
      </p:sp>
    </p:spTree>
    <p:extLst>
      <p:ext uri="{BB962C8B-B14F-4D97-AF65-F5344CB8AC3E}">
        <p14:creationId xmlns="" xmlns:p14="http://schemas.microsoft.com/office/powerpoint/2010/main" val="6615920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smtClean="0"/>
              <a:t>Initial population: input must be diverse for </a:t>
            </a:r>
            <a:r>
              <a:rPr lang="en-US" dirty="0" err="1" smtClean="0"/>
              <a:t>eg</a:t>
            </a:r>
            <a:r>
              <a:rPr lang="en-US" dirty="0" smtClean="0"/>
              <a:t> for selection of candidate in election, the voter must be of different age. So if our population is diverse then our algorithm will work better.</a:t>
            </a:r>
          </a:p>
          <a:p>
            <a:r>
              <a:rPr lang="en-US" dirty="0" smtClean="0"/>
              <a:t>Calculate fitness: function to calculate proper output according to input. For </a:t>
            </a:r>
            <a:r>
              <a:rPr lang="en-US" dirty="0" err="1" smtClean="0"/>
              <a:t>eg</a:t>
            </a:r>
            <a:r>
              <a:rPr lang="en-US" dirty="0" smtClean="0"/>
              <a:t> : if output is “take” and input is “make” then fitness value is 3 because 3 letters matches each other and similarly word “rat” the fitness function is 2.</a:t>
            </a:r>
          </a:p>
          <a:p>
            <a:r>
              <a:rPr lang="en-US" dirty="0" smtClean="0"/>
              <a:t>Selection: it is directly proportional to fitness. Here we take two parent which have maximum fitness value and through that we create new population by using the method of crossover and mutation.</a:t>
            </a:r>
          </a:p>
          <a:p>
            <a:r>
              <a:rPr lang="en-US" dirty="0" smtClean="0"/>
              <a:t>Crossover : there are various ways of doing crossover one of the method is one point.</a:t>
            </a:r>
          </a:p>
          <a:p>
            <a:pPr lvl="1"/>
            <a:r>
              <a:rPr lang="en-US" dirty="0" err="1" smtClean="0"/>
              <a:t>Foreg</a:t>
            </a:r>
            <a:r>
              <a:rPr lang="en-US" dirty="0" smtClean="0"/>
              <a:t>: parents can be “</a:t>
            </a:r>
            <a:r>
              <a:rPr lang="en-US" dirty="0" err="1" smtClean="0"/>
              <a:t>abcde</a:t>
            </a:r>
            <a:r>
              <a:rPr lang="en-US" dirty="0" smtClean="0"/>
              <a:t>” and “</a:t>
            </a:r>
            <a:r>
              <a:rPr lang="en-US" dirty="0" err="1" smtClean="0"/>
              <a:t>efghi</a:t>
            </a:r>
            <a:r>
              <a:rPr lang="en-US" dirty="0" smtClean="0"/>
              <a:t>”. Then randomly choose a point for </a:t>
            </a:r>
            <a:r>
              <a:rPr lang="en-US" dirty="0" err="1" smtClean="0"/>
              <a:t>eg</a:t>
            </a:r>
            <a:r>
              <a:rPr lang="en-US" dirty="0" smtClean="0"/>
              <a:t> 3</a:t>
            </a:r>
            <a:r>
              <a:rPr lang="en-US" baseline="30000" dirty="0" smtClean="0"/>
              <a:t>rd</a:t>
            </a:r>
            <a:r>
              <a:rPr lang="en-US" dirty="0" smtClean="0"/>
              <a:t> point. Then swap value after 3</a:t>
            </a:r>
            <a:r>
              <a:rPr lang="en-US" baseline="30000" dirty="0" smtClean="0"/>
              <a:t>rd</a:t>
            </a:r>
            <a:r>
              <a:rPr lang="en-US" dirty="0" smtClean="0"/>
              <a:t> point to make new population.</a:t>
            </a:r>
          </a:p>
          <a:p>
            <a:pPr lvl="1"/>
            <a:r>
              <a:rPr lang="en-US" dirty="0" smtClean="0"/>
              <a:t>After crossover the new population will be : “</a:t>
            </a:r>
            <a:r>
              <a:rPr lang="en-US" dirty="0" err="1" smtClean="0"/>
              <a:t>abchi</a:t>
            </a:r>
            <a:r>
              <a:rPr lang="en-US" dirty="0" smtClean="0"/>
              <a:t>” and “</a:t>
            </a:r>
            <a:r>
              <a:rPr lang="en-US" dirty="0" err="1" smtClean="0"/>
              <a:t>efgde</a:t>
            </a:r>
            <a:r>
              <a:rPr lang="en-US" dirty="0" smtClean="0"/>
              <a:t>”.</a:t>
            </a:r>
          </a:p>
          <a:p>
            <a:r>
              <a:rPr lang="en-US" dirty="0" smtClean="0"/>
              <a:t>Mutation: the key idea is to insert random genes in generated offspring to maintain the diversity in population to avoid the premature convergence.</a:t>
            </a:r>
          </a:p>
          <a:p>
            <a:pPr lvl="1"/>
            <a:r>
              <a:rPr lang="en-US" dirty="0" err="1" smtClean="0"/>
              <a:t>Eg</a:t>
            </a:r>
            <a:r>
              <a:rPr lang="en-US" dirty="0" smtClean="0"/>
              <a:t>: </a:t>
            </a:r>
            <a:r>
              <a:rPr lang="en-US" dirty="0" err="1" smtClean="0"/>
              <a:t>abchi</a:t>
            </a:r>
            <a:r>
              <a:rPr lang="en-US" dirty="0" smtClean="0"/>
              <a:t> </a:t>
            </a:r>
            <a:r>
              <a:rPr lang="en-US" dirty="0" err="1" smtClean="0"/>
              <a:t>wil</a:t>
            </a:r>
            <a:r>
              <a:rPr lang="en-US" dirty="0" smtClean="0"/>
              <a:t> be after mutation </a:t>
            </a:r>
            <a:r>
              <a:rPr lang="en-US" dirty="0" err="1" smtClean="0"/>
              <a:t>abehi</a:t>
            </a:r>
            <a:r>
              <a:rPr lang="en-US" dirty="0" smtClean="0"/>
              <a:t>.</a:t>
            </a:r>
          </a:p>
          <a:p>
            <a:endParaRPr lang="en-US" dirty="0" smtClean="0"/>
          </a:p>
          <a:p>
            <a:endParaRPr lang="en-US" dirty="0" smtClean="0"/>
          </a:p>
          <a:p>
            <a:endParaRPr lang="en-US" dirty="0"/>
          </a:p>
        </p:txBody>
      </p:sp>
    </p:spTree>
    <p:extLst>
      <p:ext uri="{BB962C8B-B14F-4D97-AF65-F5344CB8AC3E}">
        <p14:creationId xmlns="" xmlns:p14="http://schemas.microsoft.com/office/powerpoint/2010/main" val="4740366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Then we will repeatedly perform this under we meet stopping criteria.</a:t>
            </a:r>
          </a:p>
          <a:p>
            <a:r>
              <a:rPr lang="en-US" dirty="0" smtClean="0"/>
              <a:t>The stopping criteria is called convergence where the population fitness value is highest.</a:t>
            </a:r>
          </a:p>
          <a:p>
            <a:r>
              <a:rPr lang="en-US" dirty="0" smtClean="0"/>
              <a:t>For </a:t>
            </a:r>
            <a:r>
              <a:rPr lang="en-US" dirty="0" err="1" smtClean="0"/>
              <a:t>eg</a:t>
            </a:r>
            <a:r>
              <a:rPr lang="en-US" dirty="0" smtClean="0"/>
              <a:t>:  we have “Take” and our population is “</a:t>
            </a:r>
            <a:r>
              <a:rPr lang="en-US" dirty="0" err="1" smtClean="0"/>
              <a:t>kate</a:t>
            </a:r>
            <a:r>
              <a:rPr lang="en-US" dirty="0" smtClean="0"/>
              <a:t>” and “</a:t>
            </a:r>
            <a:r>
              <a:rPr lang="en-US" dirty="0" err="1" smtClean="0"/>
              <a:t>akte</a:t>
            </a:r>
            <a:r>
              <a:rPr lang="en-US" dirty="0" smtClean="0"/>
              <a:t>”. Then the fitness value is 4 in both case.</a:t>
            </a:r>
          </a:p>
        </p:txBody>
      </p:sp>
    </p:spTree>
    <p:extLst>
      <p:ext uri="{BB962C8B-B14F-4D97-AF65-F5344CB8AC3E}">
        <p14:creationId xmlns="" xmlns:p14="http://schemas.microsoft.com/office/powerpoint/2010/main" val="33350601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1371</Words>
  <Application>Microsoft Office PowerPoint</Application>
  <PresentationFormat>On-screen Show (4:3)</PresentationFormat>
  <Paragraphs>124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Learning</vt:lpstr>
      <vt:lpstr>Rote Learning</vt:lpstr>
      <vt:lpstr>Slide 3</vt:lpstr>
      <vt:lpstr>Slide 4</vt:lpstr>
      <vt:lpstr>Learning by Analogy</vt:lpstr>
      <vt:lpstr>Slide 6</vt:lpstr>
      <vt:lpstr>Slide 7</vt:lpstr>
      <vt:lpstr>Slide 8</vt:lpstr>
      <vt:lpstr>Inductive Learning</vt:lpstr>
      <vt:lpstr>Example to generate ILA</vt:lpstr>
      <vt:lpstr>Slide 11</vt:lpstr>
      <vt:lpstr>Slide 12</vt:lpstr>
      <vt:lpstr>Explanation Based Learning</vt:lpstr>
      <vt:lpstr>Slide 14</vt:lpstr>
      <vt:lpstr>How Explanation-Based Learning Works?</vt:lpstr>
      <vt:lpstr>Slide 16</vt:lpstr>
      <vt:lpstr>Supervised Learning</vt:lpstr>
      <vt:lpstr>Example</vt:lpstr>
      <vt:lpstr>Types</vt:lpstr>
      <vt:lpstr>Unsupervised learning</vt:lpstr>
      <vt:lpstr>Slide 21</vt:lpstr>
      <vt:lpstr>Types of Unsupervised Learning</vt:lpstr>
      <vt:lpstr>Genetic Algorithm </vt:lpstr>
      <vt:lpstr>Slide 24</vt:lpstr>
      <vt:lpstr>Slide 25</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Acer</dc:creator>
  <cp:lastModifiedBy>Acer</cp:lastModifiedBy>
  <cp:revision>24</cp:revision>
  <dcterms:created xsi:type="dcterms:W3CDTF">2026-07-08T14:31:18Z</dcterms:created>
  <dcterms:modified xsi:type="dcterms:W3CDTF">2026-07-12T15:11:27Z</dcterms:modified>
</cp:coreProperties>
</file>